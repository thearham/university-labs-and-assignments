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53" r:id="rId5"/>
    <p:sldId id="256" r:id="rId6"/>
    <p:sldId id="265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6" r:id="rId29"/>
    <p:sldId id="282" r:id="rId30"/>
    <p:sldId id="279" r:id="rId31"/>
    <p:sldId id="281" r:id="rId32"/>
    <p:sldId id="280" r:id="rId33"/>
    <p:sldId id="284" r:id="rId34"/>
    <p:sldId id="283" r:id="rId35"/>
    <p:sldId id="285" r:id="rId36"/>
    <p:sldId id="287" r:id="rId37"/>
    <p:sldId id="288" r:id="rId38"/>
    <p:sldId id="289" r:id="rId39"/>
    <p:sldId id="291" r:id="rId40"/>
    <p:sldId id="290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301" r:id="rId49"/>
    <p:sldId id="300" r:id="rId50"/>
    <p:sldId id="299" r:id="rId51"/>
    <p:sldId id="303" r:id="rId52"/>
    <p:sldId id="302" r:id="rId53"/>
    <p:sldId id="304" r:id="rId54"/>
    <p:sldId id="306" r:id="rId55"/>
    <p:sldId id="305" r:id="rId56"/>
    <p:sldId id="308" r:id="rId57"/>
    <p:sldId id="309" r:id="rId58"/>
    <p:sldId id="310" r:id="rId59"/>
    <p:sldId id="307" r:id="rId60"/>
    <p:sldId id="311" r:id="rId61"/>
    <p:sldId id="312" r:id="rId62"/>
    <p:sldId id="313" r:id="rId63"/>
    <p:sldId id="314" r:id="rId64"/>
    <p:sldId id="315" r:id="rId65"/>
    <p:sldId id="316" r:id="rId66"/>
    <p:sldId id="318" r:id="rId67"/>
    <p:sldId id="320" r:id="rId68"/>
    <p:sldId id="319" r:id="rId69"/>
    <p:sldId id="321" r:id="rId70"/>
    <p:sldId id="322" r:id="rId71"/>
    <p:sldId id="317" r:id="rId72"/>
    <p:sldId id="323" r:id="rId73"/>
    <p:sldId id="324" r:id="rId74"/>
    <p:sldId id="325" r:id="rId75"/>
    <p:sldId id="327" r:id="rId76"/>
    <p:sldId id="328" r:id="rId77"/>
    <p:sldId id="326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40" r:id="rId88"/>
    <p:sldId id="338" r:id="rId89"/>
    <p:sldId id="339" r:id="rId90"/>
    <p:sldId id="341" r:id="rId91"/>
    <p:sldId id="349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50" r:id="rId100"/>
    <p:sldId id="351" r:id="rId101"/>
    <p:sldId id="352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BD9FEC-478C-4ADF-B8A6-D261FE0A84D7}" v="15" dt="2020-10-26T08:26:00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07" Type="http://schemas.microsoft.com/office/2016/11/relationships/changesInfo" Target="changesInfos/changesInfo1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1F18BSCS0191 - HAFSA SHOAIB" userId="S::l1f18bscs0191@ucp.edu.pk::6f2f6dac-d75a-4b1a-ab62-a6669f531e49" providerId="AD" clId="Web-{8ABD9FEC-478C-4ADF-B8A6-D261FE0A84D7}"/>
    <pc:docChg chg="modSld">
      <pc:chgData name="L1F18BSCS0191 - HAFSA SHOAIB" userId="S::l1f18bscs0191@ucp.edu.pk::6f2f6dac-d75a-4b1a-ab62-a6669f531e49" providerId="AD" clId="Web-{8ABD9FEC-478C-4ADF-B8A6-D261FE0A84D7}" dt="2020-10-26T08:26:00.164" v="13" actId="20577"/>
      <pc:docMkLst>
        <pc:docMk/>
      </pc:docMkLst>
      <pc:sldChg chg="modSp">
        <pc:chgData name="L1F18BSCS0191 - HAFSA SHOAIB" userId="S::l1f18bscs0191@ucp.edu.pk::6f2f6dac-d75a-4b1a-ab62-a6669f531e49" providerId="AD" clId="Web-{8ABD9FEC-478C-4ADF-B8A6-D261FE0A84D7}" dt="2020-10-26T08:25:59.508" v="11" actId="20577"/>
        <pc:sldMkLst>
          <pc:docMk/>
          <pc:sldMk cId="1810240018" sldId="276"/>
        </pc:sldMkLst>
        <pc:spChg chg="mod">
          <ac:chgData name="L1F18BSCS0191 - HAFSA SHOAIB" userId="S::l1f18bscs0191@ucp.edu.pk::6f2f6dac-d75a-4b1a-ab62-a6669f531e49" providerId="AD" clId="Web-{8ABD9FEC-478C-4ADF-B8A6-D261FE0A84D7}" dt="2020-10-26T08:25:59.508" v="11" actId="20577"/>
          <ac:spMkLst>
            <pc:docMk/>
            <pc:sldMk cId="1810240018" sldId="27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66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827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12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84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206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60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28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54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26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71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68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9DF59-94D6-482D-8346-9539C84297B5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33C07-9766-43AD-8B92-41D45AFA3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81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Operating Systems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Dr</a:t>
            </a:r>
            <a:r>
              <a:rPr lang="en-US" dirty="0"/>
              <a:t> </a:t>
            </a:r>
            <a:r>
              <a:rPr lang="en-US"/>
              <a:t>Adnan Ghafoor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00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Lecture#1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Introduction to Operating System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64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Operating System?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See Computer system organization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0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368"/>
          </a:xfrm>
        </p:spPr>
        <p:txBody>
          <a:bodyPr/>
          <a:lstStyle/>
          <a:p>
            <a:r>
              <a:rPr lang="en-US"/>
              <a:t>Computer Organization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19" y="2616503"/>
            <a:ext cx="2508657" cy="20557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805" y="1690688"/>
            <a:ext cx="1604767" cy="500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4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368"/>
          </a:xfrm>
        </p:spPr>
        <p:txBody>
          <a:bodyPr/>
          <a:lstStyle/>
          <a:p>
            <a:r>
              <a:rPr lang="en-US"/>
              <a:t>Computer Organization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19" y="2616503"/>
            <a:ext cx="2508657" cy="20557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805" y="1690688"/>
            <a:ext cx="1604767" cy="5003097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584526" y="2805507"/>
            <a:ext cx="3444658" cy="313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Address Bus</a:t>
            </a:r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4584526" y="3943908"/>
            <a:ext cx="3444658" cy="313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Control BUS</a:t>
            </a:r>
            <a:endParaRPr lang="en-GB"/>
          </a:p>
        </p:txBody>
      </p:sp>
      <p:grpSp>
        <p:nvGrpSpPr>
          <p:cNvPr id="12" name="Group 11"/>
          <p:cNvGrpSpPr/>
          <p:nvPr/>
        </p:nvGrpSpPr>
        <p:grpSpPr>
          <a:xfrm>
            <a:off x="4584526" y="3368851"/>
            <a:ext cx="3444658" cy="313150"/>
            <a:chOff x="4584526" y="3368851"/>
            <a:chExt cx="3444658" cy="313150"/>
          </a:xfrm>
        </p:grpSpPr>
        <p:sp>
          <p:nvSpPr>
            <p:cNvPr id="8" name="Right Arrow 7"/>
            <p:cNvSpPr/>
            <p:nvPr/>
          </p:nvSpPr>
          <p:spPr>
            <a:xfrm>
              <a:off x="5248406" y="3368851"/>
              <a:ext cx="2780778" cy="3131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Data Bus</a:t>
              </a:r>
              <a:endParaRPr lang="en-GB"/>
            </a:p>
          </p:txBody>
        </p:sp>
        <p:sp>
          <p:nvSpPr>
            <p:cNvPr id="11" name="Right Arrow 10"/>
            <p:cNvSpPr/>
            <p:nvPr/>
          </p:nvSpPr>
          <p:spPr>
            <a:xfrm rot="10800000">
              <a:off x="4584526" y="3371696"/>
              <a:ext cx="663880" cy="30745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0956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368"/>
          </a:xfrm>
        </p:spPr>
        <p:txBody>
          <a:bodyPr/>
          <a:lstStyle/>
          <a:p>
            <a:r>
              <a:rPr lang="en-US"/>
              <a:t>Computer Organization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19" y="2616503"/>
            <a:ext cx="2508657" cy="20557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805" y="1690688"/>
            <a:ext cx="1604767" cy="5003097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584526" y="2805507"/>
            <a:ext cx="3444658" cy="313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Address Bus</a:t>
            </a:r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4584526" y="3943908"/>
            <a:ext cx="3444658" cy="313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Control BUS</a:t>
            </a:r>
            <a:endParaRPr lang="en-GB"/>
          </a:p>
        </p:txBody>
      </p:sp>
      <p:grpSp>
        <p:nvGrpSpPr>
          <p:cNvPr id="12" name="Group 11"/>
          <p:cNvGrpSpPr/>
          <p:nvPr/>
        </p:nvGrpSpPr>
        <p:grpSpPr>
          <a:xfrm>
            <a:off x="4584526" y="3368851"/>
            <a:ext cx="3444658" cy="313150"/>
            <a:chOff x="4584526" y="3368851"/>
            <a:chExt cx="3444658" cy="313150"/>
          </a:xfrm>
        </p:grpSpPr>
        <p:sp>
          <p:nvSpPr>
            <p:cNvPr id="8" name="Right Arrow 7"/>
            <p:cNvSpPr/>
            <p:nvPr/>
          </p:nvSpPr>
          <p:spPr>
            <a:xfrm>
              <a:off x="5248406" y="3368851"/>
              <a:ext cx="2780778" cy="3131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Data Bus</a:t>
              </a:r>
              <a:endParaRPr lang="en-GB"/>
            </a:p>
          </p:txBody>
        </p:sp>
        <p:sp>
          <p:nvSpPr>
            <p:cNvPr id="11" name="Right Arrow 10"/>
            <p:cNvSpPr/>
            <p:nvPr/>
          </p:nvSpPr>
          <p:spPr>
            <a:xfrm rot="10800000">
              <a:off x="4584526" y="3371696"/>
              <a:ext cx="663880" cy="30745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Oval 2"/>
          <p:cNvSpPr/>
          <p:nvPr/>
        </p:nvSpPr>
        <p:spPr>
          <a:xfrm>
            <a:off x="10414791" y="3644355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10414791" y="5175663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10409129" y="2229959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0552930" y="2489642"/>
            <a:ext cx="65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HDD</a:t>
            </a:r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10595583" y="3908122"/>
            <a:ext cx="65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USB</a:t>
            </a:r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10664468" y="5435346"/>
            <a:ext cx="51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I/O</a:t>
            </a:r>
            <a:endParaRPr lang="en-GB"/>
          </a:p>
        </p:txBody>
      </p:sp>
      <p:sp>
        <p:nvSpPr>
          <p:cNvPr id="17" name="Right Arrow 16"/>
          <p:cNvSpPr/>
          <p:nvPr/>
        </p:nvSpPr>
        <p:spPr>
          <a:xfrm>
            <a:off x="9958190" y="2571200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Arrow 17"/>
          <p:cNvSpPr/>
          <p:nvPr/>
        </p:nvSpPr>
        <p:spPr>
          <a:xfrm>
            <a:off x="9958189" y="4003273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Arrow 18"/>
          <p:cNvSpPr/>
          <p:nvPr/>
        </p:nvSpPr>
        <p:spPr>
          <a:xfrm>
            <a:off x="9958188" y="5533465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79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368"/>
          </a:xfrm>
        </p:spPr>
        <p:txBody>
          <a:bodyPr/>
          <a:lstStyle/>
          <a:p>
            <a:r>
              <a:rPr lang="en-US"/>
              <a:t>Computer Organization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19" y="2616503"/>
            <a:ext cx="2508657" cy="20557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805" y="1690688"/>
            <a:ext cx="1604767" cy="5003097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584526" y="2805507"/>
            <a:ext cx="3444658" cy="313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Address Bus</a:t>
            </a:r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4584526" y="3943908"/>
            <a:ext cx="3444658" cy="313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Control BUS</a:t>
            </a:r>
            <a:endParaRPr lang="en-GB"/>
          </a:p>
        </p:txBody>
      </p:sp>
      <p:grpSp>
        <p:nvGrpSpPr>
          <p:cNvPr id="12" name="Group 11"/>
          <p:cNvGrpSpPr/>
          <p:nvPr/>
        </p:nvGrpSpPr>
        <p:grpSpPr>
          <a:xfrm>
            <a:off x="4584526" y="3368851"/>
            <a:ext cx="3444658" cy="313150"/>
            <a:chOff x="4584526" y="3368851"/>
            <a:chExt cx="3444658" cy="313150"/>
          </a:xfrm>
        </p:grpSpPr>
        <p:sp>
          <p:nvSpPr>
            <p:cNvPr id="8" name="Right Arrow 7"/>
            <p:cNvSpPr/>
            <p:nvPr/>
          </p:nvSpPr>
          <p:spPr>
            <a:xfrm>
              <a:off x="5248406" y="3368851"/>
              <a:ext cx="2780778" cy="3131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Data Bus</a:t>
              </a:r>
              <a:endParaRPr lang="en-GB"/>
            </a:p>
          </p:txBody>
        </p:sp>
        <p:sp>
          <p:nvSpPr>
            <p:cNvPr id="11" name="Right Arrow 10"/>
            <p:cNvSpPr/>
            <p:nvPr/>
          </p:nvSpPr>
          <p:spPr>
            <a:xfrm rot="10800000">
              <a:off x="4584526" y="3371696"/>
              <a:ext cx="663880" cy="30745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Oval 2"/>
          <p:cNvSpPr/>
          <p:nvPr/>
        </p:nvSpPr>
        <p:spPr>
          <a:xfrm>
            <a:off x="10197404" y="3894549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884233" y="5151488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10191742" y="2480153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0335543" y="2739836"/>
            <a:ext cx="65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HDD</a:t>
            </a:r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10378196" y="4158316"/>
            <a:ext cx="65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USB</a:t>
            </a:r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7027052" y="5396628"/>
            <a:ext cx="73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Other</a:t>
            </a:r>
            <a:endParaRPr lang="en-GB"/>
          </a:p>
        </p:txBody>
      </p:sp>
      <p:sp>
        <p:nvSpPr>
          <p:cNvPr id="17" name="Right Arrow 16"/>
          <p:cNvSpPr/>
          <p:nvPr/>
        </p:nvSpPr>
        <p:spPr>
          <a:xfrm>
            <a:off x="9740803" y="2821394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Arrow 17"/>
          <p:cNvSpPr/>
          <p:nvPr/>
        </p:nvSpPr>
        <p:spPr>
          <a:xfrm>
            <a:off x="9740802" y="4253467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Arrow 18"/>
          <p:cNvSpPr/>
          <p:nvPr/>
        </p:nvSpPr>
        <p:spPr>
          <a:xfrm>
            <a:off x="9740801" y="5727387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Down Arrow 21"/>
          <p:cNvSpPr/>
          <p:nvPr/>
        </p:nvSpPr>
        <p:spPr>
          <a:xfrm>
            <a:off x="9393741" y="1565753"/>
            <a:ext cx="484067" cy="512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ight Arrow 24"/>
          <p:cNvSpPr/>
          <p:nvPr/>
        </p:nvSpPr>
        <p:spPr>
          <a:xfrm rot="5400000">
            <a:off x="5558830" y="3159217"/>
            <a:ext cx="3569986" cy="4079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10196815" y="5426925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10298202" y="5686608"/>
            <a:ext cx="73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Timer</a:t>
            </a:r>
            <a:endParaRPr lang="en-GB"/>
          </a:p>
        </p:txBody>
      </p:sp>
      <p:sp>
        <p:nvSpPr>
          <p:cNvPr id="24" name="Right Arrow 23"/>
          <p:cNvSpPr/>
          <p:nvPr/>
        </p:nvSpPr>
        <p:spPr>
          <a:xfrm rot="10800000">
            <a:off x="5273457" y="1417912"/>
            <a:ext cx="4467343" cy="5681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35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658" y="1926876"/>
            <a:ext cx="1191772" cy="4549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368"/>
          </a:xfrm>
        </p:spPr>
        <p:txBody>
          <a:bodyPr/>
          <a:lstStyle/>
          <a:p>
            <a:r>
              <a:rPr lang="en-US"/>
              <a:t>Computer Organization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919" y="2616503"/>
            <a:ext cx="2508657" cy="2055705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584526" y="2805507"/>
            <a:ext cx="3444658" cy="313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Address Bus</a:t>
            </a:r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4584526" y="3943908"/>
            <a:ext cx="3444658" cy="313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Control BUS</a:t>
            </a:r>
            <a:endParaRPr lang="en-GB"/>
          </a:p>
        </p:txBody>
      </p:sp>
      <p:grpSp>
        <p:nvGrpSpPr>
          <p:cNvPr id="12" name="Group 11"/>
          <p:cNvGrpSpPr/>
          <p:nvPr/>
        </p:nvGrpSpPr>
        <p:grpSpPr>
          <a:xfrm>
            <a:off x="4584526" y="3368851"/>
            <a:ext cx="3444658" cy="313150"/>
            <a:chOff x="4584526" y="3368851"/>
            <a:chExt cx="3444658" cy="313150"/>
          </a:xfrm>
        </p:grpSpPr>
        <p:sp>
          <p:nvSpPr>
            <p:cNvPr id="8" name="Right Arrow 7"/>
            <p:cNvSpPr/>
            <p:nvPr/>
          </p:nvSpPr>
          <p:spPr>
            <a:xfrm>
              <a:off x="5248406" y="3368851"/>
              <a:ext cx="2780778" cy="3131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Data Bus</a:t>
              </a:r>
              <a:endParaRPr lang="en-GB"/>
            </a:p>
          </p:txBody>
        </p:sp>
        <p:sp>
          <p:nvSpPr>
            <p:cNvPr id="11" name="Right Arrow 10"/>
            <p:cNvSpPr/>
            <p:nvPr/>
          </p:nvSpPr>
          <p:spPr>
            <a:xfrm rot="10800000">
              <a:off x="4584526" y="3371696"/>
              <a:ext cx="663880" cy="30745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Oval 2"/>
          <p:cNvSpPr/>
          <p:nvPr/>
        </p:nvSpPr>
        <p:spPr>
          <a:xfrm>
            <a:off x="10197404" y="3894549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884233" y="5151488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10191742" y="2480153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0335543" y="2739836"/>
            <a:ext cx="65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HDD</a:t>
            </a:r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10378196" y="4158316"/>
            <a:ext cx="65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USB</a:t>
            </a:r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7027052" y="5396628"/>
            <a:ext cx="73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Other</a:t>
            </a:r>
            <a:endParaRPr lang="en-GB"/>
          </a:p>
        </p:txBody>
      </p:sp>
      <p:sp>
        <p:nvSpPr>
          <p:cNvPr id="17" name="Right Arrow 16"/>
          <p:cNvSpPr/>
          <p:nvPr/>
        </p:nvSpPr>
        <p:spPr>
          <a:xfrm>
            <a:off x="9740803" y="2821394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Arrow 17"/>
          <p:cNvSpPr/>
          <p:nvPr/>
        </p:nvSpPr>
        <p:spPr>
          <a:xfrm>
            <a:off x="9740802" y="4253467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Arrow 18"/>
          <p:cNvSpPr/>
          <p:nvPr/>
        </p:nvSpPr>
        <p:spPr>
          <a:xfrm>
            <a:off x="9740801" y="5783659"/>
            <a:ext cx="450937" cy="287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Down Arrow 21"/>
          <p:cNvSpPr/>
          <p:nvPr/>
        </p:nvSpPr>
        <p:spPr>
          <a:xfrm>
            <a:off x="9393741" y="1565753"/>
            <a:ext cx="484067" cy="512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ight Arrow 23"/>
          <p:cNvSpPr/>
          <p:nvPr/>
        </p:nvSpPr>
        <p:spPr>
          <a:xfrm rot="10800000">
            <a:off x="5273457" y="1443738"/>
            <a:ext cx="4467343" cy="5165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ight Arrow 24"/>
          <p:cNvSpPr/>
          <p:nvPr/>
        </p:nvSpPr>
        <p:spPr>
          <a:xfrm rot="5400000">
            <a:off x="5558830" y="3159217"/>
            <a:ext cx="3569986" cy="4079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10196815" y="5483197"/>
            <a:ext cx="944671" cy="888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10298202" y="5742880"/>
            <a:ext cx="73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Timer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782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 Process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First address loads to the address bus is 0xFFFF0, called reset address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ROM is mapped at 0xFFFF0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First program executes from ROM, called bootstrap</a:t>
            </a:r>
          </a:p>
          <a:p>
            <a:pPr marL="457200" lvl="1" indent="0">
              <a:buNone/>
            </a:pPr>
            <a:r>
              <a:rPr lang="en-US" dirty="0"/>
              <a:t>Loads the first sector of the bootable device to 0x07C00, called boot address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Transfer Control to 0x07C00</a:t>
            </a:r>
          </a:p>
          <a:p>
            <a:pPr marL="457200" lvl="1" indent="0">
              <a:buNone/>
            </a:pPr>
            <a:r>
              <a:rPr lang="en-US" dirty="0"/>
              <a:t>Whatever written in boot sector executes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290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Need of Operating System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Whatever is in boot sector will be executed.</a:t>
            </a:r>
          </a:p>
          <a:p>
            <a:pPr lvl="1"/>
            <a:r>
              <a:rPr lang="en-US"/>
              <a:t>Boot sector is of 512B only</a:t>
            </a:r>
          </a:p>
          <a:p>
            <a:pPr lvl="1"/>
            <a:r>
              <a:rPr lang="en-US"/>
              <a:t>Loading first sector to RAM is the responsibility of ROM.</a:t>
            </a:r>
          </a:p>
          <a:p>
            <a:pPr lvl="1"/>
            <a:endParaRPr lang="en-US"/>
          </a:p>
          <a:p>
            <a:r>
              <a:rPr lang="en-US">
                <a:solidFill>
                  <a:srgbClr val="FF0000"/>
                </a:solidFill>
              </a:rPr>
              <a:t>There is a need of a utility that let us choose a program which is to be executed. 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Provides user interface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Provides programmer interface</a:t>
            </a:r>
          </a:p>
          <a:p>
            <a:pPr lvl="2"/>
            <a:r>
              <a:rPr lang="en-US">
                <a:solidFill>
                  <a:srgbClr val="FF0000"/>
                </a:solidFill>
              </a:rPr>
              <a:t>For reading input</a:t>
            </a:r>
          </a:p>
          <a:p>
            <a:pPr lvl="2"/>
            <a:r>
              <a:rPr lang="en-US">
                <a:solidFill>
                  <a:srgbClr val="FF0000"/>
                </a:solidFill>
              </a:rPr>
              <a:t>For displaying characters on screen</a:t>
            </a:r>
          </a:p>
          <a:p>
            <a:pPr lvl="2"/>
            <a:r>
              <a:rPr lang="en-US">
                <a:solidFill>
                  <a:srgbClr val="FF0000"/>
                </a:solidFill>
              </a:rPr>
              <a:t>Access files</a:t>
            </a:r>
          </a:p>
        </p:txBody>
      </p:sp>
    </p:spTree>
    <p:extLst>
      <p:ext uri="{BB962C8B-B14F-4D97-AF65-F5344CB8AC3E}">
        <p14:creationId xmlns:p14="http://schemas.microsoft.com/office/powerpoint/2010/main" val="88487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It is a resource organizer that creates an environment where other software can run.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Without Operating System</a:t>
            </a:r>
          </a:p>
          <a:p>
            <a:pPr lvl="1"/>
            <a:r>
              <a:rPr lang="en-US"/>
              <a:t>A program has to </a:t>
            </a:r>
          </a:p>
          <a:p>
            <a:pPr lvl="2"/>
            <a:r>
              <a:rPr lang="en-US"/>
              <a:t>Read key from keyboard buffer itself</a:t>
            </a:r>
          </a:p>
          <a:p>
            <a:pPr lvl="2"/>
            <a:r>
              <a:rPr lang="en-US"/>
              <a:t>Write character patterns directly to video memory</a:t>
            </a:r>
          </a:p>
          <a:p>
            <a:pPr lvl="2"/>
            <a:r>
              <a:rPr lang="en-US"/>
              <a:t>Must implement file system</a:t>
            </a:r>
          </a:p>
          <a:p>
            <a:pPr lvl="2"/>
            <a:r>
              <a:rPr lang="en-US"/>
              <a:t>Write driver of every hardware it intend to use</a:t>
            </a:r>
          </a:p>
          <a:p>
            <a:pPr lvl="2"/>
            <a:r>
              <a:rPr lang="en-US"/>
              <a:t>In nutshell: It will do everything an OS does.</a:t>
            </a:r>
            <a:endParaRPr lang="en-GB"/>
          </a:p>
        </p:txBody>
      </p:sp>
      <p:pic>
        <p:nvPicPr>
          <p:cNvPr id="1026" name="Picture 2" descr="How to create custom characters on 16x2 LCD using 8051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921" y="4001294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6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304" y="2444445"/>
            <a:ext cx="10515600" cy="1325563"/>
          </a:xfrm>
        </p:spPr>
        <p:txBody>
          <a:bodyPr/>
          <a:lstStyle/>
          <a:p>
            <a:r>
              <a:rPr lang="en-US"/>
              <a:t>Lecture#2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02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Terminologies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Multiprogramming</a:t>
            </a:r>
          </a:p>
          <a:p>
            <a:r>
              <a:rPr lang="en-US"/>
              <a:t>Multitasking</a:t>
            </a:r>
          </a:p>
          <a:p>
            <a:r>
              <a:rPr lang="en-US"/>
              <a:t>Multiprocessing</a:t>
            </a:r>
          </a:p>
          <a:p>
            <a:r>
              <a:rPr lang="en-US"/>
              <a:t>Multithreading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920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Multiprogramming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7216037" cy="4351338"/>
          </a:xfrm>
        </p:spPr>
        <p:txBody>
          <a:bodyPr/>
          <a:lstStyle/>
          <a:p>
            <a:r>
              <a:rPr lang="en-US"/>
              <a:t>Multiple programs are loaded into memory</a:t>
            </a:r>
          </a:p>
          <a:p>
            <a:r>
              <a:rPr lang="en-US"/>
              <a:t>One program executes at a time</a:t>
            </a:r>
          </a:p>
          <a:p>
            <a:r>
              <a:rPr lang="en-US"/>
              <a:t>On I/O call control is taken from the running process and given to another.</a:t>
            </a:r>
          </a:p>
          <a:p>
            <a:r>
              <a:rPr lang="en-US"/>
              <a:t>Control is taken only if a program makes I/O call or terminates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230" y="1632295"/>
            <a:ext cx="1258996" cy="454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2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Multitasking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7216037" cy="4351338"/>
          </a:xfrm>
        </p:spPr>
        <p:txBody>
          <a:bodyPr/>
          <a:lstStyle/>
          <a:p>
            <a:r>
              <a:rPr lang="en-US"/>
              <a:t>Multiple programs are loaded into memory</a:t>
            </a:r>
          </a:p>
          <a:p>
            <a:r>
              <a:rPr lang="en-US"/>
              <a:t>One program executes at a time</a:t>
            </a:r>
          </a:p>
          <a:p>
            <a:r>
              <a:rPr lang="en-US"/>
              <a:t>On I/O call control is taken from the running program and given to another.</a:t>
            </a:r>
          </a:p>
          <a:p>
            <a:r>
              <a:rPr lang="en-US"/>
              <a:t>Time slice is allocated to each program</a:t>
            </a:r>
          </a:p>
          <a:p>
            <a:r>
              <a:rPr lang="en-US"/>
              <a:t>When time slice expires, control is taken from running program and transfer to another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230" y="1632295"/>
            <a:ext cx="1258996" cy="454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1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Multiprocessing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7216037" cy="4351338"/>
          </a:xfrm>
        </p:spPr>
        <p:txBody>
          <a:bodyPr/>
          <a:lstStyle/>
          <a:p>
            <a:r>
              <a:rPr lang="en-US"/>
              <a:t>Multiple programs are loaded into memory</a:t>
            </a:r>
          </a:p>
          <a:p>
            <a:r>
              <a:rPr lang="en-US"/>
              <a:t>Multiple programs execute at a time depending upon the number of CPUs available</a:t>
            </a:r>
          </a:p>
          <a:p>
            <a:r>
              <a:rPr lang="en-US"/>
              <a:t>If the number of programs is equal to the number of CPUs then there is True parallel processing</a:t>
            </a:r>
          </a:p>
          <a:p>
            <a:r>
              <a:rPr lang="en-US"/>
              <a:t>If the number of program exceeds number of available CPUs then multitasking takes place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189" y="1632295"/>
            <a:ext cx="1258996" cy="45446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791167" y="1916110"/>
            <a:ext cx="1014741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CPU0</a:t>
            </a:r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10791165" y="3055932"/>
            <a:ext cx="1014741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CPU1</a:t>
            </a:r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10791227" y="4195754"/>
            <a:ext cx="1014741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CPU2</a:t>
            </a:r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10791166" y="5262563"/>
            <a:ext cx="1014741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CPU3</a:t>
            </a:r>
            <a:endParaRPr lang="en-GB"/>
          </a:p>
        </p:txBody>
      </p:sp>
      <p:sp>
        <p:nvSpPr>
          <p:cNvPr id="16" name="Right Arrow 15"/>
          <p:cNvSpPr/>
          <p:nvPr/>
        </p:nvSpPr>
        <p:spPr>
          <a:xfrm>
            <a:off x="10020822" y="2325084"/>
            <a:ext cx="770343" cy="194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ight Arrow 16"/>
          <p:cNvSpPr/>
          <p:nvPr/>
        </p:nvSpPr>
        <p:spPr>
          <a:xfrm>
            <a:off x="10020822" y="3464906"/>
            <a:ext cx="770343" cy="194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Arrow 17"/>
          <p:cNvSpPr/>
          <p:nvPr/>
        </p:nvSpPr>
        <p:spPr>
          <a:xfrm>
            <a:off x="10020822" y="4555691"/>
            <a:ext cx="770343" cy="194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Arrow 18"/>
          <p:cNvSpPr/>
          <p:nvPr/>
        </p:nvSpPr>
        <p:spPr>
          <a:xfrm>
            <a:off x="10020822" y="5622500"/>
            <a:ext cx="770343" cy="194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9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Protection violations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36715" cy="4351338"/>
          </a:xfrm>
        </p:spPr>
        <p:txBody>
          <a:bodyPr/>
          <a:lstStyle/>
          <a:p>
            <a:r>
              <a:rPr lang="en-US"/>
              <a:t>Memory Protection violation </a:t>
            </a:r>
          </a:p>
          <a:p>
            <a:r>
              <a:rPr lang="en-US"/>
              <a:t>I/O Protection violation</a:t>
            </a:r>
          </a:p>
          <a:p>
            <a:r>
              <a:rPr lang="en-US"/>
              <a:t>CPU Protection violation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071" y="1728960"/>
            <a:ext cx="1258996" cy="454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35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Protection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73877" cy="4351338"/>
          </a:xfrm>
        </p:spPr>
        <p:txBody>
          <a:bodyPr/>
          <a:lstStyle/>
          <a:p>
            <a:r>
              <a:rPr lang="en-US"/>
              <a:t>There are multiple programs residing in the memory</a:t>
            </a:r>
          </a:p>
          <a:p>
            <a:r>
              <a:rPr lang="en-US"/>
              <a:t>One program changes the variables of other programs.</a:t>
            </a:r>
          </a:p>
          <a:p>
            <a:r>
              <a:rPr lang="en-US"/>
              <a:t>There should be a check on it.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805" y="1632295"/>
            <a:ext cx="1258996" cy="4544668"/>
          </a:xfrm>
          <a:prstGeom prst="rect">
            <a:avLst/>
          </a:prstGeom>
        </p:spPr>
      </p:pic>
      <p:cxnSp>
        <p:nvCxnSpPr>
          <p:cNvPr id="21" name="Elbow Connector 20"/>
          <p:cNvCxnSpPr/>
          <p:nvPr/>
        </p:nvCxnSpPr>
        <p:spPr>
          <a:xfrm rot="16200000" flipH="1">
            <a:off x="8323546" y="2423785"/>
            <a:ext cx="626301" cy="463464"/>
          </a:xfrm>
          <a:prstGeom prst="bentConnector3">
            <a:avLst>
              <a:gd name="adj1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/>
          <p:nvPr/>
        </p:nvCxnSpPr>
        <p:spPr>
          <a:xfrm rot="10800000" flipV="1">
            <a:off x="8404964" y="2805830"/>
            <a:ext cx="463464" cy="400835"/>
          </a:xfrm>
          <a:prstGeom prst="bentConnector3">
            <a:avLst>
              <a:gd name="adj1" fmla="val -13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427934" y="3006248"/>
            <a:ext cx="977030" cy="363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xxxxxxxx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26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I/O Protection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49658" cy="4351338"/>
          </a:xfrm>
        </p:spPr>
        <p:txBody>
          <a:bodyPr/>
          <a:lstStyle/>
          <a:p>
            <a:r>
              <a:rPr lang="en-US"/>
              <a:t>One program may access I/O devices directly bypassing all security checks. </a:t>
            </a:r>
          </a:p>
          <a:p>
            <a:r>
              <a:rPr lang="en-US"/>
              <a:t>Accesses files that belongs to another user.</a:t>
            </a:r>
          </a:p>
          <a:p>
            <a:r>
              <a:rPr lang="en-US"/>
              <a:t>Using In/Out instructions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89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protection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26063" cy="4351338"/>
          </a:xfrm>
        </p:spPr>
        <p:txBody>
          <a:bodyPr/>
          <a:lstStyle/>
          <a:p>
            <a:r>
              <a:rPr lang="en-US"/>
              <a:t>A control may stuck in an infinite loop.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While(1)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}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060" y="1632295"/>
            <a:ext cx="1258996" cy="454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5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Dual-Mode of Operation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Kernel Mode</a:t>
            </a:r>
          </a:p>
          <a:p>
            <a:pPr lvl="1"/>
            <a:r>
              <a:rPr lang="en-US"/>
              <a:t>In kernel mode, CPU executes all instructions.</a:t>
            </a:r>
          </a:p>
          <a:p>
            <a:pPr lvl="1"/>
            <a:r>
              <a:rPr lang="en-US"/>
              <a:t>Even if the harmful operation is performed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Kernel of OS executes in kernel-mode</a:t>
            </a:r>
          </a:p>
          <a:p>
            <a:pPr lvl="1"/>
            <a:endParaRPr lang="en-US"/>
          </a:p>
          <a:p>
            <a:r>
              <a:rPr lang="en-US"/>
              <a:t>User Mode</a:t>
            </a:r>
          </a:p>
          <a:p>
            <a:pPr lvl="1"/>
            <a:r>
              <a:rPr lang="en-US"/>
              <a:t>In user mode, CPU executes only non-privileged instructions. Instructions which are safe to execute. 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User processes execute in user-mode.</a:t>
            </a:r>
          </a:p>
          <a:p>
            <a:pPr lvl="1"/>
            <a:r>
              <a:rPr lang="en-US"/>
              <a:t>ALU instructions</a:t>
            </a:r>
          </a:p>
          <a:p>
            <a:pPr lvl="1"/>
            <a:r>
              <a:rPr lang="en-US"/>
              <a:t>JMP branch within the limit</a:t>
            </a:r>
          </a:p>
          <a:p>
            <a:pPr marL="457200" lvl="1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18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Protection (Solution)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3775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Every program residing in memory is assigned a limit.</a:t>
            </a:r>
          </a:p>
          <a:p>
            <a:r>
              <a:rPr lang="en-US"/>
              <a:t>If a program exceeds its limit in user mode, it is trapped.</a:t>
            </a:r>
          </a:p>
          <a:p>
            <a:r>
              <a:rPr lang="en-US"/>
              <a:t>A program can’t change its limit in user-mode.        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824" y="1825625"/>
            <a:ext cx="1889669" cy="465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4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I/O Protection Solution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527104" cy="4351338"/>
          </a:xfrm>
        </p:spPr>
        <p:txBody>
          <a:bodyPr/>
          <a:lstStyle/>
          <a:p>
            <a:r>
              <a:rPr lang="en-US"/>
              <a:t>I/O instructions can’t be issued in user-mode.</a:t>
            </a:r>
          </a:p>
          <a:p>
            <a:r>
              <a:rPr lang="en-US"/>
              <a:t>Issuing I/O instructions in user-mode generate a trap.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370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Protection (Solution)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Timer, a controller, generates interrupts at fixed intervals.</a:t>
            </a:r>
          </a:p>
          <a:p>
            <a:r>
              <a:rPr lang="en-US"/>
              <a:t>Interrupts transfer control to the kernel in kernel mode.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306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148" y="2644862"/>
            <a:ext cx="10515600" cy="1325563"/>
          </a:xfrm>
        </p:spPr>
        <p:txBody>
          <a:bodyPr/>
          <a:lstStyle/>
          <a:p>
            <a:r>
              <a:rPr lang="en-US"/>
              <a:t>Lecture#3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897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Interrupts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Hardware Interrupts</a:t>
            </a:r>
          </a:p>
          <a:p>
            <a:pPr lvl="1"/>
            <a:r>
              <a:rPr lang="en-US"/>
              <a:t>Generated by I/O devices</a:t>
            </a:r>
          </a:p>
          <a:p>
            <a:r>
              <a:rPr lang="en-US"/>
              <a:t>Software Interrupts</a:t>
            </a:r>
          </a:p>
          <a:p>
            <a:pPr lvl="1"/>
            <a:r>
              <a:rPr lang="en-US"/>
              <a:t>Generated programmatically </a:t>
            </a:r>
          </a:p>
          <a:p>
            <a:pPr lvl="1"/>
            <a:r>
              <a:rPr lang="en-US"/>
              <a:t>E.g.   </a:t>
            </a:r>
            <a:r>
              <a:rPr lang="en-US" err="1">
                <a:solidFill>
                  <a:srgbClr val="FF0000"/>
                </a:solidFill>
              </a:rPr>
              <a:t>int</a:t>
            </a:r>
            <a:r>
              <a:rPr lang="en-US"/>
              <a:t> 0x21</a:t>
            </a:r>
          </a:p>
          <a:p>
            <a:r>
              <a:rPr lang="en-US"/>
              <a:t>Exceptions</a:t>
            </a:r>
          </a:p>
          <a:p>
            <a:pPr lvl="1"/>
            <a:r>
              <a:rPr lang="en-US"/>
              <a:t>Trap  </a:t>
            </a:r>
            <a:r>
              <a:rPr lang="en-US">
                <a:sym typeface="Wingdings" panose="05000000000000000000" pitchFamily="2" charset="2"/>
              </a:rPr>
              <a:t> Control is return to the next instruction which caused exception</a:t>
            </a:r>
            <a:endParaRPr lang="en-US"/>
          </a:p>
          <a:p>
            <a:pPr lvl="1"/>
            <a:r>
              <a:rPr lang="en-US"/>
              <a:t>Fault </a:t>
            </a:r>
            <a:r>
              <a:rPr lang="en-US">
                <a:sym typeface="Wingdings" panose="05000000000000000000" pitchFamily="2" charset="2"/>
              </a:rPr>
              <a:t> Control is return to the same instruction which caused exception</a:t>
            </a:r>
            <a:endParaRPr lang="en-US"/>
          </a:p>
          <a:p>
            <a:pPr lvl="1"/>
            <a:r>
              <a:rPr lang="en-US"/>
              <a:t>Double Fault </a:t>
            </a:r>
            <a:r>
              <a:rPr lang="en-US">
                <a:sym typeface="Wingdings" panose="05000000000000000000" pitchFamily="2" charset="2"/>
              </a:rPr>
              <a:t> Exception within exception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97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hardware Interrupts are generated?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05" y="2003838"/>
            <a:ext cx="84486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89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software Interrupts are generated?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DX </a:t>
            </a:r>
            <a:r>
              <a:rPr lang="en-US">
                <a:sym typeface="Wingdings" panose="05000000000000000000" pitchFamily="2" charset="2"/>
              </a:rPr>
              <a:t> Data for kernel</a:t>
            </a:r>
            <a:endParaRPr lang="en-US"/>
          </a:p>
          <a:p>
            <a:r>
              <a:rPr lang="en-US"/>
              <a:t>Ah </a:t>
            </a:r>
            <a:r>
              <a:rPr lang="en-US">
                <a:sym typeface="Wingdings" panose="05000000000000000000" pitchFamily="2" charset="2"/>
              </a:rPr>
              <a:t> Service#</a:t>
            </a:r>
            <a:endParaRPr lang="en-US"/>
          </a:p>
          <a:p>
            <a:r>
              <a:rPr lang="en-US" err="1"/>
              <a:t>int</a:t>
            </a:r>
            <a:r>
              <a:rPr lang="en-US"/>
              <a:t>  #</a:t>
            </a:r>
            <a:r>
              <a:rPr lang="en-US" err="1"/>
              <a:t>num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714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Interrupts are handled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712" y="1984201"/>
            <a:ext cx="6742917" cy="433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15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92056"/>
            <a:ext cx="386715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DX </a:t>
            </a:r>
            <a:r>
              <a:rPr lang="en-US">
                <a:sym typeface="Wingdings" panose="05000000000000000000" pitchFamily="2" charset="2"/>
              </a:rPr>
              <a:t>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Data for kernel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/>
              <a:t>Ah </a:t>
            </a:r>
            <a:r>
              <a:rPr lang="en-US">
                <a:sym typeface="Wingdings" panose="05000000000000000000" pitchFamily="2" charset="2"/>
              </a:rPr>
              <a:t>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Service#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err="1"/>
              <a:t>int</a:t>
            </a:r>
            <a:r>
              <a:rPr lang="en-US"/>
              <a:t>  </a:t>
            </a:r>
            <a:r>
              <a:rPr lang="en-US">
                <a:solidFill>
                  <a:srgbClr val="FF0000"/>
                </a:solidFill>
              </a:rPr>
              <a:t>#system call </a:t>
            </a:r>
            <a:r>
              <a:rPr lang="en-US" err="1">
                <a:solidFill>
                  <a:srgbClr val="FF0000"/>
                </a:solidFill>
              </a:rPr>
              <a:t>num</a:t>
            </a:r>
            <a:endParaRPr lang="en-US">
              <a:solidFill>
                <a:srgbClr val="FF0000"/>
              </a:solidFill>
            </a:endParaRPr>
          </a:p>
          <a:p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100" y="1244447"/>
            <a:ext cx="74866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62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Programmer Interface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  <a:p>
            <a:pPr marL="0" indent="0">
              <a:buNone/>
            </a:pPr>
            <a:r>
              <a:rPr lang="en-US"/>
              <a:t>Print (char* </a:t>
            </a:r>
            <a:r>
              <a:rPr lang="en-US" err="1"/>
              <a:t>str</a:t>
            </a:r>
            <a:r>
              <a:rPr lang="en-US"/>
              <a:t>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DX </a:t>
            </a:r>
            <a:r>
              <a:rPr lang="en-US">
                <a:sym typeface="Wingdings" panose="05000000000000000000" pitchFamily="2" charset="2"/>
              </a:rPr>
              <a:t> </a:t>
            </a:r>
            <a:r>
              <a:rPr lang="en-US" err="1">
                <a:sym typeface="Wingdings" panose="05000000000000000000" pitchFamily="2" charset="2"/>
              </a:rPr>
              <a:t>str</a:t>
            </a:r>
            <a:endParaRPr lang="en-US"/>
          </a:p>
          <a:p>
            <a:pPr marL="0" indent="0">
              <a:buNone/>
            </a:pPr>
            <a:r>
              <a:rPr lang="en-US"/>
              <a:t>Ah </a:t>
            </a:r>
            <a:r>
              <a:rPr lang="en-US">
                <a:sym typeface="Wingdings" panose="05000000000000000000" pitchFamily="2" charset="2"/>
              </a:rPr>
              <a:t> 0x9</a:t>
            </a:r>
            <a:endParaRPr lang="en-US"/>
          </a:p>
          <a:p>
            <a:pPr marL="0" indent="0">
              <a:buNone/>
            </a:pPr>
            <a:r>
              <a:rPr lang="en-US" err="1"/>
              <a:t>int</a:t>
            </a:r>
            <a:r>
              <a:rPr lang="en-US"/>
              <a:t>  0x21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return</a:t>
            </a:r>
            <a:endParaRPr lang="en-GB"/>
          </a:p>
          <a:p>
            <a:pPr marL="0" indent="0">
              <a:buNone/>
            </a:pPr>
            <a:r>
              <a:rPr lang="en-US"/>
              <a:t>}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336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API is preferred over System Call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calls are complex to invoke</a:t>
            </a:r>
          </a:p>
        </p:txBody>
      </p:sp>
    </p:spTree>
    <p:extLst>
      <p:ext uri="{BB962C8B-B14F-4D97-AF65-F5344CB8AC3E}">
        <p14:creationId xmlns:p14="http://schemas.microsoft.com/office/powerpoint/2010/main" val="4153112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992" y="2632336"/>
            <a:ext cx="10515600" cy="1325563"/>
          </a:xfrm>
        </p:spPr>
        <p:txBody>
          <a:bodyPr/>
          <a:lstStyle/>
          <a:p>
            <a:r>
              <a:rPr lang="en-US"/>
              <a:t>Lecture#4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682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87158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err="1"/>
              <a:t>int</a:t>
            </a:r>
            <a:r>
              <a:rPr lang="en-US"/>
              <a:t> a=5;</a:t>
            </a:r>
          </a:p>
          <a:p>
            <a:pPr marL="0" indent="0">
              <a:buNone/>
            </a:pPr>
            <a:r>
              <a:rPr lang="en-US" err="1"/>
              <a:t>int</a:t>
            </a:r>
            <a:r>
              <a:rPr lang="en-US"/>
              <a:t> b=10;</a:t>
            </a:r>
          </a:p>
          <a:p>
            <a:pPr marL="0" indent="0">
              <a:buNone/>
            </a:pPr>
            <a:r>
              <a:rPr lang="en-US"/>
              <a:t>main()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int</a:t>
            </a:r>
            <a:r>
              <a:rPr lang="en-US"/>
              <a:t> c;</a:t>
            </a:r>
          </a:p>
          <a:p>
            <a:pPr marL="0" indent="0">
              <a:buNone/>
            </a:pPr>
            <a:r>
              <a:rPr lang="en-US"/>
              <a:t>	c = a + b;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cout</a:t>
            </a:r>
            <a:r>
              <a:rPr lang="en-US"/>
              <a:t>&lt;&lt;c;</a:t>
            </a:r>
          </a:p>
          <a:p>
            <a:pPr marL="0" indent="0">
              <a:buNone/>
            </a:pPr>
            <a:r>
              <a:rPr lang="en-US"/>
              <a:t>return 0;</a:t>
            </a:r>
          </a:p>
          <a:p>
            <a:pPr marL="0" indent="0">
              <a:buNone/>
            </a:pPr>
            <a:r>
              <a:rPr lang="en-US"/>
              <a:t>}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500" y="1590480"/>
            <a:ext cx="1661591" cy="43005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805" y="1651785"/>
            <a:ext cx="1273283" cy="4239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44685" y="5891068"/>
            <a:ext cx="98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Program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8780991" y="5904205"/>
            <a:ext cx="89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31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boost performance 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have an array of 1000 elements and you need to search a number from it.</a:t>
            </a:r>
          </a:p>
          <a:p>
            <a:r>
              <a:rPr lang="en-US"/>
              <a:t>How would you speedup searching?</a:t>
            </a:r>
          </a:p>
          <a:p>
            <a:r>
              <a:rPr lang="en-US"/>
              <a:t>How would you exploit multiprocessing?</a:t>
            </a:r>
          </a:p>
          <a:p>
            <a:endParaRPr lang="en-US"/>
          </a:p>
          <a:p>
            <a:r>
              <a:rPr lang="en-US"/>
              <a:t>Solution</a:t>
            </a:r>
          </a:p>
          <a:p>
            <a:pPr lvl="1"/>
            <a:r>
              <a:rPr lang="en-US"/>
              <a:t>By creating process</a:t>
            </a:r>
          </a:p>
          <a:p>
            <a:pPr marL="914400" lvl="2" indent="0">
              <a:buNone/>
            </a:pPr>
            <a:r>
              <a:rPr lang="en-US" err="1"/>
              <a:t>int</a:t>
            </a:r>
            <a:r>
              <a:rPr lang="en-US"/>
              <a:t> fork ()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0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252" y="2707492"/>
            <a:ext cx="10515600" cy="1325563"/>
          </a:xfrm>
        </p:spPr>
        <p:txBody>
          <a:bodyPr/>
          <a:lstStyle/>
          <a:p>
            <a:r>
              <a:rPr lang="en-US"/>
              <a:t>Lecture#5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563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Child Process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3403"/>
            <a:ext cx="4088704" cy="4351338"/>
          </a:xfrm>
        </p:spPr>
        <p:txBody>
          <a:bodyPr>
            <a:normAutofit/>
          </a:bodyPr>
          <a:lstStyle/>
          <a:p>
            <a:endParaRPr lang="en-US"/>
          </a:p>
          <a:p>
            <a:pPr marL="0" indent="0">
              <a:buNone/>
            </a:pPr>
            <a:r>
              <a:rPr lang="en-US" err="1"/>
              <a:t>int</a:t>
            </a:r>
            <a:r>
              <a:rPr lang="en-US"/>
              <a:t> main()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457200" lvl="1" indent="0">
              <a:buNone/>
            </a:pPr>
            <a:r>
              <a:rPr lang="en-US" err="1"/>
              <a:t>printf</a:t>
            </a:r>
            <a:r>
              <a:rPr lang="en-US"/>
              <a:t>(“Hello \n”);</a:t>
            </a:r>
          </a:p>
          <a:p>
            <a:pPr marL="457200" lvl="1" indent="0">
              <a:buNone/>
            </a:pPr>
            <a:r>
              <a:rPr lang="en-US"/>
              <a:t>fork();</a:t>
            </a:r>
          </a:p>
          <a:p>
            <a:pPr marL="457200" lvl="1" indent="0">
              <a:buNone/>
            </a:pPr>
            <a:r>
              <a:rPr lang="en-US" err="1"/>
              <a:t>printf</a:t>
            </a:r>
            <a:r>
              <a:rPr lang="en-US"/>
              <a:t>(“World \n”);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}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298" y="1893403"/>
            <a:ext cx="1579193" cy="44687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569885" y="2617940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9569885" y="4459592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  <a:endParaRPr lang="en-GB"/>
          </a:p>
        </p:txBody>
      </p:sp>
      <p:cxnSp>
        <p:nvCxnSpPr>
          <p:cNvPr id="9" name="Straight Arrow Connector 8"/>
          <p:cNvCxnSpPr>
            <a:stCxn id="6" idx="4"/>
            <a:endCxn id="7" idx="0"/>
          </p:cNvCxnSpPr>
          <p:nvPr/>
        </p:nvCxnSpPr>
        <p:spPr>
          <a:xfrm>
            <a:off x="10027085" y="3532340"/>
            <a:ext cx="0" cy="92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45250" y="2248608"/>
            <a:ext cx="798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Parent</a:t>
            </a:r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767199" y="5536504"/>
            <a:ext cx="77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Child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781097"/>
            <a:ext cx="5549031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err="1"/>
              <a:t>Pid_t</a:t>
            </a:r>
            <a:r>
              <a:rPr lang="en-US" sz="4000"/>
              <a:t> fork()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Creates new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Fork() is called once and returned twice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Returns 0 to the child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Returns ID of child process to parent process (&gt;1)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64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56" y="586895"/>
            <a:ext cx="4810647" cy="585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70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778" y="2694966"/>
            <a:ext cx="10515600" cy="1325563"/>
          </a:xfrm>
        </p:spPr>
        <p:txBody>
          <a:bodyPr/>
          <a:lstStyle/>
          <a:p>
            <a:r>
              <a:rPr lang="en-US"/>
              <a:t>Lecture#6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066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of a program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8969"/>
            <a:ext cx="7093577" cy="488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22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83731"/>
            <a:ext cx="7204478" cy="484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5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5-state process diagram</a:t>
            </a:r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2079321" y="2743200"/>
            <a:ext cx="977030" cy="926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NEW</a:t>
            </a:r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697266" y="3670126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Ready</a:t>
            </a:r>
            <a:endParaRPr lang="en-GB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056351" y="3432132"/>
            <a:ext cx="640915" cy="513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392450" y="3670126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RUN</a:t>
            </a:r>
            <a:endParaRPr lang="en-GB"/>
          </a:p>
        </p:txBody>
      </p:sp>
      <p:cxnSp>
        <p:nvCxnSpPr>
          <p:cNvPr id="10" name="Straight Arrow Connector 9"/>
          <p:cNvCxnSpPr>
            <a:stCxn id="5" idx="6"/>
            <a:endCxn id="8" idx="2"/>
          </p:cNvCxnSpPr>
          <p:nvPr/>
        </p:nvCxnSpPr>
        <p:spPr>
          <a:xfrm>
            <a:off x="4759890" y="4177430"/>
            <a:ext cx="1632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799535" y="2655518"/>
            <a:ext cx="160959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Terminate</a:t>
            </a:r>
            <a:endParaRPr lang="en-GB"/>
          </a:p>
        </p:txBody>
      </p:sp>
      <p:cxnSp>
        <p:nvCxnSpPr>
          <p:cNvPr id="13" name="Straight Arrow Connector 12"/>
          <p:cNvCxnSpPr>
            <a:stCxn id="8" idx="6"/>
            <a:endCxn id="11" idx="3"/>
          </p:cNvCxnSpPr>
          <p:nvPr/>
        </p:nvCxnSpPr>
        <p:spPr>
          <a:xfrm flipV="1">
            <a:off x="7455074" y="3521540"/>
            <a:ext cx="1580181" cy="655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  <a:endCxn id="5" idx="5"/>
          </p:cNvCxnSpPr>
          <p:nvPr/>
        </p:nvCxnSpPr>
        <p:spPr>
          <a:xfrm flipH="1">
            <a:off x="4604272" y="4536148"/>
            <a:ext cx="19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44858" y="5223679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Wait</a:t>
            </a:r>
            <a:endParaRPr lang="en-GB"/>
          </a:p>
        </p:txBody>
      </p:sp>
      <p:cxnSp>
        <p:nvCxnSpPr>
          <p:cNvPr id="19" name="Straight Arrow Connector 18"/>
          <p:cNvCxnSpPr>
            <a:stCxn id="8" idx="4"/>
          </p:cNvCxnSpPr>
          <p:nvPr/>
        </p:nvCxnSpPr>
        <p:spPr>
          <a:xfrm flipH="1">
            <a:off x="6096000" y="4684734"/>
            <a:ext cx="827762" cy="80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5" idx="4"/>
          </p:cNvCxnSpPr>
          <p:nvPr/>
        </p:nvCxnSpPr>
        <p:spPr>
          <a:xfrm flipH="1" flipV="1">
            <a:off x="4228578" y="4684734"/>
            <a:ext cx="816280" cy="866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90773" y="3247466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admitted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4949495" y="384417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 assign</a:t>
            </a:r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4925878" y="4525534"/>
            <a:ext cx="158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slice over</a:t>
            </a:r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7982111" y="3945699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Exit</a:t>
            </a:r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6290242" y="5117068"/>
            <a:ext cx="84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I/O call</a:t>
            </a:r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3697266" y="5007372"/>
            <a:ext cx="14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I/O Complete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70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1" grpId="0" animBg="1"/>
      <p:bldP spid="17" grpId="0" animBg="1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 Block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87" y="2174766"/>
            <a:ext cx="4322969" cy="329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84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30" y="2657388"/>
            <a:ext cx="10515600" cy="1325563"/>
          </a:xfrm>
        </p:spPr>
        <p:txBody>
          <a:bodyPr/>
          <a:lstStyle/>
          <a:p>
            <a:r>
              <a:rPr lang="en-US"/>
              <a:t>Lecture#7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2118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97266" y="3616798"/>
            <a:ext cx="3757808" cy="1278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Short-term 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scheduler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Short-term Scheduler (CPU Scheduler)</a:t>
            </a:r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2079321" y="2743200"/>
            <a:ext cx="977030" cy="926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NEW</a:t>
            </a:r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697266" y="3670126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Ready</a:t>
            </a:r>
            <a:endParaRPr lang="en-GB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056351" y="3432132"/>
            <a:ext cx="640915" cy="513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392450" y="3670126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RUN</a:t>
            </a:r>
            <a:endParaRPr lang="en-GB"/>
          </a:p>
        </p:txBody>
      </p:sp>
      <p:cxnSp>
        <p:nvCxnSpPr>
          <p:cNvPr id="10" name="Straight Arrow Connector 9"/>
          <p:cNvCxnSpPr>
            <a:stCxn id="5" idx="6"/>
            <a:endCxn id="8" idx="2"/>
          </p:cNvCxnSpPr>
          <p:nvPr/>
        </p:nvCxnSpPr>
        <p:spPr>
          <a:xfrm>
            <a:off x="4759890" y="4177430"/>
            <a:ext cx="1632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799535" y="2655518"/>
            <a:ext cx="160959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Terminate</a:t>
            </a:r>
            <a:endParaRPr lang="en-GB"/>
          </a:p>
        </p:txBody>
      </p:sp>
      <p:cxnSp>
        <p:nvCxnSpPr>
          <p:cNvPr id="13" name="Straight Arrow Connector 12"/>
          <p:cNvCxnSpPr>
            <a:stCxn id="8" idx="6"/>
            <a:endCxn id="11" idx="3"/>
          </p:cNvCxnSpPr>
          <p:nvPr/>
        </p:nvCxnSpPr>
        <p:spPr>
          <a:xfrm flipV="1">
            <a:off x="7455074" y="3521540"/>
            <a:ext cx="1580181" cy="655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  <a:endCxn id="5" idx="5"/>
          </p:cNvCxnSpPr>
          <p:nvPr/>
        </p:nvCxnSpPr>
        <p:spPr>
          <a:xfrm flipH="1">
            <a:off x="4604272" y="4536148"/>
            <a:ext cx="19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44858" y="5223679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Wait</a:t>
            </a:r>
            <a:endParaRPr lang="en-GB"/>
          </a:p>
        </p:txBody>
      </p:sp>
      <p:cxnSp>
        <p:nvCxnSpPr>
          <p:cNvPr id="19" name="Straight Arrow Connector 18"/>
          <p:cNvCxnSpPr>
            <a:stCxn id="8" idx="4"/>
          </p:cNvCxnSpPr>
          <p:nvPr/>
        </p:nvCxnSpPr>
        <p:spPr>
          <a:xfrm flipH="1">
            <a:off x="6096000" y="4684734"/>
            <a:ext cx="827762" cy="80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5" idx="4"/>
          </p:cNvCxnSpPr>
          <p:nvPr/>
        </p:nvCxnSpPr>
        <p:spPr>
          <a:xfrm flipH="1" flipV="1">
            <a:off x="4228578" y="4684734"/>
            <a:ext cx="816280" cy="866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90773" y="3247466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admitted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4988310" y="375994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 assign</a:t>
            </a:r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4925878" y="4525534"/>
            <a:ext cx="158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slice over</a:t>
            </a:r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7982111" y="3945699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Exit</a:t>
            </a:r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6290242" y="5117068"/>
            <a:ext cx="84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I/O call</a:t>
            </a:r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3697266" y="5007372"/>
            <a:ext cx="14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I/O Complete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3897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41534" y="2542784"/>
            <a:ext cx="2818356" cy="2141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Long-term Scheduler (Job Scheduler)</a:t>
            </a:r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2079321" y="2743200"/>
            <a:ext cx="977030" cy="926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NEW</a:t>
            </a:r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697266" y="3670126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Ready</a:t>
            </a:r>
            <a:endParaRPr lang="en-GB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056351" y="3432132"/>
            <a:ext cx="640915" cy="513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392450" y="3670126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RUN</a:t>
            </a:r>
            <a:endParaRPr lang="en-GB"/>
          </a:p>
        </p:txBody>
      </p:sp>
      <p:cxnSp>
        <p:nvCxnSpPr>
          <p:cNvPr id="10" name="Straight Arrow Connector 9"/>
          <p:cNvCxnSpPr>
            <a:stCxn id="5" idx="6"/>
            <a:endCxn id="8" idx="2"/>
          </p:cNvCxnSpPr>
          <p:nvPr/>
        </p:nvCxnSpPr>
        <p:spPr>
          <a:xfrm>
            <a:off x="4759890" y="4177430"/>
            <a:ext cx="1632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799535" y="2655518"/>
            <a:ext cx="160959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Terminate</a:t>
            </a:r>
            <a:endParaRPr lang="en-GB"/>
          </a:p>
        </p:txBody>
      </p:sp>
      <p:cxnSp>
        <p:nvCxnSpPr>
          <p:cNvPr id="13" name="Straight Arrow Connector 12"/>
          <p:cNvCxnSpPr>
            <a:stCxn id="8" idx="6"/>
            <a:endCxn id="11" idx="3"/>
          </p:cNvCxnSpPr>
          <p:nvPr/>
        </p:nvCxnSpPr>
        <p:spPr>
          <a:xfrm flipV="1">
            <a:off x="7455074" y="3521540"/>
            <a:ext cx="1580181" cy="655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  <a:endCxn id="5" idx="5"/>
          </p:cNvCxnSpPr>
          <p:nvPr/>
        </p:nvCxnSpPr>
        <p:spPr>
          <a:xfrm flipH="1">
            <a:off x="4604272" y="4536148"/>
            <a:ext cx="19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44858" y="5223679"/>
            <a:ext cx="1062624" cy="1014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Wait</a:t>
            </a:r>
            <a:endParaRPr lang="en-GB"/>
          </a:p>
        </p:txBody>
      </p:sp>
      <p:cxnSp>
        <p:nvCxnSpPr>
          <p:cNvPr id="19" name="Straight Arrow Connector 18"/>
          <p:cNvCxnSpPr>
            <a:stCxn id="8" idx="4"/>
          </p:cNvCxnSpPr>
          <p:nvPr/>
        </p:nvCxnSpPr>
        <p:spPr>
          <a:xfrm flipH="1">
            <a:off x="6096000" y="4684734"/>
            <a:ext cx="827762" cy="80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5" idx="4"/>
          </p:cNvCxnSpPr>
          <p:nvPr/>
        </p:nvCxnSpPr>
        <p:spPr>
          <a:xfrm flipH="1" flipV="1">
            <a:off x="4228578" y="4684734"/>
            <a:ext cx="816280" cy="866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90773" y="3247466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admitted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4949495" y="384417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 assign</a:t>
            </a:r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4925878" y="4525534"/>
            <a:ext cx="158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slice over</a:t>
            </a:r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7982111" y="3945699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Exit</a:t>
            </a:r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6290242" y="5117068"/>
            <a:ext cx="84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I/O call</a:t>
            </a:r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3697266" y="5007372"/>
            <a:ext cx="14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I/O Complete</a:t>
            </a:r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941534" y="3945699"/>
            <a:ext cx="116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Long-term Scheduler</a:t>
            </a:r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007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Parent process waits for child process to terminate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0289"/>
            <a:ext cx="6276584" cy="466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077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Orphan &amp; Zombie Process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9532"/>
            <a:ext cx="10515600" cy="4351338"/>
          </a:xfrm>
        </p:spPr>
        <p:txBody>
          <a:bodyPr/>
          <a:lstStyle/>
          <a:p>
            <a:r>
              <a:rPr lang="en-US"/>
              <a:t>An </a:t>
            </a:r>
            <a:r>
              <a:rPr lang="en-US" b="1"/>
              <a:t>orphan</a:t>
            </a:r>
            <a:r>
              <a:rPr lang="en-US"/>
              <a:t> is child </a:t>
            </a:r>
            <a:r>
              <a:rPr lang="en-US" b="1"/>
              <a:t>process</a:t>
            </a:r>
            <a:r>
              <a:rPr lang="en-US"/>
              <a:t> that is reclaimed by </a:t>
            </a:r>
            <a:r>
              <a:rPr lang="en-US" b="1" err="1"/>
              <a:t>init</a:t>
            </a:r>
            <a:r>
              <a:rPr lang="en-US"/>
              <a:t> when the original parent </a:t>
            </a:r>
            <a:r>
              <a:rPr lang="en-US" b="1"/>
              <a:t>process</a:t>
            </a:r>
            <a:r>
              <a:rPr lang="en-US"/>
              <a:t> terminates before the child.</a:t>
            </a:r>
          </a:p>
          <a:p>
            <a:r>
              <a:rPr lang="en-US"/>
              <a:t>A </a:t>
            </a:r>
            <a:r>
              <a:rPr lang="en-US" b="1"/>
              <a:t>Zombie</a:t>
            </a:r>
            <a:r>
              <a:rPr lang="en-US"/>
              <a:t> is created when a parent </a:t>
            </a:r>
            <a:r>
              <a:rPr lang="en-US" b="1"/>
              <a:t>process</a:t>
            </a:r>
            <a:r>
              <a:rPr lang="en-US"/>
              <a:t> does not use the wait system call after a child dies to read its exit status,</a:t>
            </a:r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353" y="3105672"/>
            <a:ext cx="7924800" cy="357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03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euc-powerpoint.officeapps.live.com/pods/GetClipboardImage.ashx?Id=ded99df9-8371-41a5-a6e9-3443689a7f96&amp;DC=EU7&amp;wdoverrides=GetClipboardImageEnabled:tr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93" y="590289"/>
            <a:ext cx="97536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7481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30" y="2657388"/>
            <a:ext cx="10515600" cy="1325563"/>
          </a:xfrm>
        </p:spPr>
        <p:txBody>
          <a:bodyPr/>
          <a:lstStyle/>
          <a:p>
            <a:r>
              <a:rPr lang="en-US"/>
              <a:t>Lecture#8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3366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</a:t>
            </a:r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838200" y="1478071"/>
            <a:ext cx="1048428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The </a:t>
            </a:r>
            <a:r>
              <a:rPr 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exec</a:t>
            </a:r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() family of functions replaces the current process image with a new process image. </a:t>
            </a:r>
            <a:r>
              <a:rPr lang="en-GB" sz="360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GB" sz="36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/>
            <a:endParaRPr lang="en-GB" sz="2000" b="1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base"/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execl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const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char *</a:t>
            </a:r>
            <a:r>
              <a:rPr lang="en-GB" sz="2000" i="1">
                <a:solidFill>
                  <a:srgbClr val="000000"/>
                </a:solidFill>
                <a:latin typeface="Calibri" panose="020F0502020204030204" pitchFamily="34" charset="0"/>
              </a:rPr>
              <a:t>path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, 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const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char *</a:t>
            </a:r>
            <a:r>
              <a:rPr lang="en-GB" sz="2000" i="1" err="1">
                <a:solidFill>
                  <a:srgbClr val="000000"/>
                </a:solidFill>
                <a:latin typeface="Calibri" panose="020F0502020204030204" pitchFamily="34" charset="0"/>
              </a:rPr>
              <a:t>arg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, ...);</a:t>
            </a:r>
            <a:r>
              <a:rPr lang="en-US" sz="200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br>
              <a:rPr lang="en-US" sz="2000">
                <a:solidFill>
                  <a:srgbClr val="000000"/>
                </a:solidFill>
                <a:latin typeface="Calibri" panose="020F0502020204030204" pitchFamily="34" charset="0"/>
              </a:rPr>
            </a:br>
            <a:endParaRPr lang="en-US" sz="20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base"/>
            <a:endParaRPr lang="en-US" sz="20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base"/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execlp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const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char *</a:t>
            </a:r>
            <a:r>
              <a:rPr lang="en-GB" sz="2000" i="1">
                <a:solidFill>
                  <a:srgbClr val="000000"/>
                </a:solidFill>
                <a:latin typeface="Calibri" panose="020F0502020204030204" pitchFamily="34" charset="0"/>
              </a:rPr>
              <a:t>file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, 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const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char *</a:t>
            </a:r>
            <a:r>
              <a:rPr lang="en-GB" sz="2000" i="1" err="1">
                <a:solidFill>
                  <a:srgbClr val="000000"/>
                </a:solidFill>
                <a:latin typeface="Calibri" panose="020F0502020204030204" pitchFamily="34" charset="0"/>
              </a:rPr>
              <a:t>arg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, ...);</a:t>
            </a:r>
            <a:r>
              <a:rPr lang="en-US" sz="200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/>
            <a:endParaRPr lang="en-GB" sz="2000" b="1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base"/>
            <a:endParaRPr lang="en-GB" sz="2000" b="1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base"/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execv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const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char *</a:t>
            </a:r>
            <a:r>
              <a:rPr lang="en-GB" sz="2000" i="1">
                <a:solidFill>
                  <a:srgbClr val="000000"/>
                </a:solidFill>
                <a:latin typeface="Calibri" panose="020F0502020204030204" pitchFamily="34" charset="0"/>
              </a:rPr>
              <a:t>path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, char *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const</a:t>
            </a:r>
            <a:r>
              <a:rPr lang="en-GB" sz="200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GB" sz="2000" i="1" err="1">
                <a:solidFill>
                  <a:srgbClr val="000000"/>
                </a:solidFill>
                <a:latin typeface="Calibri" panose="020F0502020204030204" pitchFamily="34" charset="0"/>
              </a:rPr>
              <a:t>argv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[]);</a:t>
            </a:r>
            <a:r>
              <a:rPr lang="en-GB" sz="200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br>
              <a:rPr lang="en-GB" sz="2000">
                <a:solidFill>
                  <a:srgbClr val="000000"/>
                </a:solidFill>
                <a:latin typeface="Calibri" panose="020F0502020204030204" pitchFamily="34" charset="0"/>
              </a:rPr>
            </a:br>
            <a:endParaRPr lang="en-GB" sz="20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base"/>
            <a:endParaRPr lang="en-US" sz="20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base"/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execvp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const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 char *</a:t>
            </a:r>
            <a:r>
              <a:rPr lang="en-GB" sz="2000" i="1">
                <a:solidFill>
                  <a:srgbClr val="000000"/>
                </a:solidFill>
                <a:latin typeface="Calibri" panose="020F0502020204030204" pitchFamily="34" charset="0"/>
              </a:rPr>
              <a:t>file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, char *</a:t>
            </a:r>
            <a:r>
              <a:rPr lang="en-GB" sz="2000" b="1" err="1">
                <a:solidFill>
                  <a:srgbClr val="000000"/>
                </a:solidFill>
                <a:latin typeface="Calibri" panose="020F0502020204030204" pitchFamily="34" charset="0"/>
              </a:rPr>
              <a:t>const</a:t>
            </a:r>
            <a:r>
              <a:rPr lang="en-GB" sz="200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GB" sz="2000" i="1" err="1">
                <a:solidFill>
                  <a:srgbClr val="000000"/>
                </a:solidFill>
                <a:latin typeface="Calibri" panose="020F0502020204030204" pitchFamily="34" charset="0"/>
              </a:rPr>
              <a:t>argv</a:t>
            </a:r>
            <a:r>
              <a:rPr lang="en-GB" sz="2000" b="1">
                <a:solidFill>
                  <a:srgbClr val="000000"/>
                </a:solidFill>
                <a:latin typeface="Calibri" panose="020F0502020204030204" pitchFamily="34" charset="0"/>
              </a:rPr>
              <a:t>[]);</a:t>
            </a:r>
            <a:r>
              <a:rPr lang="en-GB" sz="200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GB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/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56145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Descriptors in every process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84525"/>
            <a:ext cx="10515600" cy="1592437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/>
              <a:t>Every process has a descriptor table &amp; its PCB contains a pointer to that table.​</a:t>
            </a:r>
          </a:p>
          <a:p>
            <a:pPr fontAlgn="base"/>
            <a:r>
              <a:rPr lang="en-US"/>
              <a:t>First 3 descriptors in descriptor table have default meanings that can be changed.  </a:t>
            </a:r>
            <a:r>
              <a:rPr lang="en-GB"/>
              <a:t>​</a:t>
            </a:r>
          </a:p>
          <a:p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58" y="1912731"/>
            <a:ext cx="3948142" cy="24497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5924"/>
            <a:ext cx="6426896" cy="203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597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to Descriptor</a:t>
            </a:r>
            <a:endParaRPr lang="en-GB"/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UAx8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qO5mWCFpX6KKAJCQOvFN3p/eX865i7vZ7lyWcheyg8VWoA7Den95fzplysNxbyQSMNkiFGw3OCMGuSooauFzoPDul2Gg6PBpVgzC2gBCeY+5uvc1fZkZSvmAZGMg8iuQooeoLQ0/CfhjSfDYuns5ri4ubuQyXF1dz+bNIewLHsOwrd3p/eX864+igLHYb0/vL+dG9P7y/nXH0UAdhvT+8v50b0/vL+dcfRQB2G9P7y/nRvT+8v51x9FAHYb0/vL+dG9P7y/nXH0UAdhvT+8v50b0/vL+dcfRQB2G9P7y/nRvT+8v51x9FAHYb0/vL+dG9P7y/nXH0UAdhvT+8v50b0/vL+dcfRQB2G9P7y/nRvT+8v51x9FAHYb0/vL+dG9P7y/nXH0UAdhvT+8v50b0/vL+dcfRQB2G9P7y/nRvT+8v51x9FAHYb0/vL+dG9P7y/nXH0UAbXiPQdL1+TTX1BpCdOvEvbfy5Nv7xM4z6jnpWtvT+8v51x9FO7tYDsN6f3l/Ojen95fzrj6KQHXyeVIjI5RlYYIJ6iuJt/hn4Zj1GG4e61K4tIJPMg02a8LWcTdisWMCp6KFo7g9VY7Den95fzo3p/eX864+igDsN6f3l/OqOv6fDrGkXGmy3t1apOu1pbWby5VH+yw6VztFJq4J2Oh8PaVpmg6RBpemRpDbQLhVzyfcnuT61f3p/eX864+im3cErHYb0/vL+dG9P7y/nXH0UAdhvT+8v50b0/vL+dcfRQB2G9P7y/nRvT+8v51x9FAHYb0/vL+dG9P7y/nXH0UAdhvT+8v50b0/vL+dcfRQB2G9P7y/nRvT+8v51x9FAHYb0/vL+dG9P7y/nXH0UAdhvT+8v50b0/vL+dcfRQB2G9P7y/nRvT+8v51x9FAHYb0/vL+dG9P7y/nXH0UAdhvT+8v50b0/vL+dcfRQB2G9P7y/nRvT+8v51x9FAHYb0/vL+dG9P7y/nXH0UAdhvT+8v50b0/vL+dcfRQB2G9P7y/nRvT+8v51x9FAHYb0/vL+dG9P7y/nXH0UAdhvT+8v50b0/vL+dcfRQB2G9P7y/nRvT+8v51x9FAHYb0/vL+dG9P7y/nXH0UAdhvT+8v50b0/vL+dcfRQB2G9P7y/nRvT+8v51x9FAHYb0/vL+dG9P7y/nXH0UAdhvT+8v50b0/vL+dcfRQB2G9P7y/nRvT+8v51x9FAHYb0/vL+dKGU9GB/GuOp8UkkTbo3ZT7GgDr6KoaRfG6Qxyf6xR+Yq/QAVmeImIs0Hq4B/I1p1l+I/+POP/roP5GgDCoorM1nVo9NutOt3hMjX1wIUw4G08c+/WgDTorK8K60mv6V/aEdu0CGV41VnDbtvcEdjUfhfWLzWEvmvNDvNJNreSW8Yuf8AluinAlXgfK3UUk7q67X+X9MHp+Rs0UYoFMAoqprE19a6dNNp2njULtFzHbGdYfMPpvIIFYvw98US+KtKvLq40l9KuLO+lsp7drhZsPHjJDqACOaaTd7dAeh0tFFKq7mApAJRWL4Q1+PxFp893HavbCG5e3Ks4bJU4zxW0RihO6T7/qHVoKKKSgBaKqWepafe2Jv7K8gubUFwZonDLlSQwyPQgg+4rm/B/izV/Etwl1b+FJLfQZS/k6lLfoHcKSM+RjcMkHv2zTs72B6HX0UYOKAKQBRVbVb630vTLrUrxmW2tYWmlKruIVRk4HfgUumXkGo6dbahaszW9zEssZYYJVhkZHagCxRXJ6B4r1S88YXHhvWPDJ0maO3+0RSjUEuFlTJA4UDaeOhrrKFqk/67A9G12CisXxVr8egjTjJavcfbrtbUbXC7CQTuOevStp/kzuIAHU0rqzf9dH+odbf1/WgUVX06+stSs0vdPu4Lu2kzsmhcMjYJBwR6EEfhVim1YAooooAKKKKACiiigAooooAKKKKACiiigAooooAKKKKACiiigAooooAKKKKACiiigAooooAKKKKACiiigAooooAKKKKACiiigAooooAKKKKACiiigAooooAKKKKACiiigAooooAKKKKACiiigAooooAKKKKACiiigAooooAKKKKACiiigAooooAKKKKALuiMRqUYHcHP5V0lc1ov/ITi/H+RrpaACsvxH/x5x/8AXQfyNalZfiP/AI84/wDroP5GgDCrxT40aFcar8R9Db/hA9G1lPJnbzrnU2hM6oobawCnYFJJHXOe1e11WudPsbq4juLmzgmmjVkSR0BZVYYYA+hHWplG/wDXlp+JUZWueX/AbwppifDAR6t4X0uxi1OIC5aO8aUXiBmwXzjZjngfnWl8ELew0+08T6bp/kxWtvrl1HBCku4IgY4C5JOK7e70TR7zRjot1pdpPphXYbR4gYtvpt6YrO0PwP4L0K/F/ovhXR9OuwpUTW1qqOAeoyK0m+acpdGrflb8iYtqCUtXe/53/P8AA8hsPDum3nwt1nxXd/aJ9Zs9Yu2srt5jutAl22Fj7BTjkHPeuw8T/ZfEPivwxoXimQNot5pguvIeQpHeXO3JV/XaAGHI5r0CPRdHj02XTI9LtFsZnaSS3EQ8t2ZtzEjuSxyfemazoOh61pi6XrGkWV/Yrt229xEHjG3pgH0wKUned1tpp8mv8n6olK1/n+d/+B8xvh7R9B8PaZ9i0O1tLCxDFtkUnybj1OST6etch8F5I20/xUqyxsx8RXxChwSR8vOK6eLwh4Ui0F9Aj8OaYmkSNveyFuBCzepXpmo9B8E+DtAv/t+h+F9I0y72lPOtbZUfaeoyO3ApqXxX6q35f5Dtord7/n/mebDVLO0+B2uC61BIpf7XuIQGk+ff9pHy461qT2Wi+IvGsek+MFjn0rT9Dhure1uZSsLE4DS4BBJAJHXt0ruT4P8ACZ1WfVj4b0o6hcDE9z9mXzJBnPzHvzUuseGPDesm0Or6Fp1+bMg2puIA/kkdNuelZ21v6fgmv1v0/ULWVk+/4tP9Lf1Y8ZsLx9P+B0//AAiqxGxl1wW58ucwp9maXDjzMEouM5bBxXUfDzw3ruk+Mbe7sPDuheHNEe2db22sNb+2faX48t9pQYI+bnPevSYdL02GymsobC2jtZs+bCsYCPkYOR3yKzdA8G+EfD9617oXhnStMumUq01rbhHIPUZFVT921+y/9Jt/wf0CSuvm/wAXc3q85+Lja39rslvI7lfBW3/ibSac2bonPG4docfe74zXo1J2weRS6plJnL61pOm6t4Hjg0LV73S9OS2L20mjziIPHt4XJByuPxrA+BGgyWPgzTdTPiHXrwSQyAWl1dB7dP3jjKqFBB/Gu+sNO0+wsTY2NlBbWpLEwxoFTLEljj3JJP1p9hZ2thaR2ljbRW1vGCEiiXaq5OeB9Saq+srdbfr/AJkON+Xyv+n+R5f8PfD/AIW8WQXHiDxVa2upeI1vXSc3Ux3WrKfliQZGFXPHB61a1Dw7pfib4uazY64kt5p66bCTZNKRC7YGGKjncOcHPeuu1XwV4P1XVhq2p+F9JvNQGMXU1srScdPm9q10sbOO/kv0tYVu5ECPOF+dlHQE+lQ43UfL/wCRtf8AUtvWTXX/ADvY8f0/RdP174F61a6tZjUhpMupJp/nFmaERtIsYGDztUADPpXV/B/wx4Q0vw1peraHplhb31xYxieaGQl2O35sgscc57V2lhYWOnwPBY2cFtE7tIyRIFVmYksxHqSST9azNG8H+E9Fvp77R/Del2F3cAiaa3twjyZOTkjrkk1o5at97fk/zCTT0839zf6GCJ7f/hdrf6RBj+xlH+sXrubjrXT+Idf0Tw9ax3Wu6pbadBLKsMck7bQznoo9zWPF8Nfh5Fcrcx+CNASdX3iQWahg2c5z61ua3ouj65bR22taXaajBFIJY47mIOquOjAHuKmCSjGPr9zbf6i3k2/L8El+hx3xstVvtO8P2jzTwpLq8as8L7XxtbIB9+n0NVvDOk6f4X+M13o2gw/YtOutHF1NbK5KNN5xXzMH+IgAV6De2NleiIXlrDcCFxJF5i52OP4h6GkbT7FtROpNZwG9MXkm42DeY85259M84pU1yNvu3/6Sl+auNu617Jfjc80ia6T4mj/hXEfm2Pn48Ro7bbENxzGf+fjHUdMba9UqtptjZabZJZadaQ2ltHnZDCgVVySTge5JP41ZqtElFdP6/wCG7Cerb/r/AIcKKKKQBRRRQAUUUUAFFFFABRRRQAUUUUAFFFFABRRRQAUUUUAFFFFABRRRQAUUUUAFFFFABRRRQAUUUUAFFFFABRRRQAUUUUAFFFFABRRRQAUUUUAFFFFABRRRQAUUUUAFFFFABRRRQAUUUUAFFFFABRRRQAUUUUAFFFFABRRRQAUUUUAFFFFABRRRQBc0X/kJxfj/ACNdLXNaL/yE4vx/ka6WgArL8R/8ecf/AF0H8jWpWX4j/wCPOP8A66D+RoAwqKKxPE/ijSfDghGofbZppyfKt7K0e5mYDqRGgLYHc4pNpAbdFZEHiCym8ONry2uqrbKhcwvp8q3OB6QkbyfbFYnwp1q413TdUu59am1MLqUyRLNYNaSWqBuIWRgDleme9Pq0HRM7KiuM1H4leHNPv/sd7Z+JIW+0C3EraHceSzltoxJt2kE984rW8T+K9H8OmBNQN7LcXGTFa2Vo9zOwHU+WgLY98Urq1w62N2is7w/rWna9pqahpc5lgYlSGUo8bDqrqeVb2PNX5HEcbSMGIUFiFGSceg703puCd9h1FeY6P8XLG78Watpc+i+IBaWxhFs0WhXRlJdct5q7fkGehIGRzXpkbCSNZFDAMAQGGDz6jtTtomD0fKOoqhqerWOm3VlbXcjpLfSmKALGWDMOxI6de9LqWqWWnXdna3cjrNeyeXAqoW3N746D3qb/AOX9feD0L1FcXN8UfBcc7wrf3U/kzGG5eCzkkS1cEDEzKMRZJ4LYz2qL4teKP7G0mG2s9VvtJuriWEx6hFpcl3bohlUFXZVKruB2jPrmi+ifcFq7Hc0VzHxA8Vx+E/CM+rNa3l5OLZ2gEFnJMhkVNwMmwfIhPUnAFQeAPHNn4qtLZV0/WLa7e3Espn0uaCDOOQkjjDe3NNatpdP6/QHpFSfU66iuTPxE8LDVv7P+0XuPO8k3v2KT7EH/ALv2jHl5/GusoWqug62CjnGaqaxfwaVpN5qd0cQWkDzyf7qqSf5VgfDeLU7jSW1/WLt5rzVT56RZ/d28J/1aIP8AdwxJ5yx7ULr5A9EjqqK4Tw34nfWviVfWkGqahFZRWS7dLvNJltmDhmzKsjqNynjoe1afiDx74b0PVZ9JvJr2bUYI0le0tLOS4mMbAkOEQElRjkjgZGetC2T7lcru12/4H+Z1FFcV4p+Iel6b4GHibTYb7UI54ybbybGWUKwHSUKMx46HdjB4q34D8aWfiq0g8rT9Ytrk2sc0xudMmt4SWAyEdwAwz0wTxzTSbv5EXWnmdVRRXmvxR8eabYajpvh2w8aaTo11c3gi1C5+0xGayjA5O18hW5H3hipbtYfRs9Kork7LXdJ8PeEIdS1DxbceI7eWQ+RehI5ZrknkJGkCgOQM8KM4Bqh4E8XTeJfHGu28P9pRadawxGG3vrF7aRGKruO1wG5yetP7XKv60uH2eb+t7Hd0UUUAFFZuo63p2n6tp+l3ckkdzqBZbb92SjMuMqW6A88A9efSo5fEOkw63Po0tyyXVvam7mLIRFFEMcs/3Qec4PbJoA1qK5LSPiJ4Y1TUYbKB9Sh+0MVt7i60+WC3nPby5WAV89sHnjFUvHHiZrTxZoei2uqahpUj3qLOW0qSS3ulYgCITbdik89+9HVLu7C5lZvsd1RWX4m8QaX4ds1utTllAd9kUMETSzSt/dSNfmY+wFcd4E8ZXfiLxT4xCT3Nvp1hHamzi1Oza2MBZHLllYB9pIHJ9OKI+9zW6K/5f5jeiPRaK8n8A/ErWNe8dX2hXultYW8boIry5G23ucJyLc9WL/6xck/JmvWKbi0k+4PR2CiuF+I/iqTwz4p8LLLfNb6ddvci6iSMO05VUKIoxuLZJwF5Naml+O/DmpaXqOoQzXsCaYAbyG6s5IJ4gehMTANg84OOcGpTXK5dF+hTg1bz/wA2v0OmorJu/EWk2i6S088ijVpRDZYiJ3uVLAH+7wp61wnxC8faX/wk+l+GtP8AiBpOhRyPL/aN9FdQNLbbFbCfvMqpLAA7hTejsT05un9WPUaKzvDS7NDtR/bkuugrkX8nl7pwTkH92AvtwO1aNNqzsJO4UUVzGseOdC0zV20p4tYvLlCok/s/TJrpIi3QO0YIU+xpX1sM6eiuU+JniJdC8H3V1HcajZTzW8n2e8t9Mku/srbCRJIiA4A6nPpWjo+peV4MtdWu7mfUdtmsss0FsxefjJZYwM5P90DNHfyHZ6eZtUVymg/EDQNa12PRLW2163vpI2lRL3SJ7ZSi4ydzqB3FO1nx/wCG9J1STTrmTUJpISBcS2tjJPBbk9pZFBVP+BEUdhX3OpopkMsU8KTQyJLFIoZHRsqynoQe4qj4h1a30PSpNRuoL6eNCAUs7V7iQk+iICSKUnyrUIrm2NGivPfhf8S7fxdp1kLrStWt7+4L7mXSp1tRhiB+9YbemO/XNehVUotbh1aCisnxP4i0rw3Ypd6pNKBI4jhhghaaaZ/7sca/M5wCcAdAT2qlD400NvD1xr9yNS07T7d1SV9QsJLZlJIAO1wDt55PQVN9G+wdUu50dFczofjrw5rOsf2TZzXqXTRmWH7RZyQpcIBktEzACQAc/LmuXtvi5Yt421HR5tF8QfYra3ieJotCumnLsWDblC8JwMNjnn0prUdtG+x6dg0VzXjeHULzw4mq6JcS21/Y4vLdZFYCQAHcjp15Unj1xWp4Y1RNd8P6fq0UbRC8gSXy26oWAJU/TOKO/kLs+5o0VjeFvE+i+J4byXRbl50srlrWctEU2yr1HPX61s0B1aCiiigAooooAKKKKACiiigAooooAKKKKACiiigAooooAKKKKACiiigAooooAKKKKACiiigAooooAKKKKACiiigAooooAuaL/wAhOL8f5GulrmtF/wCQnF+P8jXS0AFZfiP/AI84/wDroP5GtSsvxH/x5x/9dB/I0AYVcF8UoNNa+067ksvGSalbhvs2oeHLPzpYVPDKSQVAI9RXe0UmthnG+C9V16w8BjUvEtrrF9cROxhUWpe/mh/hMkYx+865Ax2rD+EGqXQ1bXrS88NeJtPOoarcXsE17prRReWzZG5ieG56V6dRVfacvK35f5CTajy+d/z/AMzzK68TSXHjiS51fwl40e302Qw6ckGkPLA7Hhpyc8nqB2wc1X+Iek6tH46tfFcF14wt7CbTVtW/4R+NHuonDl/mjZGO07gOMYOeteq0UldJeX9P+v00Dq/P+l/X6nG/CjS7LT9Ivrm0bxMz3141xcNr8IiuWkKqCdoUADAHb1rsqx/E+g/29FDGdb1zSvKJO7TLz7Oz57McHI44rJ07wOLK/hu/+Ez8a3PlPu8m51cvE/sy7eR7U73YWsjHa8v/AAr8T9dv7rQdd1Cy1mK2NvPplm1wEaNdjLJj7vJz9BXokbb41fay7gDhhgj6j1p1FLol2HJ3lf8AraxyHxUt79tDstQ0uwuL+8sNQguFggGXZQ4LYH0Fc3oOia7aeONI026gvrnT7WO4v3vZEJjEkgXZEG9RtPHvXqdFCST/AK/ron8kJ/8AA/r7395wfw08NxR+E9Y03WNHESX2q3Ms0U0e0zoXBVj3I4yKp/Gy8mTwfJ4Z0vw74h1CaQ27xGwsGmhVY5kYguDwdqnivSKKUlzfh+GxVOThLm63v+Nzl55JvFfw61K0tLHUdOnvLCW1SLUbY28gdoyoJU9s96o/DrW7i80K18O3egeItLu7W08qSW7sWjgyuR8kh4bOMj6121FNpNyv1/4P+ZKuopLp/wAD/I8A03wvc2ugx+DPEt38UZI0fy5YtNto5tPkXdkMriPIHrySPWvfIkEcSRqSQqgAnrT6KrmbWoPe5iePNOn1bwXrGnWvNxPZyLEP7z7TtH4nAqD4darb6p4G0u6hIYxWywSonJWSMbGXH1U10VZulaJpulX19d6fCbdr+QS3CKfkaTAG/HY4AGfapV9V3/P+mDtp5fr/AMMeeReJp5fisNXPg/xotk1itoJX0ZwA4ZuTz93kc10Ok6beR/GHxBq0ljItrNplrHBctH8rMA25Vb24yK7TJopKKSXlf8b/AObGpP3vO34W/wAkeZ+EtB1j/hVPiTR5LKa2vLnUNReCKYbC6tMzIR7MMYPvW98N9emvtHstHutA8QaZdWNlFHM19YtFCzKoUhHPDcj8q66ircrtvvb8P+HJt+v4hXD+O9CF94v8KXcOiw3McV8Xu5RbKwVcDlzjp9a7iioa1Xk0/uCSumjh/iHbXVhqnhrXLHSLi+sNLuy1zZ2FvvlVSjAOkY+8QSBgY61D4EbWL/x/r+u3+hXul2d3BEtqbnh5FAUfMMfK3H3ecV31Iw3KVyRkYyDyKErO/r+KsDS++34HK6V4x+2fEbVfBk2kzW0tjbJcxXXmBknRuM4x8uDkdT0rq6wfDPhTSfD93fX1qbq61C/fdc3t5L5s8g7KWwPlHYdq3qfRdx9Wc18RtJm1PQFnsoy+o6dMt5ZgDJ8xcjAHfIJrAh0DUNc8H+JNRe0nstV18bkguRsdI4/9VGwP3SV4Ir0SipcbxlHv/T/JDvqn2/r/AD/pI8mvptU8X6BoPhO38K6zpM9lcWsl3c3tm0NvbiBlY+U54kyU2jGODn2q38WdauZNV0mwtPDHiq//ALN1SC5nmtdLeSFkVlYlHBwxx+tenUVo5ttPzv8APT/JE8q5eXyt8v6Z574turt9a8LeNodE1u5sbVJ0msUsSbyIy7drmHqCNhz6ZFN+GsesXnjnxfruraBd6Va6ktn9kW6GWljVHGWGPlbkZTtXolFEZct13v8Ai0/0HL3kk/L8CrDp9jDcSXEVpCsshVmYL3VdqkemF44xxVqiipA8/wDiilzbeK/COurouparaafNcG4SxtDcSIXVArbB7g89qz5NJ1jxNL4w16PTbvTotV06G0s7a8i8qeQxFiWdDyudwxXqFFQ4XhKPe/4l+0ldNdLfg7/meQSXmt+ILjwJb23hDXrODSr1Gv5r62MPlEQyL8qn765P3+ADgd66fxHoKXHxQ8O3yaHBLZxxT/aZvsqFAxVsbzjqSR1ruKK1nLmafm395m4+6o9kl9zuZPinUm8P+FtQ1a0037YbG3eZbSNhHvCjO0HGB+VJ4N12HxN4W07X7e3mto76ESiKUfMnJGD+VJ4s8O2fibTl0/Ubi+jtC2Zobafy1uF7xycfMh7itKytbeytIrO0hSC3hQJHGgwqqOgFSut/K343/T7hvpb+uxMOteReNY5LPxLqF14TtviBpus3Dx+Y2n6fnTryQEBWlZgcrjgkEcE167RQt0x30scV8R9Uv7XwBd6fNomr6hqepabLbsmlWbXCJM0RBBIPyruPBNHgLXJo/h/G0nh3xDb3Ol2iq9rc2DRSzMq9IwfvV2tFL+bz/wCD/mCdlFdv+B/kedfDrXWutVln1Pw34ut9Z1Nszz3ulPHb26j7sSuTgIMn65rkrrQNR0fUdf03VL74ki01K+muEHh+3juLWSKUk4bMZKsAeQSfbFe5UU3/AMD5CTa6+fzMzwrYW2l+GtN06zF0La3to44hdDEwUKAA/o2OtaTAlSoOMjGa5rX/AAgNX1J77/hKvFmnbgB5Gn6n5MIwMZC7Tg+tTeGvC40O6kuP+Ek8S6pvXb5ep6h56L7gbRg0S9+/N1BLltY5j4R399oml2/gzVfD2vwXdrLKpuxZM1k4Llgwm6Yw36GvR6KKbk5avcHq2+5w3j+HUNP8V6F4st9LvNXs7BJIbi2tE8yaPfyJUj6sw6cY4JpnjS9uPF/w6vlsNC1yKU3EKi2v7FoZXAkUkhDnK4rvKKhxTi4jvqmcL4g0y+k8c+Bbq3sZWt7KK4W4kSP5YMwqAG9MnIqrq13f+GPirf67Noeuanp+p6dBBHJpdo1y0ckZfIdR90HeMH2NeiUVpzPT5/iF9LeSX3O5j+JtWtdP8J3uqXZaCH7KxxKNrZYYVSOxJIGKq/DKxuNP8C6Pa3cbw3H2dXkjf70bMASp+mcVpaxo9jq7Whv0aVLWcTpHu+RnAIG4dxzVq9h+02stv588HmIV82F9kiZ7qex96jTV9Rdkcr8O/F8PiW/8Q6eNDOkT6Pfm2lTcrCbgMJOAMZBHHP1rsKx/Cnh3TPDOmtZaaszeY5knnnffNO56vI38Te9bFV0XyC922FFFFIAooooAKKKKACiiigAooooAKKKKACiiigAooooAKKKKACiiigAooooAKKKKACiiigAooooAKKKKACiiigAooooAuaL/AMhOL8f5GulrmtF/5CcX4/yNdLQAVS1qFprI7RkodwFXaKAOOorfvNJjmcvE3lseo7VU/sSf/ntH+RoAy6K1P7En/wCe0f5Gj+xJ/wDntH+RoAy6K1P7En/57R/kaP7En/57R/kaAMuitT+xJ/8AntH+Ro/sSf8A57R/kaAMuitT+xJ/+e0f5Gj+xJ/+e0f5GgDLorU/sSf/AJ7R/kaP7En/AOe0f5GgDLorU/sSf/ntH+Ro/sSf/ntH+RoAy6K1P7En/wCe0f5Gj+xJ/wDntH+RoAy6K1P7En/57R/kaP7En/57R/kaAMuitT+xJ/8AntH+Ro/sSf8A57R/kaAMuitT+xJ/+e0f5Gj+xJ/+e0f5GgDLorU/sSf/AJ7R/kaP7En/AOe0f5GgDLorU/sSf/ntH+Ro/sSf/ntH+RoAy6K1P7En/wCe0f5Gj+xJ/wDntH+RoAy6K1P7En/57R/kaP7En/57R/kaAMuitT+xJ/8AntH+Ro/sSf8A57R/kaAMuitT+xJ/+e0f5Gj+xJ/+e0f5GgDLorU/sSf/AJ7R/kaP7En/AOe0f5GgDLorU/sSf/ntH+Ro/sSf/ntH+RoAy6K1P7En/wCe0f5Gj+xJ/wDntH+RoAy6K1P7En/57R/kaP7En/57R/kaAMuitT+xJ/8AntH+Ro/sSf8A57R/kaAMuitT+xJ/+e0f5Gj+xJ/+e0f5GgDLorU/sSf/AJ7R/kaP7En/AOe0f5GgDLorU/sSf/ntH+Ro/sSf/ntH+RoAy6K1P7En/wCe0f5Gj+xJ/wDntH+RoAy6K1P7En/57R/kaP7En/57R/kaAMuitT+xJ/8AntH+Ro/sSf8A57R/kaAMuitT+xJ/+e0f5Gj+xJ/+e0f5GgDLorU/sSf/AJ7R/kaP7En/AOe0f5GgDLorU/sSf/ntH+Ro/sSf/ntH+RoAy6K1P7En/wCe0f5Gj+xJ/wDntH+RoAy6K1P7En/57R/kaP7En/57R/kaAMuitT+xJ/8AntH+Ro/sSf8A57R/kaAMuitT+xJ/+e0f5Gj+xJ/+e0f5GgDLorU/sSf/AJ7R/kaP7En/AOe0f5GgDLorU/sSf/ntH+Ro/sSf/ntH+RoAy6K1P7En/wCe0f5Gj+xJ/wDntH+RoAy6K1P7En/57R/kaP7En/57R/kaAMuitT+xJ/8AntH+Ro/sSf8A57R/kaAMuitT+xJ/+e0f5Gj+xJ/+e0f5GgDLorU/sSf/AJ7R/kaP7En/AOe0f5GgDLorU/sSf/ntH+Ro/sSf/ntH+RoAy6K1P7En/wCe0f5Gj+xJ/wDntH+RoAy6K1P7En/57R/kaP7En/57R/kaAMuitT+xJ/8AntH+Ro/sSf8A57R/kaAMuitT+xJ/+e0f5Gj+xJ/+e0f5GgDLorU/sSf/AJ7R/kakh0Rt376YEf7IoAh8Pws9352PlQdfet+mQQxwxiONcKKfQAUUUUAFFFFABRRRQAUUUUAFFFFABRRRQAUUUUAFFFFABRRRQAUUUUAFFFFABRRRQAUUUUAFFFFABRRRQAUUUUAFFFFABRRRQAUUUUAFFFFABRRRQAUUUUAFFFFABRRRQAUUUUAFFFFABRRRQAUUUUAFFFFABRRRQAUUUUAFFFFABRRRQAUUUUAFFFFABRRRQAUUUUAFFFFABRRRQAUUUUAFFFFABRRRQAUUUUAFFFFABRRRQAUUUUAFFFFABRRRQAUUUUAFFFFABXGfG7xFqXhP4Wa54i0d4kvrKFXhMse9QS6jkd+Ca7OvNf2n8f8ACh/FOeR9mTP/AH9Ssqzag2jfCxUq0E9rr8zz9fF/xy0XwPa/EHU7rw1rGieQl1cWUEBhnETY6HBGRmvXx8QfC8HgvT/Feq6pBp2n3sSyRtMecnsAOTz6CvG/CXw8+J3jD4aaPpOrePrGHwtd2cW+1trJVnEOAQm/b+fNaPxM/wCEV0Hxx4Q8J2Hhuz1PXLGwJ099VvDFY28YyCzDOGYkHsTW87qTj3ene2t/0t8zlp3lFS8rvt0t+t/ketw+OfCM3hSbxVFr1o+iwKWlu1JKoB6jGR+VJpnjzwdqf2r7B4isJxaQLcXBWTiONhkMSfWvlfSpJf8AhC/jpC6afAoSJvI0+Uvaox358s+nvXb3dl8P/C/7M/h6+1bwuLs6rFaCVLdzC11Oy5HmyKQSmRyCcUSi1By/w/8AkyuaJPn5fX8P+Ae4+EvHnhDxZPPB4d1601CWD/WJGSGUeuCBkfSs24+LXw4t4Jp5vF2nJHDdG0kJLfLMOqkYz+PSvDdFlu1/aW8Eebp3hvSi9hOnk6Hc+YrRiJtolxxuGBVb4b6DoupfDf4u3uoaTY3V1Df33lTSwKzx4QkbWIyMHnilNcsOfyb+6XL/AF2KhC9l3cV96f8AkfQ8vxF8Dxa7aaHJ4m08ajdgG3hEmS+emCOP1q54v8ZeF/CNtHceJNatdNjkOEMpOW+gGTXyp4v0fSbH9knwfrlpptnDqjXkDNeLComYmQgkvjJ4ArofHE+rN+0jIJtJ0DVWGjRiwh1yfyrcKfvMhI2l+lXUpuEnHqpSX3JP9bfiZp6Xfb9bfd1/A9l+JvxW0Lwn8N28YafcWuqrNhbCJZSq3Ln+EMFO3jJ5HatTwj8QvD2ufD+38YTaha2lmYla5ZnOyB8fMmSATg8dOa+eb/w7qWkfAD4k/wBof2M9tLdrcWdtps6zxWRaQb0Uj7vJqT4tT/8AFr/halhHp9zpRmt/tkTybbZ5hGMLMV6DOM5qbLXzcV6XX6fiymtE/wDF87W/ry13Po7wz468I+JdOudQ0LXrS/trUEzvGT+7AGSSCM1DoXxE8E65e21lpPiSxu7i5ieaGNGOWRPvNyOAPevD/D+i67/wse+8Q/ZPCOj2r6BPDdWGiXqyecNjbJCo9M+napvgD4b8JJ+z/quvanDFYXE4uo7nVUhL3EURxnaQC2PYVDduZ9o3+d2v0TJT96Me7t+Cf9dz2jSfiP4G1bXW0PT/ABLY3GoKSvkqxBJHUAkYP4Gurr5K097Hwrovg+DXtJ8M+KPDTXka6Xq+kytFeozfcLJhWJ/vZ/GvrUdBWjjaN/Nr7rfdvt+IlJ3/AK/phRRRUFBRRRQAUUUUAFFFFABRRRQAUUUUAFFFFABRRRQAUUUUAFFFFABRRRQAUUUUAFFFFABRRRQAUUUUAFFFFABRRRQAUUUUAFFFFABRRRQAUUUUAFFFFABRRRQAUUUUAFFFFABRRRQAUUUUAFFFFABRRRQAUUUUAFFFFABRRRQAUUUUAFFFFABRRRQAUUUUAFFFFABRRRQAUUUUAFFFFABRRRQAUUUUAFZvijQdK8TaDdaHrloLvT7tQk8Jdl3gEHGVII5A6GtKik0noxpuLutypo2m2Wj6VbaXp0Ags7WMRQxhidqgYAyeaxfG3gTwn40W3HiXRYb827bonLMjr/wJSDj2ziulopvV3Yl7qsjibf4UfD+3s9as7fw7DDb63GseoRRzSKsyjOBgN8vU/dxWxP4O8M3HhCLwlcaTDNosMKwx2shLBUUYADE7sgd85reooeq5Xt/kF9bnD6H8Jfh7oeqadqml+HIba900MLWZZpCybgQckt83BP3s1o6T4A8I6VpWsaXYaQsNprUkkmoRiaQ+czjDHJbIyPTFdPRQ9VZjTaORv/hr4JvvBdn4NutESTQrJle3tfPkAQqcg7g248nuaseM/AXhHxjaQWviTRLe/SD/AFTMWR0+jqQw/Oumopybl8Xe/wA+/qJaHPaT4J8KaV4Zm8N2Gh2kOlTqVmtwpIkB/vE8k+5OaqaX8N/BOm+FZ/C1poFuNHncvJayM0ilj3yxJH4GusopPW9+oLS1uhx/hT4Y+BfC0d1HoXh63tPtcZimfe7uyEYKhmJIHPQEVreFvCnh/wAM6B/YOi6bHbabuZjblmkUluud5JOa2qKP+GFZHFaN8Kfh/o+tjWdP8N28V4rl0YyO6Ix7qjMVU/QCu1ooo6WH1uFFFFABRRRQAUUUUAFFFFABRRRQAUUUUAFFFFABRRRQAUUUUAFFFFABRRRQAUUUUAFFFFABRRRQAUUUUAFFFFABRRRQAUUUUAFFFFABRRRQAUUUUAFFFFABRRRQAUUUUAFFFFABRRRQAUUUUAFFFFABRRRQAUUUUAFFFFABRRRQAUUUUAFFFFABRRRQAUUUUAFFFFABRRRQAUUUUAFFFFABRRRQAUUUUAFFFFABRRRQAUV5x+0ffeMNP+Fl9c+CRP8A2kJEDtAP3iQ872THORx0rmv2RdU8e6r4Kv5fGz38yLcKLCa+3ec64O/du54OMZoA9srkfix480/4e+E5dcvbeS7YOscNtGwDSOxwBz0GT1rrq8E/bP0PS7rwNZ6xcWqvew3kMEcp6qjSDcPxyamV7pLq0vvdilazb6Jv7lc9X8AeItR17wrDrGvaKNAnlY/6NJciXC4BDbgAOc1j+HfiH/a/xX1nwMNKEa6bbrMLwXG7zcnGNu3j8zXkfjDw3pl98RvA3wsWOex8KSaeb6a1glKJPJ/dOOvT9as/Cjw/Bo37Q/jXQdKvLqKJdMVIJZZTK8WTxgnnjtVKSlUVtve078q/zMZ3jTWuvu6/4mv0Po+uH8X+OL2w8TxeF/Deiw6zq7W32qVJr0W8Uce7by21juz2xWx8PtE1Tw94Xt9L1jxDdeILuMsWvbkYdwTkA8np0rgl8K+Gpf2k5riTQtPeYaGt4HaBSROJ8CTP97HGapQvNK+mv4Iu9oN21/4NjrfFXjG68O+DrXXLzSUa6luobaW0W5BETSOF+/t5xnPQV1bXESQLNNIkSsAcuwAr53vP+SVat/2OMX/o6OtzxrfHVvitc6JrHhDWPFWk6bplvLFY2YiaISSlwXlWR1DfcG3rjmpi+aKdt7P0Tin+titLel162lynuCsrKGVgynoQcg02aaKFd00qRrnGWYAV5/8ABKHWrSx1ezv9G1XSdNS8LaZBqLo0iRNn5BsZgFXgAZqpquk2PjD4v3mk+IokvtL0uwSSCwl5ieRip8xlPDEZIHpQ/iil1/yv/XmSno32/wA7HW+GPEv9teIPEGli0EQ0i5jgEok3eduiV84xx97HfpW7HcQSO0cc0buvVVYEivB3kuPB2j/FIeHzdCSK/gjgw+6SMSQRD5STxjdxyAMCm6Zp97a6n4cvvCnw28T6RqKXcP8AaWoTm3C3UDEeaZSspLnHTI4pxtJxXlH8UVUXK38/wPepbi3icJLPEjN0VnAJp0kiRoXkdUUdSxwBXiPinQY4/Emuan4s8L3XimyuJi9nqdi8ckmlxj+EBmBQr1ymTV+X7B4p8S+DvDEmoXGr+GpdGkv98rnF8UKKvm5+8MOSQe9KF5JW3/4Df6fPoD0b7f1/n8j15JoXi81JUaP+8GBH51na9qz6fpzXVnZyalIsiIYYHXdhiBnk9gc15/4v8Jaf4Z8F+Lo9Fvjbafc2BZNKTAjtWwBvjGflB9AMZNYfjbw3pPh/4Lac+nW5Wa7u9MkuZnYtJM2+PlmPJ9KN/wAPxYRV5KPr/X4ntRuoETdNLHEcAsHcDbn1qn4h1vT9D0SfWL6T/RYV3MUIJYZxxzzXmNt4Z0TxJ8bfEkOuWKX9tHolgPs83zRMS03LL0JGOD25rCu9F02TwH488MXtvHqmnaFehtNF0PNNtuJ+RSem0cD61NZuEG+tr/l/mFOzlFPq0vvVz3TT762vtPhvreRWglQSK2RwCM81NFNDMpaKaORR1KsCBXifj5YfDvgvwV4a0DQ7ldN1e7Rbyz0hUilnXyWkZVyVXLMuTkjIzU3hGzvbDxlM+heA9b8LeH59NlS9guhAkHmhWKuqRyN8x4BOKuraLl2V/wAFf/gEQd4xv1t+Lt/wT2ZJoXbak0bNjOAwJxT68y+APhjSbHwdY67HC0mp3KyrJcysWfb5r4QE9F9vc16bTnHlbiKEuaKkFFFFSWFFFFABRRRQAUUUUAFFFFABRRRQAUUUUAFFFFABRRRQAUUUUAFFFFABRRRQAUUUUAFFFFABRRRQAUUUUAFFFFABRRRQAUUUUAFFFFABRRRQAUUUUAFFFFABRRRQAUUUUAFFFFABRRRQAUUUUAFFFFABRRRQAUUUUAFFFFABRRRQAUUUUAFFFFABRRRQAUUUUAFFFFABRRRQAVyXxV8C2fxA8Npol9fXNlEtxHP5kCqWyjAgfMMdq62ijt9/3ah3OC+I/wAL9J8Z2ull9R1DStT0sAWmo2UmyaMYAI9DnFZ/gr4Pab4X8Q6rrdvr+sXd1qdn9mne4l3Pu7yBvvbvxxXptFCVr+d/x3+8TV0k+lvw1X3HP/D/AMMr4R8MQaGuq6hqohZm+03speVsnPJpyeGbdfHj+LvtUxuH08WPkYGwKH37s9c54reoquZ35uoWVrHBS/DLT5PDVzoZ1S8EVxqq6mZNq7g6srbBxjHy/WtHxR4KTVNTg1nS9YvND1mGLyPttsquXj/uujgq3tkcZOK6yipSskl0/wArfloVff5/i7/nqZHhXRG0OweGXUr3UriVzJNcXL5LsfReij2UAVl+LfBi6xrFvrmmaxeaHrEMZh+12qq++InJRkcFWHuRkV1dFD1dxLaxxXh74c6Tpln4gtLu8vNVh16TzLwXT5OfLCHBHI6Z9u3Sk0PwJeafe232rxjrV/ptmwa0sXKoseOgZ1AeQD0YkV21FNOzv6fht9wPXc4TVPh3JJqV9PovijVNFtNRkMl/ZwKjpMx+8QXBMeR/dIq1qXw90mTRdIsdHuLnRrjRkCafd253SQrjBB3ZDg9w2RnmuxopJWVv602G3d3OKt/h9bf2NrFtqGsX2oajq8XlXeoyhRIVAwAqAbVHA4AAq/4n8H2uveEbPw7NeTww2r27rKgBZvJKkZzxzt5rpqKd/wBPw2EtHfqeSyeGdW1H4x+JLiw1XVNDYaRZRQX0MIZH+abcuHBRj09xn3rrtH8BaRp3hC+8OmW4uV1AvJe3Ur5lnkbkuT655wOBXWUUpWlHla6WBaSuv66HFjwBDc+DLTw7q+s32oy2Th7PUCFingK8IQUx0HHPUZznNWfD/hG+spp7nWPFWqa3cyQtAjTBIkjQ/wCxGApPPUgmurool7179QWlrdP6/pGT4Q0OHw34dtdFt55J47fdtkkADHcxbnHHetaiim227sUUoqyCiiikMKKKKACiiigAooooAKKKKACiiigAooooAKKKKACiiigAooooAKKKKACiiigAooooAKKKKACiiigAooooAKKKKACiiigAooooAKKKKACiiigAooooAKKKKACiiigAooooAKKKKACiiigAooooAKKKKACiiigAooooAKKKKACiiigAooooAKKKKACiiigAooooAKKKKACivOP2j9U8W6R8K7698GLMdRWRA7wjMkcJzvdfccVzX7Imu+Otd8FX8/jR7ydEuFWxubsHzZVwd+c88HFAHtlcL8U/iGngW/8ADdo+kvf/ANuagtkGWcR+TnHzHIO7r04ruq8B/a8tVvr/AOH1m0ssKz66sZkiba6g4GVPY+9EdZwXdpFxSalfom/uTPfEdXGVYH1welAdCpYMu0dTnivnWx0SH4a/H/T9B8OXl82l67pcst5azzmT94M/vMmue8DM3/DHHjM72z9qu+d3P31ounTlNdP87DhTbkovq0vvV7nunxd+I1l8PdIs7l9OuNVvb+4FvZ2kDBTK5BI+bnA464rpvCuo32raBaahqWky6RdzJuls5X3tEc9CQBn8q+UfiH4Z0a98BfCTULm1MlxffZLS4csfni8v7v6V9G2Pg3UNL8WaRdaP4iuLPw7p9m1udFCZjlJzhi2e2R27VpycvMpfzNfcv1uv6WuHPdq38qf3v9LP+ttnxr4gXw1on9ptaG6HnRxeWH2ffYDOcHpmtiGVZEVgRkgHAOcVwvx5h+0fDya386SHzLqBfMjbayZccg9jXOeLPDmmeCNW8Ka/4biks7y61OCxvtjZN7HIOfM/vMMdfesoays+6X3ly8uzf3Hr4YHOCDjrWL428SWXhXw1c65eK0scO1VjQ/NI7MFVR9SRXF/Cfd9s+Iec/wDIcucZ/wCBVw/inR9L1T9nOGfUbGG6lttUXyXkGSm68Ctj6qSPxqJSdlbqk/vt/mWklVUH3a+49N1Tx3qGj+EbTVtY8OCDU724S3tNOivll8xnYBcybQFHIzwcV1miXV/caRBc6vYxabeOuZbdbkTLGc9A4ADflXj/AMXPA/g+PSvBVqnh3T1gTUre2WMRcCJ5AXT6EsSfrUfjmezm+Jw8JX3hLWdc8O6VpUU0OmaZCjxb3d1zIrOuQAo29ec1qmm5JfzNfJRT/G//AA1tck9vRP721/X6nuO5du7cMeuaFZW+6Qfoa+fNSh1dPhP4q0y40vXdG0pb2M6Wmo7VmjiY8ou1mwq4GOe9e2eFPDmleGtPa00qBo1lbzJXZtzyuerMe5NCWl/62T/UObW39btfoPi8QabJ4nl8OK7/AG6K2Fyw2/LsLY6+uT0rTLorBWZQT2JrySy8I+F7b496jqEWgWQuItL+2q4j+bzjIMuP9o5P51V8C+E9K8deDLnxd4jMs+t3c9z5N4ZCJLARyOiCI/wYCA/XNTf3Od9N/va0+5/d5lW95rzSX3XPZ6TcuM7hj1zXI/B3WL3X/hvpOpalIJbmSNlkkA+/tYrn8hXm2rRzRab4m+GlndSRXeo60Bbsp+aGGcPIpHsPKx+NVUi4ycVq1/ml+oR1V38/x/yPdyy8cjnp702SVVRmXDsASFB5OO1eNeHLiTxHrfgjQriWSWbw+s896em6SDNv831LZp/wh8L6VNp2s+J7mOW41KLUdRW3eSQkQKZJFIQds85+tTN2Tfk39zsvvLjG6Te90vm7v9PxPQLjxhZ2Hhyz1nWbG900XV0lqsEseZFd32Lkeh659DXRh02B9w2nvnivm19B0bV/2f8AwdcapptveTR6zHCjyruIR7xw659CODXUfET7JZ+LfD/gqPwxqmoeGbawedtK0mFGEpBUKHDOoKDnjPerqLkqOHXmaXyV/wAibe4pf1vY9rVgwypBHqKGZVGWYAepNeYfBiPU7TXdes4fDmt6H4aPlSabb6lGimJiD5ioFdsLnGB7UvjKzh8V/F+w8JayDNolvpL6g9mWwlxL5gQbx/EAGzj1FLlbaS6/5Xf5C736f1+p2GmeJFvvGOp+HVtChsIY5fP8zIff2xjjH1rdDoW2hlLemea8h8PaZp/hrxv46gtdRk0uyj0yORZ5G3rZLt6qOyr1xXI6odM0e48N6n4a8N+Jba/k1a3jn8RXESLHfRO3zB2DlmDdgVqYNSt5/q2vw/4a5MeZ83z/AASf9fie8xa/p0niaXw8rv8AbooFnYY+XaTxz6+1abOikBmUE9ATXk+n+DvCw+Pl9fjQbEXSWUd2svl/MJiTmT/ePrWB45h8O3kniS/OjeIvGGpwvN5Oo2cCGPS5EBxGjNICu0jkgHOKlT9xSfnf5Sa/r/g2NOVubS8vxSf9f8C57zWVpmv6dqOs6hpNs7m509lWcFcDJAIwe/Ws74XXl1qfw40G81CVp7iewiMrvyXO0ZJ9zXn3hjw34b8O+OvHGuaX4dso73TlMls0cXzKWiDMB9TnNOrJUpPm2V/wJinNK27t+J7LvTdt3Lu9M806vE9K8GaXf/CweMru6lPiiS2a8GtGQ+dE+TgK3ZRjGK9S8C6ncaz4N0jVbsAT3VpHLIAMDcRk1o4tOUXurX+d/wDJkKakotbPb5W/zRtUUUVJYUUUUAFFFFABRRRQAUUUUAFFFFABRRRQAUUUUAFFFFABRRRQAUUUUAFFFFABRRRQAUUUUAFFFFABRRRQAUUUUAFFFFABRRRQAUUUUAFFFFABRRRQAUUUUAFFFFABRRRQAUUUUAFFFFABRRRQAUUUUAFFFFABRRRQAUUUUAFFFFABRRRQAVwfxd+Gdl8Rhoy3urXmnrpd19pU2wAZzjpu6r9RzXeUUW1T7DTa2PNvAfwksvDviy48Uap4g1TxHqjwm3gmv23G3iP8C881zd5+zxpckGs6daeMNfsdF1ItINMhkxBDITndjPzfQ8V7bRQ9bfd+v56+oJtbep5nrHwhsdS8N+ENFfW7uNPDEsUkUgiUm42LgBh2z7V0t94TluviFYeLB4g1OKO0tmgOmpIRbyls/MwzyRn9K6eiq5ne/m382rP8COVfhb5LUwfHvhm38XeG5tDurqe1ildGaSE4cbTng9vrWJp3w/m/t+x1LXfEt7rcGmHdp1rNEqJA3Z2I5kYY4LdK7mipWjuinqrM4TVPh/cSa/qGo6P4pv8AR7bVB/xMLSGNXWZsEblY8xnk5K9aD8NrP/hWkfgddVu/s6TpKLllDSHbMJQDnr0xmu7opWVrf1pt9wfa5upzvizwrD4gi0iOW8lgGmXcV0pRQfMKEHac9AcVW8W+DTq2rwa7pGsXOh61DF5Iu4EEgePJO142+VwCTjPTJrq6KLfnf52S/JAtPut8t/zOMvPAjX/hG60PUvEOoXk93Ks015LgncDnCp91B7CuzHAAooqr/wBf16Ctrc5bUvCMk3jy18WWOs3FjMlv9murdY1eO5izkA5+6c45HNY978NZBNe2+i+KdR0fRtQdnvNOhRWVi33vLc/NFn/Z7kmvQaKm3T+tf08irvf+tP18ynoum2Wj6Vb6Xp0CwWtugSNF7CsG48D6bN8SYPHDSyC8is2tfKAGxskEOfcYIH+8a6qiqu+bm6k2XLy9DlvDXgnT9C8Ya74kt55Xm1cqWiYDbDgfNt/3jyfep/CXhWHw9od7pcV5LcLdXFxOXdQCpldmIGPTdXRUVPKrcvS1vkXzP8b/ADOEi+G1knwzt/BX9qXO22kM0F6EAkSTzDIrY6cE9ParOseCZ9StNKuG8Q3UHiHTIykWrxQqrODjcGjHysDgcHjiuyoqpNybk927/MnpYwfCWg3mjrcTalr17rN7clTLNNhEGOmyNflTrzjrVTxp4PXXr6z1bT9VuNG1qyBWC+gQOdh6oyN8rr3we/NdTRSeoLQ4PS/hpZwv4gbVtXvtXOv2ot77zzjIxglcfd47DgVnS/Cu8urOws9S8b6rd22mXcVxYRmJFEYjPCtj/WfVuRXptFH9fdqhJWX9ddzltT8IyT+N7LxRY6zcWEsUXkXcCxK6XUXZTn7pHqOaw7j4XsJtWttO8Vanp2i6q8st1p8Kj/WyZLMsn3lBJzgcV6LRS5Va3TX8dX+OpV3e/p+Gxk+D9FTw54Y0/Q47l7lLKFYVldQGYDgZArMi8INb+OrnxJa6vPFbXsIjvtOMSvHOwGFbceVP064rqaKb1d2JaKx5w3wtxbPokHinUofC0jln0dVGME5KCXO9U/2RxXodrBDa20dvbxrFDEoVEUYCgdAKkoovpYOtwooooAKKKKACiiigAooooAKKKKACiiigAooooAKKKKACiiigAooooAKKKKACiiigAooooAKKKKACiiigAooooAKKKKACiiigAooooAKKKKACiiigAooooAKKKKACiiigAooooAKKKKACiiigAooooAKKKKACiiigAooooAKKKKACiiigAorzj9o/WvFeg/Cy+1HwfHI2oLIiu8a5eKI53OPccVzX7IviXxv4m8FX9x4xe5uEiuFWyu7hcSTKQd2fXBx+dAHtlFFeMftK6nqcmo+D/B1nf3Gn2ev6kLe+mgba7RcZQHtmjVyUVu3YNEnJ7JXPZ6K8Tb4cyeANM8Uf2J4lu5NAn0eU/wBmXUvmSRzBT+8VuoH4V47L4ZWx/Z60H4iW+t62NdtrmNYHN4THEhb7oXHSp51d32Vr/NtfoOz07u/4JP8AU+qNa8c+H9H8baR4PvZp11XV0d7RFhLIwQZOW6D8a6avlr4i+GdI1f8AaN+Hkl7BI7a1aNcXuJCN7om5SPTmvfNM0HxDa+Pr3WJvErzaFLapDbaSYsCFwBl92eScHt3rXkajHm31/Btfp+uhHMm9NrJ/f/Vyx4s8UR+H9T0Oxeze4OrXgtVZXCiI8fMfXrXQ15z8Xf8AkafAn/YZX/2WuG1XULPxN448TL4n8J+LNfg027Nnp6abaeZBbbRkuDvH7wlh+QrKLun6v7ko/qyre95WX3ty/wAj3+ivnrUI9c1TR/hzp/iD+2tOuP7fe33XB8q6khWJ9rPjPJHWups9OtfA/wAVLyy8Oxvbafc+H57+Wz3FozOjgBwD0J5z9auS5Vd+f4K/9eYRTlovL87HrlZeqa9p2m61pmkXTyC61MyC2CoSCUALZPbqK8Ym8H6fqXwV1rxnf3F3L4iu7C6uH1BJyJFA34iXsEAAXH61L4k8I+G9a8UfDSbVdJgu5LyzkS4Zy2ZFSJCoPPYk/nRbVJ90n8yopSXMtrSa+Suep6H4qj1TxprvhpbJ4n0iOB2nLgiXzd/AHbGz9a6OvF9N8KaP4m+NHji11iOS4sorOxX7JvIickS4ZgOSRjjnua6n4GNPH4a1LTZLmWeHTtXu7O2MrbmWJJCEXPfAppXS9EyZJpvte34XO/qK8uIrW0mupm2xQoXc+gAya811TTbfxx8VdU0PxAss+jaRaRNHYlisU0rgN5jY5ON2KyrfS7RrXxx4Cv8A/iZaJYQC5s4pmJNuCmRHn0DDI+tYVKnLTcvJtfIuKXOovul953Xw98VX/iy0k1JvD8unaW4BsriW5VmuVyQSUAynTv1zV638RJN40uvDX2Rw9vapcGfeMMGOMYrmf2e9E0nSPhhpUum2Mds93F5k5Qn9424jJzWZq/hrTfEvxrv7fVxLPZJpMe+03lY5STwWA5OO3Pet6q5aqgvNfdFv80Y05c1Jzfl+LS/JnqtFfPfiYTaN4Q+IfhG2ubmTTdKubB7EM5JgSWWNjGG64BPHtXefEVnXTPBRV2GdStc4OM/dqb7NdXFf+BW/K5dS9ODk+il/5Kk/xubWteMri38bQeE9H0OXVbwQpc3j/aFhS2hZiofJB3H5T8o5og8Y3N944uPDmk6FLeQWJVdRvmuFjW3Zs4AUjLng9K4fSfCHho/tKaxcHSIPNi0m3vEbLZWZpZAX69SFH5VB8OPDXh3QvHvj7VtP0aCO606QfZmUtlAysWA57kCknyxUpdm39/8AX9aBP4nGPdJfNX/r+me20V8xaVcya54Nt/E0PhPx1c+MrsLdQ6vBZZjUkg7EbfjysZHTpXe6V4ft/FfxSv7jxCl0DBYWc7WPmFY1n2I2WX1B/lVNNSUXv1+5v57C5lq/63S/U9gooAwAB0FFIYUUUUAFFFFABRRRQAUUUUAFFFFABRRRQAUUUUAFFFFABRRRQAUUUUAFFFFABRRRQAUUUUAFFFFABRRRQAUUUUAFFFFABRRRQAUUUUAFFFFABRRRQAUUUUAFFFFABRRRQAUUUUAFFFFABRRRQAUUUUAFFFFABRRRQAUUUUAFFFFABRRRQAUUUUAFFFFABRRRQAUUUUAFcl8TvAelePNIgs76ae0urSYT2V5bnEttKOjL+VdbRSauNNo8t8N/B6HT11i81nxRqev63qVk1l/aN4PmhiIPyqmSO/rSXXwctp/g5a/Dj/hILhYreVJBe/Z13NtOcbc4/WvU6KGk9/L8HdfiJaO/9aq35Hmnj34SweJdQ8N6tZ+Ir3RtW0FBHBd28YJdMAMpGRjOOvvXQ6T4TvbHx1d+JZPE+p3VvcWkduNNkb9xGygAyDnqcZPHeuqoquZ3+/8AHcVla3ovu2Oe8WeF4/EGp6HfPePbnSbwXSqqBvNPHyn06Vl6z4Hv/wC3rrWvC3iafQLi+x9uT7MtxFMR/EEYgK3P3hz0rtaKlK39en+SH/X9fecbfeBFvJPDMk2t3s0mhXv2vzJ/3j3DbGUgkn5R82eOlaV34Zin8cReKXuXYx6c9ibXYCrqzhi2c+2Me9dBRVNv8/x0Gnb+vmfOniiFF0rWfBeg694hiN950dt4dewIdJJCeftAOBESd23PQ9K9T1bwRdapovho2+rvpGsaJGvk3KQiZQSqh1KkgEHbXcUULRJej+7YG9fv/Hc5vQfCiaV4y1zxJ9veeTV4reN4TGFEflB+Qc853/hipvBnhtPDdvqMKXj3P23UJ70lkC7DKxbbx1xnrW9RRd/hb5C/4f8AQ5LxV4On1HXI/EOg65NoWsrD5D3CwiaOWLOdrxkgN7HtTvD3gq20nRdVtXvprzUNW3tfX8q/PK7LtzjPAAAwue1dXRUOKcXF7P8AXcd3dMyPBehr4a8L2Ghx3LXK2cfliVl2luSc4HTrWB4h8DXl94wk8VaT4mutJ1A2otkCwCWIDOSWQkB/x6V21FVL3pcz3/z0/UmKUY8q2/y/4Y4rSvh3p1v4Z1bStRvbjUbrWW36hfP8skr/AMJAB+ULxgDpisuP4aarPLozaz44vtRj0a5SW0j+yrGpVcYWTDHecD7x5r0mii+qfp+G33A4qUXF7O/47/ec5aeFY7f4hXvjAXrs93YRWRtvLG1Qju27dnJzv6e1Hh/wpDpOva/qhu2uBrMqu8TRgCPAIwD3zmujoo/4YGru/wA/wt+R59Z/DzU9NP8AZ2jeNNQ0/wAPmTeNPSEGSMZzsjm3bkX2A6V0eleG49P8V6hry3kkrXsMUJidfu7FAzu6knFb1FHb+vIb1v8A15hRRRQAUUUUAFFFFABRRRQAUUUUAFFFFABRRRQAUUUUAFFFFABRRRQAUUUUAFFFFABRRRQAUUUUAFFFFABRRRQAUUUUAFFFFABRRRQAUUUUAFFFFABRRRQAUUUUAFFFFABRRRQAUUUUAFFFFABRRRQAUUUUAFFFFABRRRQAUUUUAFFFFABRRRQAUUUUAFZXi3xBpfhXw7d6/rUzw2FmoeZ1jLkAkDoOTyRWrXmv7T4z8CPFI9bZP/RqVnVk4xbRrQgqlWMHs2ivo/x/+F+qahb2UWuTW8lwQInurOWGNif9pwBXqKMsiK6MGVgCrA5BHrXyH4g8eeFfFXwT0r4d6NoN9d+Jrq3t7a28zT/LTzAVywk9sHmu4+JfjTWPCZ8IfDWHxPaeHLqbT1k1HWbkAiBAMYUnjdkHrWsrK687Lz/4YxheST8rvy2/P9D6Au7i3tLaS6up44IIlLSSSMFVQO5J4AqPTL+x1OyjvtNvLe8tZRmOaCQOjD2YcGvme08V674o8IeOfBc3jhNYGlWourfW7JVzdw4bdE/UenSquh6h4l8Ifsu6Pq+l+Jr1Jbq+tlhUKmLaMkho146H3qOdK76e7b5tr+vR+RVtkt9b/JJ/qfVdFeO/E3xP4g034mfDrTbDVZ7ez1JyL2FQu2cbSecj+Vcz4E1H4m+L/iN4ks7fxl9i0XRdZDOjwK8ksYIJgU8bVI78nk01JOVvX/yW1/zF0v6fje35H0RRXyh4f1/4qa98NfFXiyH4hS2seg6hcGOE2qtJMqYOxn6bcdOM9ea6bxr8TPFNx4B8Bal9vfw/p+uxBtW1m3t/MNo2BgAHgZ5656VTWn3f+TK6KcWm16/+S7n0TRXk3ws1XxhdeHddaz8UaJ4zhiVv7IvklHmM/ZJwvAP5dK9B8FTeIbjwxZTeKrW1tdZaP/SorVi0atn+En2oa/T8SL/16FXRvGvh/V/F+q+FLG6kfVdKVWu4jCyqgbphiMH8KJfGvh+Px5H4Ia6kGtyWpulh8ltpjzjO/G38M14BYeJde8NftK+Pp9B8G3vieWZIFkitpxGYgFGGJKnOaXQPE2q6p+1JFrXiDwvdeHJ7fw9KTZzyiRyqnIbIA6/TtSg01BvZpt/JN/oaTjZzS6Wt87f5s+oKK+ZtO8Q/FnxP4H1D4sab4rhsbS1lke20IWwaKSJDgh3zncRW+PiVq/8AwmPgnxFcX0tt4d17RZpbizOPKjuEjLkg4z/Ce9D0dpaPr5aNr77NepHnHVf5NJ/de/oe9UV8qaf8VvGsnw08WpcapcRa9LqcQ0aRkUOtvPIqpt4wQN3pX0rYfbLbwlB9quXmvEswZJmxuZ9vJ/OiXuwc+i/yv+HUas5KK6/57/Poa1FfJGieKvivqfwQvfiAnj14/wCxr2ZTbtaqXuVVgCrv0xyMYA710+r+KviR4d1LwT4v1LxTDeWHiKeKKbR47XZDCsi5GGySSPXNX7N83K+6Xze33mbmlFy8m/u3PpCivAvi9rvjCy1/WJrz4kaL4Ps7OEvpFlHMjz3rBc/vQ3TOMAD1FZPin4m+MtS+C/gbxLpeorpWq6nqS29w0aBo5MPt+YH+E45AI+tZxfNHmXdL/wACdl/wTVxs/v8AwV/66H0nRXgmj6t498M/GrT/AAlrvjBtcstdsHmU/ZhEbWQdNnXj65rlpPif4t0n4YeJPDd9rl1P4ys9cGl291tXzcSMSrAYxwFPamndaa//ALXK18m0K2uv9aXv9yPqC5mjt7aW4lJEcSF3OM4AGTWN4I8WaJ4y0c6toFxJPaCV4izxNGdynBGGAPUU2C2vrP4f/ZdTu5Ly9j00rcTyY3SSCP5iccdc18w/DmD4g6f8GNQ8XeG/F8en2mk3lxOum/ZgVuArksJGJ+vTFTKSjUlGT0Svf52v6CScoRa3bt+Fz69qrqupafpNk99ql9bWNqn35riVY0X6seK8J0v4k61B8RfC2t6pqcqeFvEujmRbd9ojguUzuC8Z546nvXCeMLrxh4w+AGv+MNa8R362VxqTG1sSqeWYAcKPu5x170qrcIt9t/L3uW36+gQanbztb5xv/wAD1Pre3mhuYI7i3lSaGRQySIwZWB6EEdRUlfOnibxjrXw9+E/g7QrfxMp1LW9gGqagAFsoCoJ6YHy5AGasfCz4haza+Przwc3jOz8fQzadJd2V7CqhlmUZ8pipxg4OK1mkpyiuja+5Xf4EQleEZPqk/vdl+PzPoOivl/wl458Z61qS3X/CxLHT/EwvzFL4X1KNYYdm/GxCfmLY5znv0r6F8Xx6pceC9RTTrp7LU2s38maLBMcm3gjPHWom+Wn7R/1pc0ir1OT+t7G3RXyvqHxg8UR+D/h/NZ6jc3F2oafX5FVSXjjZEbfxwCXHTFdenxJ1W0134l+K21Ga70DQIY7eys8Dy/POBuGBk89eacvdu+iv+FvzbsvMUU5NJLe34u3/AAX5HvNFfJ+l/FTxJpjaD4puPiZpOuyaldxR33hyJVzaxyMB8uDuyuec102g6z8SPF3xt8WeHdJ8YHTtH0y4trgiSASMsRVT5SdMbuck561UYtu3rfyta/59CZSSV/61v/l1PoqivljWvihrfibW/EF5Z/E7S/CFto8pi0/T5Qpe/Kjkvk5wTxxXu/wb8WzeNvh1pfiK4hWK5njxOqjC+YPvY9s1MPejzLyfye39boc3yz5X5/etzsKK+cvip4n8baXqOu6jf/EjQ/DEtgxbSNGhmSVryNef3oPIYjsPWtTxN8TvE+qeDPAVloclvpmt+LWWOW6KbhbAHDOq568GlF8yVt7pW9b28ujv2HNqErSfRv7rX/Nep7tPLFBC800iRxICzu5wFA6kmq+k6npur2S3ulX9rf2rEhZraVZEJHXDKSK8budB+KtjofiTw/r3io6jpRsGmtdaSNUuVcA7omXkYIxzXnPgG78ReFP2V77xBpXiS9illulW2jCpttcMQ23I/izzn0qXNR5m9kk/vbX9f8MLW8V3b/BJ/qfWtFeI/FzxZ4j0mT4cjTdYuLUaldxJe7Av75SmSDkfyqh8Xte8YWOv6xNefEfRfB9nZwl9Iso5kea9YLn96G5GcYAHqKpySvfo2vuSf66dQg+dpLsn97a/TXoet+M/Gvh/whNpcWu3UkD6pdC1tAkLPvkOMA7Rx16miy8aeH7zxrc+DoLqRtYtYBPLEYWChD0O7GD+dfOvj/xVfeNPAfwh8RalHHHd3OuqJRH90lXC5H1xXQTW2o3n7RvjW20i9ksdRfw+BbXEeN0cmDgjIIpSbhU5Zf3v/JY3KqaQi115d/Obi/wPoyivmCH4meLfEXgHwP4f0vWrm18V3+qm1v7hVXzCkP8ArCwIwN2R2r3H4tjWofhfrUmg6lcWeqW9mZIbmPBcFME9QRyAe3eqqWhFyey/4Dv+IQXPNQ2b/DVr9DrqK+abn4va9Jr/AMOms76d9Pezt315lAKs0riEb+OPmOeMUa1468XzeAfiT4ssPEV3Hb22pra6TsCYgVQNxXjnJPfNKo+RSb6X/BpfjfQUPfat1t+Kb/Q938eeLtG8FaF/bWuyTR2nmrDmKFpDubpwKuya9osV7ZWM+qWcF5fLutbaWZUlmGMnahOT+Ar538f6r8TvD3wafxdq3jFZbvVLux+zQW9sgW0Q7965bIbdlcnHaq3xT0nV739on4dSf8JLewy30DPA6qubTaoLBOP4uhzWkYP2ns33t/5Lf9Ak17NVF1Tf4r/M+lRrGk/2wdH/ALTs/wC0gnmG089fOC/3tmc498Ver5ni0DWI/wBrWZH8WahvSwF0821MmLg+T0+7jj1rJ1f4reIPEV34j12z+Jel+FU0e4li07RZVUvfeWP4snJ3EEDFZRknFS9b+idv6+fQpxfO4+n4q59XUV81+LPiZ4w1xfhTdeHNW/saXxJI8V2hiDxFvlGSvUgcngjrXSfCzxB4w0j436x8OfE3iNvEUQsBfwXMkIjaPLAbAB25rZUpX5f8X/ku5m52V/T8T3CiiisygooooAKKKKACiiigAooooAKKKKACiiigAooooAKKKKACiiigAooooAKKKKACiiigAooooAKKKKACiiigAooooAKKKKACiiigAooooAKKKKACiiigArjvjT4a1Hxh8MNb8N6S1ut7fQqkRncqgIdTyQCRwD2rsaKmUVJWZdObpyUlujxzxr8KdU1n4SeHtIsZ7O18U6AsElnc7iIhKmMgsBnacHtTviP8MvEPiceH/FVpNpUHi7S7cQzR3KGa0uB3U8A4zk9O9ew0VTu2353+f/B6kR0SXlb5HlfhHwL4pn8P67beLW8OWk+pWxtoo9Is9iwgg5Jc4LZ47DpXLad8JPHF58GLvwDrmpaRHJZTRyaNPbbiDsJI83IHt0zXvtFKSUr+aS+53Q07W8v10Z4LF8OfiprHjLwd4h8V6poEo0OXEsFqHXCbSNwYj5mPHGBXXfCXwLrfhbxL4x1HU5LNodZvjcWohkLMFIH3sgYP516ZRRbf5/ja/wCSJt+n4Xt+bPD/AAV8KvE+j/CHxp4Uu5dNOoa1c3Mtq0czGMCQALuO3I6c4Bq1Z/D/AOImi+BPCdpoGu2Ueo6Na/Z73TJ2LWN6Dj7xxkYxwcd69moqm2/w/BWX4Mtyvv3b+/c8h+G3w58UeGT4p8QNc6TZ69rSfuLOzQ/Y7dx0J6FjnqcCvRfBUfiGHwxZR+Kri0uNZWP/AEqS1UiItn+HPtWzRRfS3ovu/wCH1Itrf+tTzHwP4E1vRfjX4v8AGN5JZnTdYjiW2WOQmUFRzuGMD8zUeqfD3V774/x+NpGsm0T+xmsZEMh84uSf4cYxz616lRSWnL5K3ytb9S3Jtyff9Lf5Hz2vwk+JmlaHfeANB8SaSvg29mZjNNG32yCNjlkUDg/XNb3xb+Dc2v8Aw08O+FPDdxDDJo0sYWWdym+LaUk5APJBJr2aih6rXy9dNhX1v6/jueJ+Mvgzc6p498Faxp81rFp2jQQw38TOQZREdyEADB5A64r2a+iaaymhjwGeMquenSpqKJe9Fxezbf37ij7slJdEl9x4L4Y+EXirTf2d9e8A3E2mHV7+5nlhZJmMIV2BGW25HT0rX8dfDTxHrXhjwDptnJp4n8P3NvLeeZKwUhEw2whTnn1xXsdFW6jcubzT+cdiHBNW8mvv3PBNW+Evji28Z+KLzQr/AEG507xEshluNShMlzbllI2J22++eKh/4U74u/4VN4P8KmbSvt2i6qLm4fz22NGJN3ynbnOO2Pxr6BorOK5UorZW/wDJXdGkm5Xv1v8AirM8x8ReBNbv/jV4b8YwyWY03TLJoZ1aQiUsf7oxgj8a81Ph/QfGn7WiapodwLyy02AXOotGv7pbhPlCE92+Yn8K+mKoaToukaQZzpemWdibiQyTG3hVPMc/xNgcn3oguSUZdrv5v+r/AHCl70ZLvZfJf1b7ybVYHutLu7aPG+WB41z0yVIFfO2k/Cb4vaf4EufBNvrfh6LSdTuJWvGw7SwRu5JCHHzZHrjqa+kqKXIrtvrp8tx8zsl21Pmv9pvQfD9l8NPDPgHT7pZPEVtNDHpduoPmurNtduOgODXpXij4arqXwNX4f6ZMlo8dokcLuPlDjnn2zXd3Gi6PcavDq9xpdnLqMC7Irp4VMqL1wGxkDk1fqpLnhKMt5O7/AEEvdceXaKsv1PENW+FXizxN8NtDs9evtJtvFGgyhrKW3QvbuijAVwQDyMZ+lbPw+8G+OI727uvFTeGNN3WrwW/9iWhWRHYY83zDjB56Yr1aim3dyff9dLiSSSS6f1Y+ftf+FHxG8S2Vt4Z8Ratot9ptvdCVNddWOpGMPux0xnHGd1e92lutvZRWu5nEcYj3N1OBjJqaii/u8vzG1rc8N8BfBO50a+8ef2nLaS2mthotNRGLGKJskhsj5TkL0z0rQ+Fnwhm0n4Nan4K8WTQT3eqPIbua3cuDlsockAkjivYqKnlXK49Gkvkh8z5ubrfm+ex4L4R+GPxG0e5sdFml8GS6HZSri+bTy95LEp+6RwASBjOa6n4b+ANb8O/F/wAa+Kr57I6drQhFosUhMi7FwdykAD8Ca9RorRTa+5r77f5E8qtbpp+B4LqXwl8YaB4p1S98Dnwxeadqs3nyQ6zbF2tnPUoQDke3Few+DtJudH8M2mnXktrJdJH++ktYPJjZz1IXJxWzRWcVyw5Og3rLmPna6+Dfj6yu/Fun6PqHh2fTNfkluPtl9Az3SM2T5Y7Ac4zn3xW3cfCTxDN8NvB1tb6hZWPivws3m20gJkt5G3E7WOAcEe1e3UU1okl5f+S3t+YpJSlzPz/G1/yPMfB3hP4h3tzq2ofEDxNA5vbQ2kOm6dn7LCCDmTnBLHPp2rkPDfwg8Zr8Jdc+HeuanpS2Zk8zSbi2DFw2Sf3oIHt0zXvtFKUU76bq33O6/Ea0afnf9PyPnq7+Gfxb1248Iz+JNV8OyJoF2jeRbh13RqMb9+OW4HGAOTzVnVvhL44tvGfii80K/wBBudO8RLI0txqUJkubcspGxB02+hzxXvlFDSf4/ja/5IUVyu68vwvb82fPK/Brxh/wgHw/0FptJ+0+HdXN3dt577Xi37vl+TlsduPrXa6X4J1bS/jjrPj29nsV0a405YRiQ+YpXqSMYA/GvUabNHHNE0UqLJG4KsrDII9CKcm3Ln66/irMckppRltp+Eub82fNvwM8NaLrH7QPizxloU32vRLZ2FrKF/dmaQ5bZ6gbT+dfR19bpd2U9rIMpNG0bD2Iwah0bSdM0WxWx0jT7WwtVJKw20SxoCfYcVcoaXIqfRKwJvnc3u3c8C8F/A7U9J8BeNdE1C4s5L3V5nOmukjFYUU7ogSRkYYAnGauJ8I9fh/ZtPw/imsG12b555WlbyWk3cndtz0x2r3GilKKlFx7pL7v61GnZp9m382eS/Fv4d+IPFPwZ0zwjpkliuo201s8jTSsseI87sEKT9OKg+KHw48V6p4p8G+LPCt3pq6noCGJ4b0t5TqwAYggE5xnivYaKvmfO59W7/hb8hL4FDolb5HkPibwF40Hxh0zx54du9JYSWqWmqQ3e4fIMBzHgHJIBxnFc9P8IfGfhrXtUPgh/C95pOp3DXLLrNsXltHb72wgHcM844r3+ioSSVl5/i729Ljv+n4Kyf3Hjfi/4YeItT8SfDjULWfSmj8OXRn1FlUwB87f9WgBHboSK09P8A65B+0XffEB5LL+yJ9IFmiiQ+d5gYHlcYxx616jRWqqNW+f/k25PKrW9PwCiiisxhRRRQAUUUUAFFFFABRRRQAUUUUAFFFFABRRRQAUUUUAFFFFABRRRQAUUUUAFFFFABRRRQAUUUUAFFFFABRRRQAUUUUAFFFFABRRRQAUUUUAFFFFABRRRQAUUUUAFFcr8VPHGl/DzwfP4k1aOSWJHWKOKP70kjZ2qD2zg1lfBP4paR8UdDutQ06znsZ7ORY7m2lYMULAlfmHByAaAO/oorjfiZ4l1zw++i2+g6fa3tzqV39n2TsVC8fezkdO9Ju1vkvvdh23/rY7KivP9U8TeLbafSvC9vBpM3im9ieeeXY/2O2jU/eK7txz0xu6g1lar4k8X6j4b8TeH2/smw8R6TGrzymORreaBw2HjAcMrHaepOKUpWi5Lpf8NH+P9aDiryUf612+/wDy7o9VoryHQfFHirw78PPArag+lX02q3Nval0jkG2BoWYE7nJMnyjJ6deK7fWfEN5Z+P8ARfD8cUDW1/DLJK7A71KKxGOcdvStJrkk15tfcr/kZKfuKT6pP73b8zp6K8t8G+M/HGu6Vfa9cafotrpVn9rTgO0k7RlghX5vlHAyCDnnGKzk+IXj2LwFY+PrzSdFj0cKHvLRd5uDHuIMiNu2j/dIJqY+80l5f+TXt+RpNOEnF7q/4bnsZIUEkgAdSagsL2zv4PPsbu3uotxXzIZA67gcEZHcGku2D6dM46NCxH5V4D8D7y68EzW8t3cSSeHvEmoXMas3SzuxI2B7K4B/EilF3qcnl+Pb5/np1Jk0o839W7/10PoC3vLS5lnit7qCaSB9kyRyBjG2AcMB0OCDg+tTV4xZ65deGP8Ahamt2MMElzbavEyrKDtJ+zQjnBBrtfGXivUNG0rwzdW0Fs76tqVnaTiQNhUmIDFcHqM8ZzVqN3GK3aj/AOTJMG7N+V/wOyorzq68SeONS8Za/wCH/DtrokMemRwyR3V6sjhi+/KFVYHPy8HoKydM8dePtc8MX2uaXpOiWY0eWaG/hui8huJISRIIirDYODjdmovpf5/LuPrbzt8+x6rLdWsVxFbS3MMc82fKjZwGfAydo6nj0qavHfEmvahrmvfDfXdB0+J7rUI5ZY453wkO63ckt0JAyeBjOK6Xw/4u1yx8Q6j4e8bQWEdxa2X2+K9sVdYJockEbWLEMNpzzTfur3tN/wAL/oriTu9PL8f+Dod7RXlMvjzxlD4fHjmbStMXwtu3ta4f7asGcGXdu2++3bmr8fizxlqnxH1bw7odlpH9nafHazNd3G8ttlDkrtDDJ+UYPQYOc1Sg3/W22/3/ANMTkkr9Pz9D0eisfxpr9v4Y8NXmt3UbSpbqNsanBkdmCqo+rECuMk8W+NtAXTtY8W6fpI0a/nihZLJX8+xaUhU8wlir/MwBKgY61K1dv6u9i2na/wDWm532p6tpWlmFdS1OysjO+yEXE6x+Y3ou4jJ9hVi7ura0tXurq4iggjG55ZXCoo9STwK8YurHxLqn7SDJdS+HrqyttNhmjjntJHKQGR87cvgS8H5sYxjjiu3+Og/4tD4l+UHFk2B68jiocrUuf1/B2NKdPnrKnfe342/zO0RldA6MGUjIIOQRS15WPFXjTwzpWj6zr2naQvh6fyYZooN32mz3jCsz7trjOBwo61p2njy8gsfGa6vb2yX/AIddzGkSsFmjZd0J5JJJBUHHc1pNcvN5X/C3+aMYNyS87fjf/K3/AA56DRXhutX/AMRNQ8e/Dy7+2aHZPfQzzLbmCfauYdzCQCT5vl6eh5rttX8SeJ9S8T3PhzwfDpYm06JJL+8v0d4gzZxGiqynPHXJxkU5RcUr9b/g2v0BNN/Jfid5RXmF38T7mHwKNTbS4odXGp/2TPFK/wC4guBnLM39zj179a6Lwjf+NP7Xk0/xRZ6ZcQND50GpaYrpCTkfIVdmOec5zjiklr/Xa/5Dem/9a2/M62iuY8X+IL/RPEPh23SG3bTtRumt7qRwd8Z2EoQc45bA5HesbQPiBNffEHxDoN1Zxwabp0Qe1uhnM5UZkHp8tTzL8/w3/NA9Pw/F2X4o9AphliEwhMiCQjcE3DcR64rypPiB4xudC8K3Nlo+mvfa/LMBFIWVYkUjaxy3uc/hirdxf6uvxQ0DS76z0dtak0G6la8RZQkcgeIbVXfgoc85yeBgiqSd2rbX/BXC6te/9Xsem0V4Z8P2+Isngzxm7av4fdkvL5UZ7a4JWUStvIPmcJjdtHUccnFbfgvxNrnhj4O2useIpbLUp5CkOnRWqOjyPI2xEdnZskueowMVKd18k/vKlHlly+bX3HrFFef6d4m8YaV4k0rTfGFppJt9Y3LbTWCupt5AARHJuZtxOcZGBWHpfjb4ja3oOq6zpemaDDBpd5NEyziQtdImOEw42NjPJyD6UOSX4/K1r/mvzJWrt/Wt/wDJnrlFZXhDWofEfhbTNegjaKK/tY7hUbqoZQcH8640eKvGviG71K58HWOjjS9NneDdfB2kvZEyHEe1gEwwK5YH1qppwk4y3W/yCPvRUkej0V5drPxOv38J+Hda8PaVFcT6pqK2M1rcMVMb+ZscBsgDBB5PHStPRPE3imy8f2/hbxXb6W41G2kubG4sEdAojxvRwzNkjcvIwKIpyk4ro2vuXN+Wom7f152/M76iuW+J3iqTwj4bXUIbZJ55rhLaLzG2xIz5w0h7KMfyqnoWq+OLa7ubfxHZaTd2/wBje4t9R01XSHcOkbKzMc985xxU8ys32/yv+RVtUu//AAx2tFefWfjfVJvgtfeNWtrMahb2t1MsQVvKJiZwoIznHyjPNF74v8Q6je6XoPhm204avc6bHqF3cXau1vbI4+X5VYMxJDDrxiqcX/X3iTuubp/w3+aPQaK4B/G+saJ4X1a88U6E0V/psgjj+zqRBfFvumInOM85BJIqTTtY+IGn6vp6eJNJ067sNQk8stpcMm+xOCR5pZmDLxgsABnFJavQVzu6K8zn8ZeMdXXVtY8J6fpT6JpMssTC7Dma9aIkSCMqwCYKsBuBzipNa+IV7cx+GLTw5FYW974hjd4p9SJMEBQEshClS7ZBGARQtbf1vr+SY3o2n5/huekUVwF34w8R+HPBWv6v4r0OI3WkKXRrMkQ3i44ZQxJUZ6gk4qTwvrPjuTUbCTVrTRNR0jUELJc6VvBtTwQH3MwcdeRgcU0rsHor/wBaHd0UUUgCiiigAooooAKKKKACiiigAooooAKKKKACiiigAooooAKKKKACiiigAooooAKKKKACiiigAooooAKKKKACiiigAooooAKKKKACiiigAooooAKKKKACiiigAooooAwvHfhPRfGvhufQNftzPZzEMdpwyMOjKexGaz/hh8PPDfw60aXS/DcEyxzOJJpZ33ySEdNxwM4ye1dbRQAVxvxC0++vdf8ACk1naSzx22oGSdkGRGu3qfauyopW1T7NP7ncOjXdNferHlHxe8G2+oeLtO8UX3hdvE2nw2zW11aQlvPjGcq8agjd1ORkdqm8G+F9MXw/4gk8P+BG8M/brfy4vtLMtxcYB4dDnZjtyepr1GilyrkcOjv+O4+b3lL0/A8Yn07X9U+FXhh4/Deowar4ZuYHlsJ12NOY0MbeWedw+YkdM4rVtLzXfEnxT0DWf+EU1XTNJtrWdWlvk8uQOVYYZOw54Oea9Soq5Pmk5Pu382rMzcFyKPay+Sd0ebfD3R9VsvhNqem3mn3EF5I96UgdcOwZ3K4HuCMfWsvWNB1uX9mY6DHpd02q/wBn+X9kCfvN27pj1r12ilD3Jc3+H/yW9vzNZy5p8/nJ/wDgTT/QrOj/ANltHtO/ySNvfO3pXnXgnwa+p/CCfw1r9nNZyzXFw6CRcPE3nFo5B9DgivTqKTjdt9yI+7y26Hg3gvwd41u/AXxA0nxBasur3l5/osr/ACpdiOCNEcH/AGtgyfXNaGvXvifxLbeDtPh8EazZrpus2UmoS3KBBGI2GWT++nHLcY9K9porRTamp9uX/wAl2BpNP5/icX4T06/t/iH4tvbizlitrpLYQSsPlk2iTdj6ZH51heAtF1ez+H/jOzutNuYbm71LU5LeJ1w0quzbCvscjFeo0Vm1eDj3Vhx0d/O/5/5nilhpvijR9M+Gl1D4bvLt9LtWXUIB8rwgwMv/AH1k8Dua2bLS9U8deK9S1zUNHvNE03+yX0y0jvY9lw7Pu3yFc8LhsDntXqVFOSU783n+N7/mwWjuvL8NvyPnrRfAmhWdnDoGqfB6a/1qM7DdK7iwmGeHMufl47bTXpPgnSL6w+J/i+8k0+W3sLi3sEtZCPkfYsgYKe+Mj867yirU2r+f/A/yJcVscx8UfDs3ijwVe6TbMguSY5oN5wpeORXUH0BK4/GuM1658TeO9P07wu3hbUtGeO7t5tTvLpMQKIXVyIW/5abiuAeMZr1qioWj8r3+f9bl3elt/wDP+tDgbPSdRj+Od3qv2KcacdCgt1uSvyGRZJCVz64I/OtL4w2N9qXwx1+x021ku7ya0ZYYYxlnbIwBXWUVLjeHJ6/i2/1LhUcKiqLpb8El+h474iPibxl4d07wPL4T1HTZGaBtSvJh/o0SRkMRG/8AGSVAxgU34q+G7q/+Knh62sLhVtdXRYtVg7tHAwmR/wA41X8cV7JWFpXhTStP8R3niFTc3Go3S7DLczGTykznZHn7q57CtOe80/Nv52sY8to2Xa3/AAfX/gHMfEmz1K08aeDvEVho93qVnpks8VxFZpvkRZI9isF9ATz7Vy3jPwVpdt481HxDrngO78UadqiRsj2Ss9zbygEFWjDD5cbec+te20VL1tfpf8f+CV/wPwPLrXRbjRvAAj8PfD+xtLSa8Mt7o7yF5JoCDlhnpL045+tV/hfpFzb+OJdQ8P8Ah7VPDHhg2bJPY36mMzXJZSHWMk4AG7nPfpXrNFNO0ub+trf15iavG39b3OQ+MGl6hqngW7/siF5tTs3jvLONPvPJE4cKPrtx+Nef+KPB3iiP4aaA2l2ssmvsZIb4KMMi3ZxKx/3A36V7fRUpWv6p/wBeq0fdFcz08r/18una7OD1zQ7qHxH4JWxs5ZLXTzIszovyxDamCfrg03VtL1KT46aJq8djO2nw6NdQyXIX5EdpIiqk+pAP5V31FVF2lzebf3qxLircvkl9zueZeBbHVrP/AITDwveaPewtc3N3dW16Y/8ARplmZiqh/wC8NwyMdjWJP4Z1Txd8GV8M3Xh+6tdQ0m6jY296PLivPKlD4Rx1VwMbu2a9ooqFGyXkl/5Lsy3JuTl5t/fueOeBfDPhhvEtjcaf8JrvR7m0O+a8vi8awuO8WSfM578VtfDnR9Wsfh54gsrzT7iC5nvbt4onXDOrAbSPrXpNFOS5r+jX32/yIirNPs0/uv8A5nK/COxvNO+F3hvTtRtpLW6g0yCKaGQYaNggBUj1Fcloc3iD4ejVdBj8KalrEFxeT3Wm3Nim9CZWLlZj/wAs8MxGeeBmvV6KupN1Jyk+t7/PUIrlio9jxr/hC9d0vwv4NsWtnvLuHXhfXxgGVhDzbz+Cg4z7V1niLTNQn+MfhXVIbOaSxtrG9SedV+SNm8vaCfU4OPpXc0UQfJLmXdv748v4JA7yu291+rf5s5v4i/2t/YGdL0m21dPMH2uymHM0ODuCf7XTFcH4A0G4PjKe48O+HdV8LeGZLCSG7s79TH51wxG11jJOMDPOfwr2CioUVrfr+qt/XmVd6HhFz/wlmn/CbXPh9B4J1W61IQ3ccNwgH2aaORnYMsnd8N93HXjNdF9h1jwn4h0zxbDod9qlvPolvp9/bWib7mFo8kEJ/FyxBGRjFeq0VfO7ef8AwLCsrW6f8FP9DzTxFp3irxz4K1QXOmxaXL9oSbSbWfIkwnIMv90nPTtjvWlpfijxPr2pWdnbeE7/AEiFH/4mU2pRbV24PywkH5+cc8cdq7mipsvl/SE116/1/SPn1Ph/oug6jqtjrvwyvPEk11ez3Flf2e9kkWVy4WbDAR7d23ODwM12fiXS307w9o+myeAYNR8MrAVu9LsgZp7Vzkgx9NwyeenevT6KOlv60Kfxc3r+J5L4L0rxVp/hzxFJoejm1sJXDaNo2rMcooHzqw/gDcYBzjFUfDGj3EnjnTL/AMJ+D9V8JRxys2ttdoY4bpMfcRcnec8hhjGOle0UU07SuTb3bBRRRSGFFFFABRRRQAUUUUAFFFFABRRRQAUUUUAFFFFABRRRQAUUUUAFFFFABRRRQAUUUUAFFFFABRRRQAUUUUAFFFFABRRRQAUUUUAFFFFABRRRQAUUUUAFFFFABRRRQAUVy/xQ8baT8PvCM/iPWFkeCN1jSOP70kjZ2qPrg1l/Bj4oaL8UNEudQ0q3uLSW0kEdxbTEFoywJXkcHIBoA7yiiuO+JfifWPDraNBommwahc6ld/ZxHK+3HHDZyOnek3a3yX36Dtv/AFsdjRXAap4o8V2smleGoLHSp/Fd7E80xG/7HbRqfvNzuPpgHkg1lat4o8Xah4a8SaIIdKsPEukIrXDN5pt5YHDbZItrbgTtOMnjvSk7Rcu1/wANH+P9aDiryS/ry+//AC7nqlFeR6D4r8VeH/h94HfVF0u9n1a5t7Xenm5ELQswZixyZPlGT0612+seIrqy8e6N4fjgha3v4ZZJJGzvUorEY7dqua5JNebX3K/5GSn7ik+qT+92/M6WivL/AAd428a69pl9rkukaRa6TZfa0LF3MkzRFghUbuBwM5564rOT4j+OI/A1j48vNC0iLQ9oa8t1dzc7NxBkQ7toHsRmlH3mkvL8b2++xpNOEnF7q/4bnsNUW1nR11IaY2q2K3x6WxuEEp/4BnP6UusXZt9CvL6M4Mds8q/UKSK8b03w3pF78BZvFU9nG+uT2b6r/aBz56zf60ASfeC5425xjilfV+Q1HmSt1PcaKx/Bd9Nf+DNG1K7YGa4sIZpW/wBpowSa4m38a+Ntb0+68SeGdE0uXQLd3WOK5ZxdXqocM0ZBCryCBuHaqmuSTi+m5ELyimup6dRXmWs/EnUJr3wenhXS7fUIPEcMzgzsUaHZsweo4G45HXpitfwV4l8Q3HirUfC3iqz0+O/toVuIZ7Dd5M0RwDw5LAgkUWd7PfX8NxvRKXf9XZfidtRXF/E7xVrPhufQbbRNMt9QuNVvTamOVyu0eWzBgcjoRz7Zqlf+KPF8V1pvhe1sdIm8VXMDXN0/7z7HaxbmCsRnec4xgHrSWq072/C/5FOLVr9r/jb80eg0Vwej+NtW/srXYdW0J5de0XHmWlgCy3QYfI8eckBsEc9MVWg8W+L9G8RaNZeMNO0lLTW5jb2psN/mW8u0sEk3EhuAeV44ppXdkQ3pf+tNz0WoZbq1iuIraW4hSebPlRs4DPgZO0dTgelcNfeKPF2r65qdl4M0/SmttJfy7ifUC/7+TGTHGEIwR0yeM1yHi3W9W1Tx18ONUtNBmg1R5L2I2d2PL8pxFIjMc4ygwW46jp1pQ95rz/ybX32/Ub0T8v6se3E4GTwKbHIkiB43V1PRlOQa4Twz4o8QS69rPhfxVY6cuoWdmt5HNYlxBNC5YAYYlgQVOa5Pw3461PTPh74FfQ/D1m763cNAbQTyERcnlXdif++iaOl/T8W0vyBu2/n+Cue00V5/ofjDxBZeLrvw34ytNNSVdPk1G2udP3+W0KFQ4YOSdw3D2rFm8e+PZfCN542sNA0d9ECNJaW0kji6ePOBKzbtu0j5tuM4o6X6f0vzTC39fj+R61RVPRLxr7RLG/lVUe4to5mC9AWUE49ua88l8ceMNSsr7xJ4a0XTbjw7Yu67Z2cXV6qfeaIg7VHUfMO1EvdbT6BH3kmup6fRXmmp/EDXLvxfoOi+FtNsbqDWdKlvknuWZfJKlACwBGV+bkDnpVnQPHmoW9n4mh8XWVrBqHh0I07WRbyZ1dcoU3EkZ4HPrTacU2+l/wAHZ/iCd7W8vx2O9urm3tYvNup4oI9wXdI4UZJwBk9yeKlrw34i6t431TwPp+oa1pGlQ6Xf6np8sMcDt59shuI2Uy7iVYnj7o4zXtN3dQWOmy3ty+yCCIySN6KBkmh+7BylpZtfck/1GtbcutyzUF/e2en2zXV/d29pAv3pZ5AiD6k8V5p/wnHjf+wD40/sHTR4aA8w2m5zf+Tn/WZB2e+3GaxPjCde8QeL/BUOmvoF3od9cCWCG9jlZZW2EnzQpwy4PA9etS7ppeaXpcV1Zvyv6+n3ntVvNDcQR3FvLHNDIoZJEYMrKehBHBFU31rRk1Iaa+rWC3x6WxuEEv8A3znP6Uy6hvbXw60Gkx2EF3FbhYEZCLdGA6bVwQvoBXgfgFdQ0X4Z3vjzV9I8OalqKX8pt7kxym4MgumRt7sfujHygY4AzVaXfZW/H/hhN2in1Z9EfarX7X9j+0Q/adm/yd437fXb1xweamry20nEnx/F5KFUt4YhkYjtmSUmmt4/8X3WizeMtK0PTpvC0TErE7OLy4iBwZUOdoHsRnilsk3538rNr9P6sU1rZeX4xT/U9UoqDT7uG/sIL22bfDPGskbeqkZFT02mnZkppq6CiiikMKKKKACiiigAooooAKKKKACiiigAooooAKKKKACiiigAooooAKKKKACiiigAooooAKKKKACiiigAooooAKKKKACiiigAooooAKKKKACiiigAooooAKKKKACiiigAooooAKKKKACiiigAooooAKKKKACiiigDA8f+ENF8ceGZ/D+vQvLZzENlGw6MOjKexGTWd8K/hz4b+G+jTaZ4djuCs8gknmuHDSSkdMkADjJ7V2FFABXGfEOwvrzX/Cc1paTTx2+oF52jXIjXb1b0FdnRStqn2af3O4dGu6a+9WPJvi/4Pt73xjpvijUPDd14h02K2a2u7e0kkFxFzlXRUIL9Tke1TeDfDOkroHiGbw74Iu/D5vrYRxvfSyC4ucBsBkkJKYzxz3r1OilyrkcO9/x3K5veUvT8Dxa4stc1T4U+FpovDeqRal4ZuYHnsJ4jHJMY0Mb+XkfOPmJBHXFa9tf6x4k+Kvh/V4/CusafpNvazq1xfQGJw5VhtZDyo54PevUqKuT5pOT7t/NqzMnD3FHtZfJO6PNfh5pOqWfwl1TT7vT7mC8ke9KQSRkOwZ3K4HuCMfWsrWdD1qT9mM6JHpV4+qf2fs+xiI+bu3Hjb1zXr9FKHuS5v8P/AJLf87ms5c0+fzk//Amn+hUuLX7Vo8lm+V86Axn2yuK8ggbxNYfD6b4ZL4V1WXUPLawgvlhJs2tydokaXGAdnO314r2qila7b7kxfLFJdDN0PSl07wvZaKz71t7OO2LDvtQLn9K8x8MXniXwP4Tk8Ejwjquo30DSpp11bRFrWZXYsrSSYxHgsQQc9K9gopzbm5X+1v8A18394R91JLpsePaX4O1fQdd+Gtj9nmvI9KtbpLy6jjzHGzeWRk9s4OPpXW2dhfL8ZbzUms5xZNpIjW4KfIX3p8ufXg12lFOTcpKT6Nv701+opLmjy+n4O5w/xJ0+/vfE3guezs57iK11R5Lh40yIk8hxub0GSB+Nc18WfBtrdePLPxZqXhm88RaZ9h+yXMFlJJ9ogIZmDqkZBfO7BHbFeu0VKVvvv96saObf3W/Fv82eO2fh2a08CeIrv4e+ELzw1qN2irC1zM4urlVz1WQkxnk4znrXOp4ct7jxj4P1jw/8O9f0422rK2o3t95wdf3bg/u3JBQn+MYHT1r6Eoq4y5Z8xm17tvX8Ty6wuNV8A6/r9ufDWratZapdteWU2nwNN+8fJZJMfcG49TxikvbLxTqPj/4f6vq2klJIGvGvDbKWitlaJxGGb15UfWvUqKVN8lvLT5Wa/Ictebzv+JwMmm6ifi7rOofYbj7HLoEMMc+w7GkEkpKA+uCOPeuK8J+Hdft/Cfwut59GvoptPvWe8RoSDbrk8uOwr3OihOyS9Pwbf6hU9/8AryS/Q878S6Hf6j8XIZltJxYS+G7y0e6Cfu0keSLCk+uATj2Ncbqus67oPwgvvBt94U1P7Zp9obUXhTbZyQqdqyCXGNxXB29c8V7q6qylWGVIwR6iuJl+GOgTX6yz3usTWKzCYaW92TZhw24Hy8evPWk7tKHT/gt/q/61Kv1/rZL9DovCiBvCOlRtnBsIQf8Av2K8N03wFoXh9LnRdf8AhvrOt3xnka1vLKS4a3uUY5BkZWCxHJIII7V9DKqqoVQAoGAB2FLTl703LuRC8YKPax5fpvh260/4s+GJLLQpbHSbLw9cW2I8vDbsXiKx7+54P1waZf8AhfVNW8Q/ES3FrLBHqMFp9jnkXEcromcA9/mABr1Oiib548r7Nfe3L9Sovl28vwt/keJ+K9U8T694J0zw6ngfW49QtL2xW+kaAiFRHNGWeNsYkX5c8dB9K9a8RaWmteGr7R5WKJeWrwMfQMuP61pUUp+/Fxl1u380l+gQbg48vTY8dOo+Lf8AhAj4CXwjqS655H2MXfkk2AXp5nm9On8PWtbXPDl9Za/8PLWztbi7ttKlKTzomVjURkBmPbJr0yih6y5nu2m/le35v7yHBW5Vsk0vnb/JDJwTC4AySpx+VeLx6Brn/DPM+j/2Pe/2ib+dxa+UfMKm8dgdvoVIP0Ne10UfZce9vwv/AJlPU8ztdF1KT4ui6lsLlLB/DUVq1wUOwSbpMpn+8Mjj3rgNA8A6FoemJ4b134Y6xq+rRMY47u3muPsd0ueHdw2yP6Edq+i6KP6/Fv8AVjb/AE/BJfoVdHtYrHSrWzgtltYoIVjSFW3CMAYCg98Vaoopt3dyYqysgooopDCiiigAooooAKKKKACiiigAooooAKKKKACiiigAooooAKKKKACiiigAooooAKKKKACiiigAooooAKKKKACiiigAooooAKKKKACiiigAooooAKKKKACiiigAooooAKKKKACiiigAooooAKKKKACiiigAooooAKK5r4l+NNH8A+FJ/EWtGQ28bLGqRjLSO2cKPc4NZnwe+Jug/E7RLjUdGiuLd7WQR3FvOBvjJyVzjI5welAHcUUVx/xJ8Uar4bbR4dH0uLUrnUbr7OI3k2Y44Oen1pN2t8l9+g7b/wBbHYUVwWp+KvFFqdK8PQ6Zpk/iy+jeaRBI/wBkto1P3nb72PpySDWVqvivxbf+GPEekR2emWHibSFVrkPJJ5DwuG2yRMvzZO04z070pO0XLt+mn5jiryUf6/r+up6lRXkugeL/ABToXw/8Ey6xDpt5catcwWnmRySkiJoWYOxbkyfKM9uTXbav4iuLLx3o/h5LeJoL+GWR5STuUorEY7dqua5JNebX3K/5GSn7ik+qT+92/M6SivMPCHjrxhr2nXutPoWmWuk2X2tGkaZjJM8RYIUA6KcDOffFZ8fxK8Zp4KsfHV54c02HQSoa8iE7G5CbiDIgzt2+x5pR95pLy/G9vvsaTThJxe6v+G56/RSRsHRXXowyKz/EmnXOq6RLY2uqXGmPLgG4gVS6rnkDPTI4z1GaHcSsy+kkbs6pIjMhwwByVPofSnV5T8ArFdM1fxzpsdxdXEdvrSqj3M7SyH9xGTlmJPUmu+8Z+ILXwv4cu9au45JUgXKxR/elbso9yac7RSfdJ/ek/wBR2fM49m19xsUV50vjDxdol1p914y0fTLbSdSnWCOSykd5LV25UTZ47HlcgVC/jPxpqfjHxN4b8OaJpLHRjCUuryZxG4dSSrBed3HGOPWl/X3W/wA0L+vvPS6K5z4c+JW8VeGY9TmtDZ3KTS29xDnISWNyjYPcZU4rM8R+KNen8USeGfB1hYXN9awrPeXF+zrBCGJ2p8vJY4/UUS912BbHbUV5fqnxO1G38FpqlvoSvrEOsR6Te6e8mNsp67Wzg8EEEnHNTax4v8d6VNoumTeH9KuNW1WSYLFDOwjhRduwsSfc5x7Yoen9d7f5js0rvz/A9KorgtT8U+Km1Oz8L6Ppulz+I/sgub+WaRxZ2w4GMj5ySSMY7VXPxB1C28K+KJNQ0yCDxD4dtnlnttxMMuE3qyHqUIx7ij+vu0C2qX9anotFcv8AD3VvE2t6Yup69pdlp0FzDHLbRRSl5AGXJ39vpjtXUU5RcXZkRkpK6CiiikUFFFFABRRRQAUUUUAFFFFABRRRQAUUUUAFFFFABRRRQAUUUUAFFFFABRRRQAUUUUAFFFFABRRRQAUUUUAFFFFABRRRQAUUUUAFFFFABRRRQAUUUUAFFFFABRRRQAUUUUAFFFFABRRRQAUUUUAFFFFABRRRQAUUUUAFFFFABRRRQAUUUUAFFFFABRRRQAUUUUAFFFFAHO/ETwdo3jvwvP4e12N2tZWDhozh43HRlPqMms34S/Dbw98NNFn03QftEn2iQSTz3DBpJSM4zgAcZPau0ooAK4v4i2V5deIPCctrazzxwaiXmaNCwjXb1bHQV2lFK2qfZp/c7h0a7pr71Y8l+L3hO3uvGmm+KNR0LUda0uO1a2uo9PmmW4h5yrqsTBnHJyB6VL4O8NaONB8RXPhvwjqmkNfWwijl1KeYz3WA2AUlJZMZ4z616rRS5FyOHe/47lc3vKXp+B4pc22rap8J/ClxB4e1ZL/w1c273NhNbtHLIY4zG/lgj5x8xII644rXt9T1LxL8V/D2q2/hnWrLSre0nVrm9tWhIcqw2lGGV+p616pRVyfNJyfVt/NqzMnD3FHtZfJO6PM/h1pmpWvwj1SxutPuoLp5L4pDJEVdtzuVwDzzkY+tZWs6Pq8n7L50ePS71tS/s7Z9kELGbdvPG3rmvYaKUPclzf4f/Jb/AJ3NZy5p8/nJ/wDgTT/QqT2cN9pJsbtHMUsQSRQ5Q4x6ggj8KzfCPhLQ/CkM8WiW9xCk7BpBNdyz5IGBgyM2Pwrdoo6t9yErRUex578J9P1Cy8T+OpryxuLaO61lZLd5YyolTyIxuUnqMgjI9K1vixoF54i8Gz2emqj30MiXVtG7bVeSM5VSfQmusoolqorskvuSX6FX95y73/E8m8Rajq/j+20zw3Z+G9Y0zZdxy6ncX1o0UcKJ1EbMAJCT0K+la/gDT9Qtvid4+vLmxuYba6mtTbyvGQkwWNgdp74PpXoVFNO3Nbrf8bf/ACKJt+n4X/zOI+DFje2Hhi+hvrSe1kbV72RUmQqSjXDlWAPYggg1xnjzwjptp8RtQ8Q+IPDet6xpeowR7ZtJluTLDKvBVooGBKkAHOO9e1UUpe9JS7f5WLbu5ebv+NzxW98MQ2/grTV8OeENS0tJvEttdSQSySTzOgPMz7iWT3B6YrtvFlleTfEbwrdQ2k8lvAs/nSqhKx5243HtnFdpRQ9/nf8ABL9BN3jb1/F3PONdW+8I/Em78Vro9/qelapaJDcmxhaeeCVMBcRrklSAegrB1XSde1zw78QPE0uk3du+raY9rptg0R+0Mix4BZOoZmBwvXkV7LRSiuW3le3z/p/IG7yv6fht+RmeEopYPC2lQzRvHKlnEro4wVIQZBHrWnRRVylzSbJiuVJBRRRUjCiiigAooooAKKKKACiiigAooooAKKKKACiiigAooooAKKKKACiiigAooooAKKKKACiiigAooooAKKKKACiiigAooooAKKKKACiiigAooooAKKKKACiiigAooooAKKKKACiiigAooooAKKKKACiiigAooooAKKKKACiiigAooooAKKKKACiiigAooooAKKKKACiiigAornPiN4y0bwH4Wn8Ra5JItrEwRVjGXkc9FX3ODWb8JPiV4f8AiZos+paELiI20gjuILhQJIic4zgkc4PegDtaKK5H4keKtR8MnSItL0kancajdfZ1i8zYQccHPTHrSbtb5L79B23/AK2Ouorg9T8W+JLRdK0KPR7CbxZfxvK1us7fZbdFPLO+N2OewJzmsvVPF3iq+8L+IdNt9P0+x8T6Sqm6jkuJBCYXDbZYnUbjnacZA6c0SdouXb9BxV5KJ6hRXk+geMvE+i+AfBc+t2mn3Vzq9xBaeZHcSOfKaJmEjFhkyHaMjpyea7XVvEU1l450fw6trG8V/DLI8pYhkKKSAB36VU1ySa82vuV/yM1L3FJ9Un97t+Z0dFeZeEfHvivXrC91j/hHLG10my+1JJM9yS8rxFguwAfdOBnOMc1nx/E7xYvg6x8cXfhayh8PsAbwfaSblF3EeYi42lfqQfalH3mkvL8b2++xc04ScXur/hueu0UiMHRXXoRkVn+JNPvNT0iWysdVm0uWTA+0woGdVzyBnoSMjPbNDErMvq6MzKrKSpwwB6fWnV5V8A7RtO1bxzp32y8vFt9aVVlu52lkP7iMnLMSepNd94w1+z8MeHbvWr5ZJIrdMiOMZeRuyr7mnO0Un3Sf3pP9Qs+Zx7O33GvRXncfjTxTo95p8/jHQbCx0rUplggmtLhpJLd25UTAgAZweVJFRS+NvF+oeMPEvhvw74e06aTRjCVubu5ZInDqSVO0EhuOMDHqRS/r7rf5oP6+89Jornfh54l/4Svw1Hqj2jWc6yyW9xATnZLG5RwD3GVOKxvEfi/Xn8ZTeFPCWmadc31rardXL6jcNFHtYkBU2gsW49Me9ElyuzBaq/8AXY7pmVcbmAycDJ60teX+LvE0tz4f8K3mq+Hrm1u7nXre1ktpLlomgkyRvBQ/OPY8HvWnqPi7xHfeLb3Q/CGjWV5HpQT+0Lm9naNdzZxHHtBJbg9cD3ptW/rsk/1C/wDXza/Q72ivJ5Pirq0fgFvET+G1F4utPphsfO+biUpnPTdx649629N8X+I7XxxYeH/FGi2VpFqySNp01rOZCCilykoIGG2g/dyPeiK5m0v60T/JhJ8u/wDWtvzR3tMeWJJFjaRFd87VLYLfQd64HXPF3jDztUu9B8MW8ulaUzLO97K0U1ztUMxgUAgjBxliOQaxte1a11/4ifDPWbRWEF3BeSoHHIBEXFKPvNJeX43t99h2tdPs39x6yzKqlmIAHc0o6VyXxgv49L+HGr301qbtI0TMImaLdmRR99eR17Vgz+NfEEfi6z8HeH9BtbmSTREvY57i5YJEcqMSHBJXnqMnPaha3X9bN/kgaslL+ui/VHpdFeXXPjDxTq/gDxRHa6dYWHiPRi9vdo9w4hX92H3xOo3Z2sCMgc0vh7xhr+ifDTS73xFaWt7q9/Iltp0FnO8jXDNwu9nAwc9T0Ao6v5fPm2F2+f4HqFFcNoni3X7fxD/wj3i3SbKzv57SS7spLKZpIZVTG9SWAIYbl7Y5rM8OePPFWqeGb/xNceHLOz0u2s5pYy1yTJLKnTAA4Q4PJ59qV1+FxpNnplFeVr8RfFcPw6HjPUPDdja286WbWsBuSXbznRWLYGABuJHfpnFdb4n8TT6RN4ejjtY5Rq13HbyFnI8sNjkevWqknF2fdL5vQjmXLzdNX92509FeaL408b6rq/iLT/DnhvTJhot6YPNu7pkW4UKDhdoJ3898DpzWF8QvGvibW/hjaa54VitbA/algv0uLmSOe3mVwDGDGCCM5B5pR961utvxLmuS9+l/wVz2iiqmjNqTabA2rx2sd8V/fLauzRBv9ksASPqKt02rEp3QUUUUhhRRRQAUUUUAFFFFABRRRQAUUUUAFFFFABRRRQAUUUUAFFFFABRRRQAUUUUAFFFFABRRRQAUUUUAFFFFABRRRQAUUUUAFFFFABRRRQAUUUUAFFFFABRRRQAUUUUAFFFFABRRRQAUUUUAFFFFABRRRQAUUUUAFFFFABRRRQBzfxJ8F6P4+8KT+HdbWT7NIwkV4zho3HRh7jJrM+EHwz0H4ZaLcaboslxO11IJLi4uCN8hGQM4AHGT0FdvRQAVxXxGtbq48Q+EZLe1mmSHUS0rRoWEa7erEdBXa0Urap9mn9zuHRrumvvVjyT4v+GIZfG2m+KdS0zV9Q0lLVrW6/su5mjngOcqwWFg7g5OQM9Kk8HeHdGbQvEl54a8O65ZtfWoiS41W5naW6wGwNkzF0xnuB1r1eilyLkcO9/x3K5veUvT8NvyPEbqPUNV+E3hO8ttD1UXfhq6t3vLGS2aOVjHGY32Bh84G7IK5zjitm31i58T/Fnw7qVjoGsW+lwWk4a7u7R4PnKsNpRwGX6nrXqtFXJ80nJ9W382rMycPcUO1l8k7o8x+HGn39v8INUtLixuYbl5L7bDJEyu26R9uFPPORisnWtL1N/2WzpaabeNf/2dt+yiFjLu3njZjOa9kopU/clzf4f/ACW/53NZy5p8/nJ/+BNP9CpNZxXukmyufMEcsQR9jsjYx2YEEH6Vm+EfCmkeFoZ4tJN+VnYM/wBqv5rk5AxwZWbH4Vu0UdW+5CVoqPY88+Etje2nijx5LdWdxbx3GtLJA0sZUSr5EY3KT1GQRkela3xa0G98Q+DJ7XTY1lvoJUureJn2iR4zkKT7+9dbRRLVRXZJfckv0Kv7zl3b/E8l8Satf/EC10zw1pmg6tYyLdxy6nNe2bxR26JnIVmAEhJxjbmtb4fWV7b/ABQ+IF1cWdxDBcTWhgleMqkoEbA7SeGx7V6JRTTtzed/xt/8iibfp+F/8zhvgraXdn4Xvory1ntpG1i+dVljKEq1w5DYPYggg1h/EldLk8Tuvivwpqk1p5S/YNV0VLhpye8b+QdwAPIz8vNeq0Upe80y27uT7tv73c8Ov9P8XXXgrwcusWt/dXEPie3lQPHvmitQflMu0cEc5J9s10Nvf3fgbxvr4vtF1S9sNamW5srmytHnHmYO6N9gOzqMFsCvUK5XxL4Lj1jUJL618Ra7o0kyhLgWE6KsyjOAwdWx1P3cGiTe3r+KX+Sd+/QhRX9er/zaseR6bHqGsfDNpbfTbkzt4zmlkgjXzWiAuWznbnp3PSvSvHFneT/FLwHdQ2k8tvbz3ZnlSMlIgbdwNx6DJOOa6vw3ouneHtHh0rS4PJtohwM5LMerE9yTyTWjVxkoSuu7f/kqj+lwlebcn1/zb/U8E8Q21zql7r9j4u0HxXqmtebINMjsZ7iC0eDaNo3xMsY5zkPk1d8Mabqf2j4TyNpd/ElpZXS3PmW7g25Pl4D5Hyng9euK9uoqKfuJL0/BNfjfXzG9ZN/4l/4F/l0OK+OVrdX3wr1q1sraa6uHSPZFChd2/eoeAOTxWL4c0+/j+NNveSWNylqPCscJmaJggk8xDs3dN3HTrXp9FOD5G3/WzX6jk7xUf63i/wD208y0fSdSmvPidCLOdDf3BW1aRCqy5tUXKk8EZ4yPSuZ1bSbjxZ8MfD8i6HrBm8P3i/bbBvNs53VT8/lP8pPGCCpwc17nRUcv/tv/AJLsEnzO/r+KSf5Hj/gbRfCc/iI6loPhnxUJra0mT7dq1xdgQswH7tY7hstnHVRjitTw/YX8fwFvLGSyuUuzYXCiBomEhJBwNvXNemUU2r/dYIuzT7Hl+teH9T1T9nvTNJgtJvt8GnWMv2ZhsctF5blMHoflI571mar4gu/FGq+C49O8M67HFZ6hE17Nc2UkIt2XbkYYAsMj7w4969joq5S5qjm+6l807kON6fs/Jr71Y8Y8K+LE8N+JvHf2nRtWvIn1p/JextXuN77F+QhASvb5jgc1BceGvEFl8EdRlm0ueTU7zVG1aWxiw0iB5Q5QAdWA7CvVfDvh2y0O91a7tJbh31S7N3OJGBCuQBhcAYHHvWzUwbjFd1b8LP8ANGtVqcn2d/xVvyZT0TUItV0q31CCG5hjnQMqXELRSKP9pGAIPsauUUU3uZrYKKKKQw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//9k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5900"/>
            <a:ext cx="9189649" cy="475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905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from Descriptor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80929"/>
            <a:ext cx="9356923" cy="51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735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Inter-Process Communication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954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/>
              <a:t>Pipes​</a:t>
            </a:r>
          </a:p>
          <a:p>
            <a:pPr lvl="1" fontAlgn="base"/>
            <a:r>
              <a:rPr lang="en-US"/>
              <a:t>Anonymous Pipes (Used for IPC between processes having same ancestor)​</a:t>
            </a:r>
          </a:p>
          <a:p>
            <a:pPr fontAlgn="base"/>
            <a:r>
              <a:rPr lang="en-US"/>
              <a:t>Named Pipes (FIFOs)​</a:t>
            </a:r>
          </a:p>
          <a:p>
            <a:pPr fontAlgn="base"/>
            <a:r>
              <a:rPr lang="en-US"/>
              <a:t>Shared Memory​</a:t>
            </a:r>
          </a:p>
          <a:p>
            <a:pPr fontAlgn="base"/>
            <a:r>
              <a:rPr lang="en-US"/>
              <a:t>Sockets​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0312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30" y="2657388"/>
            <a:ext cx="10515600" cy="1325563"/>
          </a:xfrm>
        </p:spPr>
        <p:txBody>
          <a:bodyPr/>
          <a:lstStyle/>
          <a:p>
            <a:r>
              <a:rPr lang="en-US"/>
              <a:t>Lecture#9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894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Anonymous Pipes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019865"/>
          </a:xfrm>
        </p:spPr>
        <p:txBody>
          <a:bodyPr>
            <a:normAutofit/>
          </a:bodyPr>
          <a:lstStyle/>
          <a:p>
            <a:pPr fontAlgn="base"/>
            <a:r>
              <a:rPr lang="en-US" err="1">
                <a:solidFill>
                  <a:srgbClr val="FF0000"/>
                </a:solidFill>
              </a:rPr>
              <a:t>int</a:t>
            </a:r>
            <a:r>
              <a:rPr lang="en-US">
                <a:solidFill>
                  <a:srgbClr val="FF0000"/>
                </a:solidFill>
              </a:rPr>
              <a:t> pipe (</a:t>
            </a:r>
            <a:r>
              <a:rPr lang="en-US" err="1">
                <a:solidFill>
                  <a:srgbClr val="FF0000"/>
                </a:solidFill>
              </a:rPr>
              <a:t>int</a:t>
            </a:r>
            <a:r>
              <a:rPr lang="en-US">
                <a:solidFill>
                  <a:srgbClr val="FF0000"/>
                </a:solidFill>
              </a:rPr>
              <a:t> </a:t>
            </a:r>
            <a:r>
              <a:rPr lang="en-US" err="1">
                <a:solidFill>
                  <a:srgbClr val="FF0000"/>
                </a:solidFill>
              </a:rPr>
              <a:t>fd</a:t>
            </a:r>
            <a:r>
              <a:rPr lang="en-US">
                <a:solidFill>
                  <a:srgbClr val="FF0000"/>
                </a:solidFill>
              </a:rPr>
              <a:t>[2)​</a:t>
            </a:r>
          </a:p>
          <a:p>
            <a:pPr fontAlgn="base"/>
            <a:r>
              <a:rPr lang="en-US"/>
              <a:t>Creates a pipes and places the descriptors of write &amp; read ends to </a:t>
            </a:r>
            <a:r>
              <a:rPr lang="en-US" err="1"/>
              <a:t>fd</a:t>
            </a:r>
            <a:r>
              <a:rPr lang="en-US"/>
              <a:t>[1] and </a:t>
            </a:r>
            <a:r>
              <a:rPr lang="en-US" err="1"/>
              <a:t>fd</a:t>
            </a:r>
            <a:r>
              <a:rPr lang="en-US"/>
              <a:t>[0] respectively.  ​</a:t>
            </a:r>
          </a:p>
          <a:p>
            <a:pPr fontAlgn="base"/>
            <a:r>
              <a:rPr lang="en-US"/>
              <a:t>On success zero is returned. -1 is returned on error.</a:t>
            </a:r>
            <a:r>
              <a:rPr lang="en-GB"/>
              <a:t>​</a:t>
            </a:r>
          </a:p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068" y="4042775"/>
            <a:ext cx="66198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696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Fork()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812" y="1825625"/>
            <a:ext cx="4010025" cy="4352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062162"/>
            <a:ext cx="5388711" cy="392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483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Synchronization mechanism in Pipe​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31923"/>
            <a:ext cx="10515600" cy="284504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/>
              <a:t>Read() is blocked if pipe is empty​</a:t>
            </a:r>
          </a:p>
          <a:p>
            <a:pPr marL="0" indent="0" fontAlgn="base">
              <a:buNone/>
            </a:pPr>
            <a:r>
              <a:rPr lang="en-US"/>
              <a:t>Write() is blocked if pipe is full. (Pipe has limited capacity e.g. 4KB)​</a:t>
            </a:r>
          </a:p>
          <a:p>
            <a:pPr marL="0" indent="0" fontAlgn="base">
              <a:buNone/>
            </a:pPr>
            <a:r>
              <a:rPr lang="en-US"/>
              <a:t>​</a:t>
            </a:r>
          </a:p>
          <a:p>
            <a:pPr marL="0" indent="0" fontAlgn="base">
              <a:buNone/>
            </a:pPr>
            <a:r>
              <a:rPr lang="en-US"/>
              <a:t>Read() on a pipe whose write end has closed returns 0 (EOF). ​</a:t>
            </a:r>
          </a:p>
          <a:p>
            <a:pPr marL="0" indent="0" fontAlgn="base">
              <a:buNone/>
            </a:pPr>
            <a:r>
              <a:rPr lang="en-US"/>
              <a:t>Write() on a pipe whose read end has closed generates a signal named SIGPIPE</a:t>
            </a:r>
            <a:r>
              <a:rPr lang="en-GB"/>
              <a:t>​</a:t>
            </a:r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615" y="1359129"/>
            <a:ext cx="3395793" cy="197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7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Closing un-used ends of pipe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7318"/>
            <a:ext cx="5699276" cy="4875800"/>
          </a:xfrm>
        </p:spPr>
        <p:txBody>
          <a:bodyPr>
            <a:noAutofit/>
          </a:bodyPr>
          <a:lstStyle/>
          <a:p>
            <a:pPr fontAlgn="base"/>
            <a:r>
              <a:rPr lang="en-US" sz="1800" b="1">
                <a:latin typeface="+mj-lt"/>
              </a:rPr>
              <a:t>When a process is terminated, all of its descriptors are closed.​</a:t>
            </a:r>
          </a:p>
          <a:p>
            <a:pPr marL="0" indent="0" fontAlgn="base">
              <a:buNone/>
            </a:pPr>
            <a:endParaRPr lang="en-US" sz="1800" b="1">
              <a:latin typeface="+mj-lt"/>
            </a:endParaRPr>
          </a:p>
          <a:p>
            <a:pPr fontAlgn="base"/>
            <a:r>
              <a:rPr lang="en-US" sz="1800" b="1">
                <a:latin typeface="+mj-lt"/>
              </a:rPr>
              <a:t>Writing to pipe whose all read ends are closed throw a signal SIGPIPE​</a:t>
            </a:r>
          </a:p>
          <a:p>
            <a:pPr marL="0" indent="0" fontAlgn="base">
              <a:buNone/>
            </a:pPr>
            <a:r>
              <a:rPr lang="en-US" sz="1800" b="1">
                <a:latin typeface="+mj-lt"/>
              </a:rPr>
              <a:t>​</a:t>
            </a:r>
          </a:p>
          <a:p>
            <a:pPr fontAlgn="base"/>
            <a:r>
              <a:rPr lang="en-US" sz="1800" b="1">
                <a:latin typeface="+mj-lt"/>
              </a:rPr>
              <a:t>Reading from a pipe whose all write ends are closed return EOF or 0 instantly preventing it from getting blocked. ​</a:t>
            </a:r>
          </a:p>
          <a:p>
            <a:pPr marL="0" indent="0" fontAlgn="base">
              <a:buNone/>
            </a:pPr>
            <a:r>
              <a:rPr lang="en-US" sz="1800" b="1">
                <a:latin typeface="+mj-lt"/>
              </a:rPr>
              <a:t>​</a:t>
            </a:r>
          </a:p>
          <a:p>
            <a:pPr fontAlgn="base"/>
            <a:r>
              <a:rPr lang="en-US" sz="1800" b="1">
                <a:latin typeface="+mj-lt"/>
              </a:rPr>
              <a:t>Writer/Reader process’s own unused pipe end will prevent it from throwing SIGPIP/returning EOF. ​</a:t>
            </a:r>
          </a:p>
          <a:p>
            <a:pPr marL="0" indent="0" fontAlgn="base">
              <a:buNone/>
            </a:pPr>
            <a:r>
              <a:rPr lang="en-US" sz="1800" b="1">
                <a:latin typeface="+mj-lt"/>
              </a:rPr>
              <a:t>​</a:t>
            </a:r>
          </a:p>
          <a:p>
            <a:pPr fontAlgn="base"/>
            <a:r>
              <a:rPr lang="en-US" sz="1800" b="1">
                <a:latin typeface="+mj-lt"/>
              </a:rPr>
              <a:t>It’s better to close unused ends in programs.​</a:t>
            </a:r>
          </a:p>
          <a:p>
            <a:pPr marL="0" indent="0" fontAlgn="base">
              <a:buNone/>
            </a:pPr>
            <a:endParaRPr lang="en-US" sz="1800" b="1">
              <a:latin typeface="+mj-lt"/>
            </a:endParaRPr>
          </a:p>
          <a:p>
            <a:pPr fontAlgn="base"/>
            <a:r>
              <a:rPr lang="en-US" sz="1800" b="1">
                <a:latin typeface="+mj-lt"/>
              </a:rPr>
              <a:t>close(</a:t>
            </a:r>
            <a:r>
              <a:rPr lang="en-US" sz="1800" b="1" err="1">
                <a:latin typeface="+mj-lt"/>
              </a:rPr>
              <a:t>int</a:t>
            </a:r>
            <a:r>
              <a:rPr lang="en-US" sz="1800" b="1">
                <a:latin typeface="+mj-lt"/>
              </a:rPr>
              <a:t> </a:t>
            </a:r>
            <a:r>
              <a:rPr lang="en-US" sz="1800" b="1" err="1">
                <a:latin typeface="+mj-lt"/>
              </a:rPr>
              <a:t>desc</a:t>
            </a:r>
            <a:r>
              <a:rPr lang="en-US" sz="1800" b="1">
                <a:latin typeface="+mj-lt"/>
              </a:rPr>
              <a:t>)​</a:t>
            </a:r>
          </a:p>
          <a:p>
            <a:pPr marL="0" indent="0" fontAlgn="base">
              <a:buNone/>
            </a:pPr>
            <a:r>
              <a:rPr lang="en-US" sz="1800" b="1">
                <a:latin typeface="+mj-lt"/>
              </a:rPr>
              <a:t>​</a:t>
            </a:r>
          </a:p>
          <a:p>
            <a:endParaRPr lang="en-GB" sz="1800" b="1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142" y="2744603"/>
            <a:ext cx="43529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8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30" y="2657388"/>
            <a:ext cx="10515600" cy="1325563"/>
          </a:xfrm>
        </p:spPr>
        <p:txBody>
          <a:bodyPr/>
          <a:lstStyle/>
          <a:p>
            <a:r>
              <a:rPr lang="en-US"/>
              <a:t>Lecture#10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8325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Descriptor Table After Pipe()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31" y="2076580"/>
            <a:ext cx="60198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749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Descriptor Table After Fork()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55874"/>
            <a:ext cx="9558403" cy="50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69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Making </a:t>
            </a:r>
            <a:r>
              <a:rPr lang="en-US" err="1"/>
              <a:t>Stdin</a:t>
            </a:r>
            <a:r>
              <a:rPr lang="en-US"/>
              <a:t> a copy of </a:t>
            </a:r>
            <a:r>
              <a:rPr lang="en-US" err="1"/>
              <a:t>fds</a:t>
            </a:r>
            <a:r>
              <a:rPr lang="en-US"/>
              <a:t>[0]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953" y="2183834"/>
            <a:ext cx="7034094" cy="439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202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15" y="1781461"/>
            <a:ext cx="8035904" cy="507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490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2377858"/>
            <a:ext cx="70770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102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4320"/>
          </a:xfrm>
        </p:spPr>
        <p:txBody>
          <a:bodyPr/>
          <a:lstStyle/>
          <a:p>
            <a:r>
              <a:rPr lang="en-US" err="1"/>
              <a:t>ls</a:t>
            </a:r>
            <a:r>
              <a:rPr lang="en-US"/>
              <a:t> | sort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2217107" y="5473873"/>
            <a:ext cx="2981195" cy="4384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52186" y="550841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ls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6035889" y="5508412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sort</a:t>
            </a:r>
            <a:endParaRPr lang="en-GB"/>
          </a:p>
        </p:txBody>
      </p:sp>
      <p:cxnSp>
        <p:nvCxnSpPr>
          <p:cNvPr id="9" name="Straight Arrow Connector 8"/>
          <p:cNvCxnSpPr>
            <a:stCxn id="6" idx="3"/>
            <a:endCxn id="4" idx="1"/>
          </p:cNvCxnSpPr>
          <p:nvPr/>
        </p:nvCxnSpPr>
        <p:spPr>
          <a:xfrm>
            <a:off x="1379520" y="5693078"/>
            <a:ext cx="8375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3"/>
            <a:endCxn id="7" idx="1"/>
          </p:cNvCxnSpPr>
          <p:nvPr/>
        </p:nvCxnSpPr>
        <p:spPr>
          <a:xfrm flipV="1">
            <a:off x="5198302" y="5693078"/>
            <a:ext cx="8375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15853" y="3569918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err="1"/>
              <a:t>ls</a:t>
            </a:r>
            <a:r>
              <a:rPr lang="en-US" sz="3600"/>
              <a:t> | sort</a:t>
            </a:r>
            <a:endParaRPr lang="en-GB" sz="360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379520" y="3169085"/>
            <a:ext cx="0" cy="400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418755" y="4241301"/>
            <a:ext cx="0" cy="45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243815" y="3169084"/>
            <a:ext cx="0" cy="400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236724" y="4216249"/>
            <a:ext cx="0" cy="45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31693" y="28413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2092972" y="27997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1267912" y="47950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2092972" y="4801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8004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30" y="2657388"/>
            <a:ext cx="10515600" cy="1325563"/>
          </a:xfrm>
        </p:spPr>
        <p:txBody>
          <a:bodyPr/>
          <a:lstStyle/>
          <a:p>
            <a:r>
              <a:rPr lang="en-US"/>
              <a:t>Lecture#11    </a:t>
            </a:r>
            <a:r>
              <a:rPr lang="en-US">
                <a:solidFill>
                  <a:srgbClr val="FF0000"/>
                </a:solidFill>
              </a:rPr>
              <a:t>code:</a:t>
            </a:r>
            <a:r>
              <a:rPr lang="en-US"/>
              <a:t> </a:t>
            </a:r>
            <a:r>
              <a:rPr lang="en-US" err="1"/>
              <a:t>ls</a:t>
            </a:r>
            <a:r>
              <a:rPr lang="en-US"/>
              <a:t> / -R | </a:t>
            </a:r>
            <a:r>
              <a:rPr lang="en-US" err="1"/>
              <a:t>grep</a:t>
            </a:r>
            <a:r>
              <a:rPr lang="en-US"/>
              <a:t> ‘</a:t>
            </a:r>
            <a:r>
              <a:rPr lang="en-US" err="1"/>
              <a:t>std</a:t>
            </a:r>
            <a:r>
              <a:rPr lang="en-US"/>
              <a:t>’ | more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4679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30" y="2657388"/>
            <a:ext cx="10515600" cy="1325563"/>
          </a:xfrm>
        </p:spPr>
        <p:txBody>
          <a:bodyPr/>
          <a:lstStyle/>
          <a:p>
            <a:r>
              <a:rPr lang="en-US"/>
              <a:t>Lecture#12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1520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931918" y="123145"/>
            <a:ext cx="1254035" cy="1175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Parent</a:t>
            </a:r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2181497" y="1685108"/>
            <a:ext cx="1267097" cy="12148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Child </a:t>
            </a:r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918856" y="1685108"/>
            <a:ext cx="1267097" cy="12148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Child </a:t>
            </a:r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5656215" y="1743890"/>
            <a:ext cx="1267097" cy="12148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Child </a:t>
            </a:r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1197429" y="3339736"/>
            <a:ext cx="1267097" cy="12148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Child </a:t>
            </a:r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291738" y="4994364"/>
            <a:ext cx="1267097" cy="12148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Child </a:t>
            </a:r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2815045" y="3394163"/>
            <a:ext cx="1267097" cy="12148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Child </a:t>
            </a:r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558935" y="3339736"/>
            <a:ext cx="1267097" cy="12148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Child </a:t>
            </a:r>
            <a:endParaRPr lang="en-GB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135086" y="914400"/>
            <a:ext cx="796832" cy="829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076994" y="2899953"/>
            <a:ext cx="387532" cy="43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030583" y="2899953"/>
            <a:ext cx="248194" cy="43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3"/>
          </p:cNvCxnSpPr>
          <p:nvPr/>
        </p:nvCxnSpPr>
        <p:spPr>
          <a:xfrm flipH="1">
            <a:off x="1071154" y="4376671"/>
            <a:ext cx="311837" cy="617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4" idx="4"/>
            <a:endCxn id="7" idx="0"/>
          </p:cNvCxnSpPr>
          <p:nvPr/>
        </p:nvCxnSpPr>
        <p:spPr>
          <a:xfrm flipH="1">
            <a:off x="4552405" y="1298802"/>
            <a:ext cx="6531" cy="386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781006" y="2899953"/>
            <a:ext cx="287383" cy="43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4" idx="5"/>
            <a:endCxn id="8" idx="1"/>
          </p:cNvCxnSpPr>
          <p:nvPr/>
        </p:nvCxnSpPr>
        <p:spPr>
          <a:xfrm>
            <a:off x="5002304" y="1126631"/>
            <a:ext cx="839473" cy="79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64731" y="2155371"/>
            <a:ext cx="3056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Fork()</a:t>
            </a:r>
          </a:p>
          <a:p>
            <a:endParaRPr lang="en-US"/>
          </a:p>
          <a:p>
            <a:r>
              <a:rPr lang="en-US"/>
              <a:t>Fork()</a:t>
            </a:r>
          </a:p>
          <a:p>
            <a:endParaRPr lang="en-US"/>
          </a:p>
          <a:p>
            <a:r>
              <a:rPr lang="en-US"/>
              <a:t>Fork()</a:t>
            </a:r>
          </a:p>
        </p:txBody>
      </p:sp>
    </p:spTree>
    <p:extLst>
      <p:ext uri="{BB962C8B-B14F-4D97-AF65-F5344CB8AC3E}">
        <p14:creationId xmlns:p14="http://schemas.microsoft.com/office/powerpoint/2010/main" val="57904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to create copy of a process?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12131" cy="4351338"/>
          </a:xfrm>
        </p:spPr>
        <p:txBody>
          <a:bodyPr>
            <a:normAutofit fontScale="92500"/>
          </a:bodyPr>
          <a:lstStyle/>
          <a:p>
            <a:pPr fontAlgn="base"/>
            <a:r>
              <a:rPr lang="en-US"/>
              <a:t>After Fork(), a child process is created which is a copy of its parent process.​</a:t>
            </a:r>
          </a:p>
          <a:p>
            <a:pPr fontAlgn="base"/>
            <a:r>
              <a:rPr lang="en-US"/>
              <a:t>The child process contains the same code as of parent process.​</a:t>
            </a:r>
          </a:p>
          <a:p>
            <a:pPr marL="0" indent="0" fontAlgn="base">
              <a:buNone/>
            </a:pPr>
            <a:r>
              <a:rPr lang="en-US">
                <a:solidFill>
                  <a:srgbClr val="FF0000"/>
                </a:solidFill>
              </a:rPr>
              <a:t>Why to replicate process?​</a:t>
            </a:r>
          </a:p>
          <a:p>
            <a:pPr fontAlgn="base"/>
            <a:r>
              <a:rPr lang="en-US"/>
              <a:t>So that different parts of a program come to execution. ​</a:t>
            </a:r>
          </a:p>
          <a:p>
            <a:pPr fontAlgn="base"/>
            <a:r>
              <a:rPr lang="en-US"/>
              <a:t>Each process has 1 flow of execution. ​</a:t>
            </a:r>
          </a:p>
          <a:p>
            <a:pPr fontAlgn="base"/>
            <a:r>
              <a:rPr lang="en-US"/>
              <a:t>Can we achieve the same without replicating address space?</a:t>
            </a:r>
            <a:r>
              <a:rPr lang="en-GB"/>
              <a:t>​</a:t>
            </a:r>
          </a:p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728" y="2977356"/>
            <a:ext cx="366712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4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02" y="2507434"/>
            <a:ext cx="10515600" cy="2064566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POSIX Threads</a:t>
            </a:r>
            <a:r>
              <a:rPr lang="en-US">
                <a:solidFill>
                  <a:srgbClr val="FF0000"/>
                </a:solidFill>
              </a:rPr>
              <a:t>​</a:t>
            </a:r>
            <a:br>
              <a:rPr lang="en-US"/>
            </a:br>
            <a:r>
              <a:rPr lang="en-US"/>
              <a:t>Portable Operating System Interface for Unix (POSIX)​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5010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/>
              <a:t>It is flow of execution​</a:t>
            </a:r>
          </a:p>
          <a:p>
            <a:pPr fontAlgn="base"/>
            <a:r>
              <a:rPr lang="en-US"/>
              <a:t>It is a basic unit of CPU utilization​</a:t>
            </a:r>
          </a:p>
        </p:txBody>
      </p:sp>
    </p:spTree>
    <p:extLst>
      <p:ext uri="{BB962C8B-B14F-4D97-AF65-F5344CB8AC3E}">
        <p14:creationId xmlns:p14="http://schemas.microsoft.com/office/powerpoint/2010/main" val="31482731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1986370"/>
            <a:ext cx="66675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096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POSIX Threads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189" y="2096724"/>
            <a:ext cx="8943061" cy="345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034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Joining threads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74953"/>
            <a:ext cx="8749225" cy="399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295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5" y="2651125"/>
            <a:ext cx="10515600" cy="1325563"/>
          </a:xfrm>
        </p:spPr>
        <p:txBody>
          <a:bodyPr/>
          <a:lstStyle/>
          <a:p>
            <a:r>
              <a:rPr lang="en-US"/>
              <a:t>Example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4145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30" y="2657388"/>
            <a:ext cx="10515600" cy="1325563"/>
          </a:xfrm>
        </p:spPr>
        <p:txBody>
          <a:bodyPr/>
          <a:lstStyle/>
          <a:p>
            <a:r>
              <a:rPr lang="en-US"/>
              <a:t>Lecture#13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2442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Level Threads (Many to One Model)​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70269" cy="4351338"/>
          </a:xfrm>
        </p:spPr>
        <p:txBody>
          <a:bodyPr/>
          <a:lstStyle/>
          <a:p>
            <a:pPr fontAlgn="base"/>
            <a:r>
              <a:rPr lang="en-US"/>
              <a:t>User-level threads are easy to create/cancel and manage.​</a:t>
            </a:r>
          </a:p>
          <a:p>
            <a:pPr marL="0" indent="0" fontAlgn="base">
              <a:buNone/>
            </a:pPr>
            <a:endParaRPr lang="en-US"/>
          </a:p>
          <a:p>
            <a:pPr fontAlgn="base"/>
            <a:r>
              <a:rPr lang="en-US"/>
              <a:t>Can be created on OS have no native support for threads.​</a:t>
            </a:r>
          </a:p>
          <a:p>
            <a:pPr marL="0" indent="0" fontAlgn="base">
              <a:buNone/>
            </a:pPr>
            <a:endParaRPr lang="en-US"/>
          </a:p>
          <a:p>
            <a:pPr fontAlgn="base"/>
            <a:r>
              <a:rPr lang="en-US"/>
              <a:t>Portable</a:t>
            </a:r>
            <a:endParaRPr lang="en-GB"/>
          </a:p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91" y="1825625"/>
            <a:ext cx="39433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8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 of User-Level Threads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84223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/>
              <a:t>if one user thread performs IO whole process is blocked.​</a:t>
            </a:r>
          </a:p>
          <a:p>
            <a:pPr marL="0" indent="0" fontAlgn="base">
              <a:buNone/>
            </a:pPr>
            <a:endParaRPr lang="en-US"/>
          </a:p>
          <a:p>
            <a:pPr fontAlgn="base"/>
            <a:r>
              <a:rPr lang="en-US"/>
              <a:t>User threads can’t exploit multiprocessing.​</a:t>
            </a:r>
          </a:p>
          <a:p>
            <a:pPr marL="0" indent="0" fontAlgn="base">
              <a:buNone/>
            </a:pPr>
            <a:endParaRPr lang="en-US"/>
          </a:p>
          <a:p>
            <a:pPr fontAlgn="base"/>
            <a:r>
              <a:rPr lang="en-US"/>
              <a:t>User thread are not given separate time slice. They have to share the time slice given to one kernel-level thread they are mapped on.​</a:t>
            </a:r>
          </a:p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034" y="2105819"/>
            <a:ext cx="39433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2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Kernel Level Threads (One to One Model)​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87834" cy="4351338"/>
          </a:xfrm>
        </p:spPr>
        <p:txBody>
          <a:bodyPr/>
          <a:lstStyle/>
          <a:p>
            <a:pPr fontAlgn="base"/>
            <a:r>
              <a:rPr lang="en-US"/>
              <a:t>Each kernel thread can be scheduled on different CPU​</a:t>
            </a:r>
          </a:p>
          <a:p>
            <a:pPr marL="0" indent="0" fontAlgn="base">
              <a:buNone/>
            </a:pPr>
            <a:endParaRPr lang="en-US"/>
          </a:p>
          <a:p>
            <a:pPr fontAlgn="base"/>
            <a:r>
              <a:rPr lang="en-US"/>
              <a:t>Each kernel thread is assigned separate CPU time (time slice)​</a:t>
            </a:r>
          </a:p>
          <a:p>
            <a:pPr marL="0" indent="0" fontAlgn="base">
              <a:buNone/>
            </a:pPr>
            <a:endParaRPr lang="en-US"/>
          </a:p>
          <a:p>
            <a:pPr fontAlgn="base"/>
            <a:r>
              <a:rPr lang="en-US"/>
              <a:t>If one thread blocks, control is transferred to other thread. </a:t>
            </a:r>
            <a:r>
              <a:rPr lang="en-GB"/>
              <a:t>​</a:t>
            </a:r>
          </a:p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61" y="1825625"/>
            <a:ext cx="46101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9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 of Kernel-Level Threads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44589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/>
              <a:t>Not portable​</a:t>
            </a:r>
          </a:p>
          <a:p>
            <a:pPr marL="0" indent="0" fontAlgn="base">
              <a:buNone/>
            </a:pPr>
            <a:endParaRPr lang="en-US"/>
          </a:p>
          <a:p>
            <a:pPr fontAlgn="base"/>
            <a:r>
              <a:rPr lang="en-US"/>
              <a:t>Creation/Cancellation and synchronization involves kernel intervention through system call.​</a:t>
            </a:r>
          </a:p>
          <a:p>
            <a:pPr marL="0" indent="0" fontAlgn="base">
              <a:buNone/>
            </a:pPr>
            <a:endParaRPr lang="en-US"/>
          </a:p>
          <a:p>
            <a:pPr fontAlgn="base"/>
            <a:r>
              <a:rPr lang="en-US"/>
              <a:t>Creation/Cancellation &amp; Synchronization is slower than that of User-level threads.</a:t>
            </a:r>
            <a:r>
              <a:rPr lang="en-GB"/>
              <a:t>​</a:t>
            </a:r>
          </a:p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144" y="2413454"/>
            <a:ext cx="46101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1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137" y="2559685"/>
            <a:ext cx="10515600" cy="1325563"/>
          </a:xfrm>
        </p:spPr>
        <p:txBody>
          <a:bodyPr/>
          <a:lstStyle/>
          <a:p>
            <a:r>
              <a:rPr lang="en-US"/>
              <a:t>Code: Passing Arguments to Threads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8946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211892"/>
            <a:ext cx="10306594" cy="643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63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23" y="2598873"/>
            <a:ext cx="10515600" cy="1325563"/>
          </a:xfrm>
        </p:spPr>
        <p:txBody>
          <a:bodyPr/>
          <a:lstStyle/>
          <a:p>
            <a:r>
              <a:rPr lang="en-US"/>
              <a:t>Code: Returning Value from Threads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9349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Activity (11 September 2020) Lecture 16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Write a multithreaded program to sort an array of 1000 elements.</a:t>
            </a:r>
          </a:p>
          <a:p>
            <a:pPr lvl="1"/>
            <a:r>
              <a:rPr lang="en-US"/>
              <a:t>All threads must be extended from the same function</a:t>
            </a:r>
          </a:p>
          <a:p>
            <a:pPr marL="457200" lvl="1" indent="0">
              <a:buNone/>
            </a:pPr>
            <a:r>
              <a:rPr lang="en-US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2604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252" y="2532128"/>
            <a:ext cx="10515600" cy="1325563"/>
          </a:xfrm>
        </p:spPr>
        <p:txBody>
          <a:bodyPr/>
          <a:lstStyle/>
          <a:p>
            <a:r>
              <a:rPr lang="en-US"/>
              <a:t>Lecture-18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3349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to Critical Section Problem (Template)​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78289"/>
            <a:ext cx="4948825" cy="415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462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 Solution of Critical Section Problem​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sz="3000" b="1"/>
              <a:t>Mutual Exclusion​</a:t>
            </a:r>
          </a:p>
          <a:p>
            <a:pPr marL="0" indent="0" fontAlgn="base">
              <a:buNone/>
            </a:pPr>
            <a:r>
              <a:rPr lang="en-US" sz="3000"/>
              <a:t>One thread at time should enter in its critical section. ​</a:t>
            </a:r>
          </a:p>
          <a:p>
            <a:pPr marL="0" indent="0" fontAlgn="base">
              <a:buNone/>
            </a:pPr>
            <a:r>
              <a:rPr lang="en-US" b="1"/>
              <a:t>Progress (Prevents Deadlock)​</a:t>
            </a:r>
          </a:p>
          <a:p>
            <a:pPr marL="514350" indent="-514350" fontAlgn="base">
              <a:buFont typeface="+mj-lt"/>
              <a:buAutoNum type="alphaLcParenR"/>
            </a:pPr>
            <a:r>
              <a:rPr lang="en-US"/>
              <a:t>In decision making, threads willing to enter their critical sections should participate​</a:t>
            </a:r>
          </a:p>
          <a:p>
            <a:pPr marL="514350" indent="-514350" fontAlgn="base">
              <a:buFont typeface="+mj-lt"/>
              <a:buAutoNum type="alphaLcParenR"/>
            </a:pPr>
            <a:r>
              <a:rPr lang="en-US"/>
              <a:t>Decision  should be made in finite amount of time​</a:t>
            </a:r>
          </a:p>
          <a:p>
            <a:pPr marL="0" indent="0" fontAlgn="base">
              <a:buNone/>
            </a:pPr>
            <a:endParaRPr lang="en-US"/>
          </a:p>
          <a:p>
            <a:pPr marL="0" indent="0" fontAlgn="base">
              <a:buNone/>
            </a:pPr>
            <a:r>
              <a:rPr lang="en-US" b="1"/>
              <a:t>Bounded waiting (Prevents Starvation)​</a:t>
            </a:r>
          </a:p>
          <a:p>
            <a:pPr marL="0" indent="0" fontAlgn="base">
              <a:buNone/>
            </a:pPr>
            <a:r>
              <a:rPr lang="en-US"/>
              <a:t>There should be a bound on how many times a thread can re-enter its critical section while other has requested to enter its critical section.​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27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Algorithm-1</a:t>
            </a:r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128349"/>
              </p:ext>
            </p:extLst>
          </p:nvPr>
        </p:nvGraphicFramePr>
        <p:xfrm>
          <a:off x="2021205" y="2126774"/>
          <a:ext cx="8149590" cy="3749040"/>
        </p:xfrm>
        <a:graphic>
          <a:graphicData uri="http://schemas.openxmlformats.org/drawingml/2006/table">
            <a:tbl>
              <a:tblPr/>
              <a:tblGrid>
                <a:gridCol w="4074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4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398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n-US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flag[2] = {0,0};​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98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    </a:t>
                      </a: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//thread#1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flag[0]=true;​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while(flag[1]);</a:t>
                      </a:r>
                      <a:r>
                        <a:rPr lang="en-US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          critical section​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flag[0]=false;​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          remainder section​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} while(1)​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 </a:t>
                      </a: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//Thread#2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flag[1]=true;​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while(flag[0]);</a:t>
                      </a:r>
                      <a:r>
                        <a:rPr lang="en-US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          critical section​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flag[1]=false;​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          remainder section​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} while(1)​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009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Algorithm-2</a:t>
            </a:r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turn = 0;​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while(turn != 0);  </a:t>
                      </a:r>
                      <a:r>
                        <a:rPr lang="en-US" sz="1800" b="0" i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//entry section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//critical section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turn = 1; </a:t>
                      </a:r>
                      <a:r>
                        <a:rPr lang="en-US" sz="1800" b="0" i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//exit section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//remainder section&lt;-==========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while(turn != 1);</a:t>
                      </a:r>
                      <a:r>
                        <a:rPr lang="en-US" sz="1800" b="0" i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//entry section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//critical section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= 0;</a:t>
                      </a:r>
                      <a:r>
                        <a:rPr lang="en-US" sz="1800" b="0" i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//exit section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//remainder section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1383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Algorithm-3</a:t>
            </a:r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flag[2] = {0,0}; turn = 0;​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  //flag[0] turn=0  //thread#​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flag[0]=true;​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turn=1;​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while(flag[1] &amp;&amp; turn==1){  }​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       critical section​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flag[0]=false;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       remainder section​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} while(1)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   //flag[1] turn=1​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flag[1]=true;​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turn=0;​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while(flag[0] &amp;&amp; turn==0);​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     critical section​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flag[1]=false;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      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remainder section​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} while(1) 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989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1415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Solution 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/>
              <a:t>Context switching is done by timer interrupt. If we disable the timer interrupt then time slice won’t get expired, hence no synchronization issue. ​</a:t>
            </a:r>
          </a:p>
          <a:p>
            <a:pPr marL="0" indent="0" fontAlgn="base">
              <a:buNone/>
            </a:pPr>
            <a:r>
              <a:rPr lang="en-US"/>
              <a:t>How to disable interrupts​</a:t>
            </a:r>
          </a:p>
          <a:p>
            <a:pPr marL="0" indent="0" fontAlgn="base">
              <a:buNone/>
            </a:pPr>
            <a:r>
              <a:rPr lang="en-US"/>
              <a:t>	CLI (Clear Interrupt Flag)​</a:t>
            </a:r>
          </a:p>
          <a:p>
            <a:pPr marL="0" indent="0" fontAlgn="base">
              <a:buNone/>
            </a:pPr>
            <a:r>
              <a:rPr lang="en-US"/>
              <a:t>How to do that in a High level language​</a:t>
            </a:r>
          </a:p>
          <a:p>
            <a:pPr marL="0" indent="0" fontAlgn="base">
              <a:buNone/>
            </a:pPr>
            <a:r>
              <a:rPr lang="en-US"/>
              <a:t>“</a:t>
            </a:r>
            <a:r>
              <a:rPr lang="en-US" err="1"/>
              <a:t>asm</a:t>
            </a:r>
            <a:r>
              <a:rPr lang="en-US"/>
              <a:t>(cli;)”​</a:t>
            </a:r>
          </a:p>
          <a:p>
            <a:pPr marL="0" indent="0" fontAlgn="base">
              <a:buNone/>
            </a:pPr>
            <a:r>
              <a:rPr lang="en-US"/>
              <a:t>Would it work?​</a:t>
            </a:r>
          </a:p>
          <a:p>
            <a:pPr marL="0" indent="0" fontAlgn="base">
              <a:buNone/>
            </a:pPr>
            <a:r>
              <a:rPr lang="en-US"/>
              <a:t>If no, Why?​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17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Solution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/>
              <a:t>CPU provides some instructions in its ISA that can execute atomically. ​</a:t>
            </a:r>
          </a:p>
          <a:p>
            <a:pPr fontAlgn="base"/>
            <a:r>
              <a:rPr lang="en-US"/>
              <a:t>Atomically means its execution can’t be interrupted once it is issued even on multi-core system.​</a:t>
            </a:r>
          </a:p>
          <a:p>
            <a:pPr fontAlgn="base"/>
            <a:r>
              <a:rPr lang="en-US"/>
              <a:t>Such instructions once issued are committed.​</a:t>
            </a:r>
          </a:p>
          <a:p>
            <a:pPr marL="0" indent="0" fontAlgn="base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18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Atomic Instruction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4587"/>
            <a:ext cx="10986490" cy="292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705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Atomic Instruction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29" y="2219520"/>
            <a:ext cx="8708655" cy="373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0457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Dinning Philosopher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884" y="1381763"/>
            <a:ext cx="6112700" cy="547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62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B3B1C27CC5044697FDB7C18D8A8200" ma:contentTypeVersion="2" ma:contentTypeDescription="Create a new document." ma:contentTypeScope="" ma:versionID="440ed3ff1c2ea6d98018d1bb0a1c98da">
  <xsd:schema xmlns:xsd="http://www.w3.org/2001/XMLSchema" xmlns:xs="http://www.w3.org/2001/XMLSchema" xmlns:p="http://schemas.microsoft.com/office/2006/metadata/properties" xmlns:ns2="78dad9a7-4d1e-4705-a658-13d5daa671b5" targetNamespace="http://schemas.microsoft.com/office/2006/metadata/properties" ma:root="true" ma:fieldsID="6639e9fc91d6a6997f6b2935751d0229" ns2:_="">
    <xsd:import namespace="78dad9a7-4d1e-4705-a658-13d5daa671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dad9a7-4d1e-4705-a658-13d5daa671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1F85C-DB27-495D-9104-3C22410D075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7AC535C-9524-434C-888A-09057F5B28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1607B4-A3DE-4EE9-AC2B-E84F6166AFC4}">
  <ds:schemaRefs>
    <ds:schemaRef ds:uri="78dad9a7-4d1e-4705-a658-13d5daa671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2362</Words>
  <Application>Microsoft Office PowerPoint</Application>
  <PresentationFormat>Widescreen</PresentationFormat>
  <Paragraphs>487</Paragraphs>
  <Slides>98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3" baseType="lpstr">
      <vt:lpstr>Arial</vt:lpstr>
      <vt:lpstr>Calibri</vt:lpstr>
      <vt:lpstr>Calibri Light</vt:lpstr>
      <vt:lpstr>Times New Roman</vt:lpstr>
      <vt:lpstr>Office Theme</vt:lpstr>
      <vt:lpstr>Operating Systems</vt:lpstr>
      <vt:lpstr>Lecture#1</vt:lpstr>
      <vt:lpstr>What is an Operating System?</vt:lpstr>
      <vt:lpstr>Computer Organization</vt:lpstr>
      <vt:lpstr>Computer Organization</vt:lpstr>
      <vt:lpstr>Computer Organization</vt:lpstr>
      <vt:lpstr>Computer Organization</vt:lpstr>
      <vt:lpstr>Computer Organization</vt:lpstr>
      <vt:lpstr>Boot Process</vt:lpstr>
      <vt:lpstr>Need of Operating System</vt:lpstr>
      <vt:lpstr>Operating System</vt:lpstr>
      <vt:lpstr>Lecture#2</vt:lpstr>
      <vt:lpstr>Terminologies</vt:lpstr>
      <vt:lpstr>Multiprogramming</vt:lpstr>
      <vt:lpstr>Multitasking</vt:lpstr>
      <vt:lpstr>Multiprocessing</vt:lpstr>
      <vt:lpstr>Protection violations</vt:lpstr>
      <vt:lpstr>Memory Protection</vt:lpstr>
      <vt:lpstr>I/O Protection</vt:lpstr>
      <vt:lpstr>CPU protection</vt:lpstr>
      <vt:lpstr>Dual-Mode of Operation</vt:lpstr>
      <vt:lpstr>Memory Protection (Solution)</vt:lpstr>
      <vt:lpstr>I/O Protection Solution</vt:lpstr>
      <vt:lpstr>CPU Protection (Solution)</vt:lpstr>
      <vt:lpstr>Lecture#3</vt:lpstr>
      <vt:lpstr>Interrupts</vt:lpstr>
      <vt:lpstr>How hardware Interrupts are generated?</vt:lpstr>
      <vt:lpstr>How software Interrupts are generated?</vt:lpstr>
      <vt:lpstr>How Interrupts are handled</vt:lpstr>
      <vt:lpstr>System Call</vt:lpstr>
      <vt:lpstr>Application Programmer Interface</vt:lpstr>
      <vt:lpstr>Why API is preferred over System Call</vt:lpstr>
      <vt:lpstr>Lecture#4</vt:lpstr>
      <vt:lpstr>Program</vt:lpstr>
      <vt:lpstr>How to boost performance </vt:lpstr>
      <vt:lpstr>Lecture#5</vt:lpstr>
      <vt:lpstr>Creating Child Process</vt:lpstr>
      <vt:lpstr>PowerPoint Presentation</vt:lpstr>
      <vt:lpstr>PowerPoint Presentation</vt:lpstr>
      <vt:lpstr>Lecture#6</vt:lpstr>
      <vt:lpstr>Output of a program</vt:lpstr>
      <vt:lpstr>Output</vt:lpstr>
      <vt:lpstr>5-state process diagram</vt:lpstr>
      <vt:lpstr>Process Control Block</vt:lpstr>
      <vt:lpstr>Lecture#7</vt:lpstr>
      <vt:lpstr>Short-term Scheduler (CPU Scheduler)</vt:lpstr>
      <vt:lpstr>Long-term Scheduler (Job Scheduler)</vt:lpstr>
      <vt:lpstr>Parent process waits for child process to terminate</vt:lpstr>
      <vt:lpstr>Orphan &amp; Zombie Process</vt:lpstr>
      <vt:lpstr>PowerPoint Presentation</vt:lpstr>
      <vt:lpstr>Lecture#8</vt:lpstr>
      <vt:lpstr>Exec</vt:lpstr>
      <vt:lpstr>Standard Descriptors in every process</vt:lpstr>
      <vt:lpstr>Writing to Descriptor</vt:lpstr>
      <vt:lpstr>Reading from Descriptor</vt:lpstr>
      <vt:lpstr>Inter-Process Communication</vt:lpstr>
      <vt:lpstr>Lecture#9</vt:lpstr>
      <vt:lpstr>Anonymous Pipes</vt:lpstr>
      <vt:lpstr>After Fork()</vt:lpstr>
      <vt:lpstr>Synchronization mechanism in Pipe​</vt:lpstr>
      <vt:lpstr>Closing un-used ends of pipe</vt:lpstr>
      <vt:lpstr>Lecture#10</vt:lpstr>
      <vt:lpstr>Descriptor Table After Pipe()</vt:lpstr>
      <vt:lpstr>Descriptor Table After Fork()</vt:lpstr>
      <vt:lpstr>Making Stdin a copy of fds[0]</vt:lpstr>
      <vt:lpstr>PowerPoint Presentation</vt:lpstr>
      <vt:lpstr>PowerPoint Presentation</vt:lpstr>
      <vt:lpstr>PowerPoint Presentation</vt:lpstr>
      <vt:lpstr>Lecture#11    code: ls / -R | grep ‘std’ | more</vt:lpstr>
      <vt:lpstr>Lecture#12</vt:lpstr>
      <vt:lpstr>PowerPoint Presentation</vt:lpstr>
      <vt:lpstr>Why to create copy of a process?</vt:lpstr>
      <vt:lpstr>POSIX Threads​ Portable Operating System Interface for Unix (POSIX)​</vt:lpstr>
      <vt:lpstr>Threads</vt:lpstr>
      <vt:lpstr>Threads</vt:lpstr>
      <vt:lpstr>Creating POSIX Threads</vt:lpstr>
      <vt:lpstr>Joining threads</vt:lpstr>
      <vt:lpstr>Example</vt:lpstr>
      <vt:lpstr>Lecture#13</vt:lpstr>
      <vt:lpstr>User Level Threads (Many to One Model)​</vt:lpstr>
      <vt:lpstr>Limitation of User-Level Threads</vt:lpstr>
      <vt:lpstr>Kernel Level Threads (One to One Model)​</vt:lpstr>
      <vt:lpstr>Limitation of Kernel-Level Threads</vt:lpstr>
      <vt:lpstr>Code: Passing Arguments to Threads</vt:lpstr>
      <vt:lpstr>PowerPoint Presentation</vt:lpstr>
      <vt:lpstr>Code: Returning Value from Threads</vt:lpstr>
      <vt:lpstr>Class Activity (11 September 2020) Lecture 16</vt:lpstr>
      <vt:lpstr>Lecture-18</vt:lpstr>
      <vt:lpstr>Solution to Critical Section Problem (Template)​</vt:lpstr>
      <vt:lpstr>Valid Solution of Critical Section Problem​</vt:lpstr>
      <vt:lpstr>Algorithm-1</vt:lpstr>
      <vt:lpstr>Algorithm-2</vt:lpstr>
      <vt:lpstr>Algorithm-3</vt:lpstr>
      <vt:lpstr>Hardware Solution </vt:lpstr>
      <vt:lpstr>Hardware Solution</vt:lpstr>
      <vt:lpstr>Atomic Instruction</vt:lpstr>
      <vt:lpstr>Use of Atomic Instruction</vt:lpstr>
      <vt:lpstr>Dinning Philosopher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Ghafoor</dc:creator>
  <cp:lastModifiedBy>Adnan Ghafoor</cp:lastModifiedBy>
  <cp:revision>6</cp:revision>
  <dcterms:created xsi:type="dcterms:W3CDTF">2020-08-09T16:15:17Z</dcterms:created>
  <dcterms:modified xsi:type="dcterms:W3CDTF">2022-10-02T08:16:16Z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0x010100E2B3B1C27CC5044697FDB7C18D8A8200</vt:lpwstr>
  </property>
</Properties>
</file>