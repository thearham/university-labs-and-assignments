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8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E57FE-F8A8-44EF-A37C-6FFF63A4A2DE}" type="datetimeFigureOut">
              <a:rPr lang="en-GB" smtClean="0"/>
              <a:t>27/03/2024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90F40-F762-4F7E-9B79-FC46FFE32B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808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2E015-4319-44FF-89D3-75D4CD185629}" type="datetimeFigureOut">
              <a:rPr lang="en-GB" smtClean="0"/>
              <a:t>27/03/2024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D8E65-9486-497A-AE4C-8914702BA9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537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04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44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34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66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56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37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70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88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31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19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91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72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04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0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58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194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49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4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73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88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434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265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78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599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339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722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907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299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93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355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898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792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108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333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587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453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794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649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85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301"/>
            <a:ext cx="8561747" cy="1849460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5" y="2854918"/>
            <a:ext cx="8561747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BF71-38B7-8642-BFCE-EDAE9BD0CBAF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6" y="329309"/>
            <a:ext cx="4897311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5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3600"/>
            </a:lvl3pPr>
            <a:lvl4pPr>
              <a:defRPr sz="32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81CDE-9BE7-C544-8ACB-7077DFC4270F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4" y="1756130"/>
            <a:ext cx="8562580" cy="634373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7" y="2631153"/>
            <a:ext cx="8549991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A285-9698-1B45-8319-D90A8C63F150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5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891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1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CD42-43FF-B740-998F-DCC3802C4CE3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165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51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71"/>
            <a:ext cx="460857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5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0FFBD-2EE4-8547-BBAE-A1AC91C8D77E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2352-D7AC-F242-9256-A4477BCBF354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C6A-9AE6-404D-9FDD-168B477B9C90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3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1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6" y="3205493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FCDFD-B4CF-A241-8D71-E814B10BEAF4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8" y="482172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5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4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6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8"/>
            <a:ext cx="5440039" cy="320123"/>
          </a:xfrm>
        </p:spPr>
        <p:txBody>
          <a:bodyPr/>
          <a:lstStyle>
            <a:lvl1pPr algn="l">
              <a:defRPr/>
            </a:lvl1pPr>
          </a:lstStyle>
          <a:p>
            <a:fld id="{26A7B589-FD4B-7E46-869A-CBADC5FC564E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1" y="318642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025CB-9D18-264E-A945-2D020344C9DA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5"/>
            <a:ext cx="1615743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5" y="883865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EFB6C-7E96-8F41-8872-189CA1C59F84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3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4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7" y="804521"/>
            <a:ext cx="9520159" cy="542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1489335"/>
            <a:ext cx="9520159" cy="4245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8A92E-5FF9-8143-81B3-CCB531513398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7" y="329309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1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4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40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Introduction to Software Engineering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Muhammad </a:t>
            </a:r>
            <a:r>
              <a:rPr lang="en-GB" dirty="0" err="1"/>
              <a:t>kashif</a:t>
            </a:r>
            <a:endParaRPr lang="en-GB" dirty="0"/>
          </a:p>
          <a:p>
            <a:r>
              <a:rPr lang="en-US" dirty="0"/>
              <a:t>CSSE3113</a:t>
            </a:r>
          </a:p>
        </p:txBody>
      </p:sp>
    </p:spTree>
    <p:extLst>
      <p:ext uri="{BB962C8B-B14F-4D97-AF65-F5344CB8AC3E}">
        <p14:creationId xmlns:p14="http://schemas.microsoft.com/office/powerpoint/2010/main" val="248712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/>
              <a:t>What Do We Mean by a Process? 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GB"/>
              <a:t>Is a series of steps involving activities, constraints, and resources to produce an intended output</a:t>
            </a:r>
          </a:p>
          <a:p>
            <a:pPr lvl="1"/>
            <a:r>
              <a:rPr lang="en-GB"/>
              <a:t>Prepare for exams</a:t>
            </a:r>
          </a:p>
          <a:p>
            <a:pPr lvl="1"/>
            <a:r>
              <a:rPr lang="en-GB"/>
              <a:t>Conduct a software competition</a:t>
            </a:r>
          </a:p>
          <a:p>
            <a:pPr lvl="1"/>
            <a:r>
              <a:rPr lang="en-GB"/>
              <a:t>Organize a trip</a:t>
            </a:r>
          </a:p>
          <a:p>
            <a:pPr lvl="1"/>
            <a:r>
              <a:rPr lang="en-GB"/>
              <a:t>Write a term project report </a:t>
            </a:r>
          </a:p>
          <a:p>
            <a:pPr eaLnBrk="1" hangingPunct="1"/>
            <a:r>
              <a:rPr lang="en-GB"/>
              <a:t>Involves a set of tools and techniques</a:t>
            </a:r>
          </a:p>
          <a:p>
            <a:pPr lvl="1"/>
            <a:r>
              <a:rPr lang="en-GB"/>
              <a:t>Block diagrams</a:t>
            </a:r>
          </a:p>
          <a:p>
            <a:pPr lvl="1"/>
            <a:r>
              <a:rPr lang="en-GB"/>
              <a:t>Notations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4491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/>
              <a:t>How is a Process Useful? 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Impose consistency and structure on a set of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Guide us to understand, control, examine, and improve the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Enable us to capture our experiences and pass them along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442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Characteristics of a Process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Prescribes all major process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Uses resources, subject to set of constraints (such as schedule)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Produces intermediate and final products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May be composed of sub-processes with hierarchy or links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Each process activity has entry and exit criteria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Activities are organized in sequence, so timing is clear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Each process guiding principles, including goals of each activity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Constraints may apply to an activity, resource or product</a:t>
            </a:r>
          </a:p>
        </p:txBody>
      </p:sp>
    </p:spTree>
    <p:extLst>
      <p:ext uri="{BB962C8B-B14F-4D97-AF65-F5344CB8AC3E}">
        <p14:creationId xmlns:p14="http://schemas.microsoft.com/office/powerpoint/2010/main" val="40187701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Characteristics of a Process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Prescribes all major process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Uses resources, subject to set of constraints (such as schedule)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Produces intermediate and final products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May be composed of sub-processes with hierarchy or links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Each process activity has entry and exit criteria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Activities are organized in sequence, so timing is clear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Each process guiding principles, including goals of each activity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Constraints may apply to an activity, resource or product</a:t>
            </a:r>
          </a:p>
        </p:txBody>
      </p:sp>
    </p:spTree>
    <p:extLst>
      <p:ext uri="{BB962C8B-B14F-4D97-AF65-F5344CB8AC3E}">
        <p14:creationId xmlns:p14="http://schemas.microsoft.com/office/powerpoint/2010/main" val="371382157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Software Lifecycle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When a process involves building a software (product), the process may be referred to as software (product) lifecycle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Requirements analysis and definition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System (architecture) design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Program (detailed/procedural) design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Writing programs (coding/implementation)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Testing: unit, integration, system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System delivery (deployment)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Maintenance </a:t>
            </a: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2438400" y="5562600"/>
            <a:ext cx="74676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455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What is a Process Model?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Description of a process, evolved overtime, in a certain format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May use text, pictures, or a combination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Contains key process features</a:t>
            </a:r>
          </a:p>
        </p:txBody>
      </p:sp>
    </p:spTree>
    <p:extLst>
      <p:ext uri="{BB962C8B-B14F-4D97-AF65-F5344CB8AC3E}">
        <p14:creationId xmlns:p14="http://schemas.microsoft.com/office/powerpoint/2010/main" val="148219077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Why is a Process Model Needed?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To form a common understanding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To find inconsistencies, redundancies, omissions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To find and evaluate appropriate activities for reaching process goals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To tailor a general process for a particular situation in which it will be used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46130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What is a Software Process Model?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Models that prescribe how should development of software progress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Models that describe how is software developed in actuality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7115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Software Development Process Models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Waterfall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V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Prototyping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solidFill>
                  <a:srgbClr val="FFC000"/>
                </a:solidFill>
              </a:rPr>
              <a:t>Operational specification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solidFill>
                  <a:srgbClr val="FFC000"/>
                </a:solidFill>
              </a:rPr>
              <a:t>Transformational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Phased development:  increments and iteration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Spiral model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Unified process</a:t>
            </a:r>
          </a:p>
          <a:p>
            <a:pPr>
              <a:spcBef>
                <a:spcPts val="8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Agile methods</a:t>
            </a:r>
          </a:p>
        </p:txBody>
      </p:sp>
    </p:spTree>
    <p:extLst>
      <p:ext uri="{BB962C8B-B14F-4D97-AF65-F5344CB8AC3E}">
        <p14:creationId xmlns:p14="http://schemas.microsoft.com/office/powerpoint/2010/main" val="173843286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One of the first process development models proposed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Works for well understood problems with minimal or no changes in the requirements 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Simple and easy to explain to customers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It presents 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 very high-level view of the development process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sequence of process activities 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Each major phase is marked by milestones and deliverables (artefacts)</a:t>
            </a:r>
          </a:p>
        </p:txBody>
      </p:sp>
    </p:spTree>
    <p:extLst>
      <p:ext uri="{BB962C8B-B14F-4D97-AF65-F5344CB8AC3E}">
        <p14:creationId xmlns:p14="http://schemas.microsoft.com/office/powerpoint/2010/main" val="94445239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1981200"/>
            <a:ext cx="6781800" cy="477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0746056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846388"/>
            <a:ext cx="5334000" cy="363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81200" y="2438400"/>
            <a:ext cx="8229600" cy="3886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Uncontrolled Software Development Process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No Iterations in WF</a:t>
            </a:r>
          </a:p>
        </p:txBody>
      </p:sp>
    </p:spTree>
    <p:extLst>
      <p:ext uri="{BB962C8B-B14F-4D97-AF65-F5344CB8AC3E}">
        <p14:creationId xmlns:p14="http://schemas.microsoft.com/office/powerpoint/2010/main" val="351507129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81200" y="2438400"/>
            <a:ext cx="8229600" cy="38862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Provides no guidance how to handle changes to products and activities during development (assumes requirements can be frozen)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Views software development as manufacturing process rather than as creative process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There is no iterative activities that lead to creating a final product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Long wait before a final product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Generates lots of documentation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/>
              <a:t>Suitable for large projects</a:t>
            </a:r>
          </a:p>
          <a:p>
            <a:pPr marL="731520" lvl="1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63045944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with Prototyping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81200" y="2438400"/>
            <a:ext cx="8229600" cy="3886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A prototype is a partially developed product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Prototyping helps</a:t>
            </a:r>
          </a:p>
          <a:p>
            <a:pPr marL="640080" lvl="1" indent="-246888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developers assess alternative design strategies (design prototype)</a:t>
            </a:r>
          </a:p>
          <a:p>
            <a:pPr marL="640080" lvl="1" indent="-246888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users understand what the system will be like (user interface prototype)</a:t>
            </a:r>
          </a:p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/>
          </a:p>
          <a:p>
            <a:pPr marL="731520" lvl="1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60020088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Waterfall Model with Prototyping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2133600"/>
            <a:ext cx="6172200" cy="437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770980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V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 variant of the waterfall model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Uses unit and integration testing to verify procedural design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Uses system testing to verify architectural (system) design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Uses acceptance testing to validate the requirements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If problems are found during verification and validation, the left side of the V can be re-executed before testing on the right side is re-enacted</a:t>
            </a:r>
          </a:p>
        </p:txBody>
      </p:sp>
    </p:spTree>
    <p:extLst>
      <p:ext uri="{BB962C8B-B14F-4D97-AF65-F5344CB8AC3E}">
        <p14:creationId xmlns:p14="http://schemas.microsoft.com/office/powerpoint/2010/main" val="114419247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V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52776" y="2036762"/>
            <a:ext cx="7210425" cy="466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0872779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Prototyping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Allows repeated investigation of the requirements or design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Reduces risk and uncertainty in the development</a:t>
            </a:r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3808412"/>
            <a:ext cx="6096000" cy="297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936788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Prototyping Model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Types: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Evolutionary 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Throwaway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Features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User involvement?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Smaller projects?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43865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Phased Development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Cycle time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Time between when requirements document was written and when the system was delivered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Shorter cycle time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Decomposed system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System delivered in pieces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enables customers to have some functionality while the rest is being developed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Two systems functioning in parallel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production system (release </a:t>
            </a:r>
            <a:r>
              <a:rPr lang="en-GB" i="1" dirty="0"/>
              <a:t>n</a:t>
            </a:r>
            <a:r>
              <a:rPr lang="en-GB" dirty="0"/>
              <a:t>): currently being used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development system (release </a:t>
            </a:r>
            <a:r>
              <a:rPr lang="en-GB" i="1" dirty="0"/>
              <a:t>n+1</a:t>
            </a:r>
            <a:r>
              <a:rPr lang="en-GB" dirty="0"/>
              <a:t>): the next version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487748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Phased Development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0850" y="2101850"/>
            <a:ext cx="737235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508130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Phased Development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/>
              <a:t>Incremental development:</a:t>
            </a:r>
            <a:r>
              <a:rPr lang="en-GB" sz="2800" dirty="0"/>
              <a:t> starts with small functional subsystem and adds functionality with each new release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/>
              <a:t>Iterative development</a:t>
            </a:r>
            <a:r>
              <a:rPr lang="en-GB" sz="2800" dirty="0"/>
              <a:t>: starts with full system, then changes functionality of each subsystem with each new release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1" y="4038600"/>
            <a:ext cx="4983263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914521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Phased Development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Training on early release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Responsive developers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Markets  for early functionality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/>
              <a:t>Quick and Global fixing on unanticipated problems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Ability to work on different areas of expertise with different releases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387210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87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Spiral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Suggested by Boehm (1988)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Combines development activities with risk management to minimize and control risks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model is presented as a spiral in which each iteration is represented by a circuit around four major activities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Plan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Determine goals, alternatives and constraints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Evaluate alternatives and risks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Develop and test</a:t>
            </a:r>
          </a:p>
        </p:txBody>
      </p:sp>
    </p:spTree>
    <p:extLst>
      <p:ext uri="{BB962C8B-B14F-4D97-AF65-F5344CB8AC3E}">
        <p14:creationId xmlns:p14="http://schemas.microsoft.com/office/powerpoint/2010/main" val="144129847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Spiral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2133601"/>
            <a:ext cx="5943600" cy="451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3855704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Object-oriented system development methodology (system development </a:t>
            </a:r>
            <a:r>
              <a:rPr lang="en-US" i="1" dirty="0"/>
              <a:t>process)</a:t>
            </a:r>
          </a:p>
          <a:p>
            <a:r>
              <a:rPr lang="en-US" dirty="0"/>
              <a:t> Offered by Rational/IBM, UP developed by </a:t>
            </a:r>
            <a:r>
              <a:rPr lang="en-US" dirty="0" err="1"/>
              <a:t>Booch</a:t>
            </a:r>
            <a:r>
              <a:rPr lang="en-US" dirty="0"/>
              <a:t>, </a:t>
            </a:r>
            <a:r>
              <a:rPr lang="en-US" dirty="0" err="1"/>
              <a:t>Rumbaugh</a:t>
            </a:r>
            <a:r>
              <a:rPr lang="en-US" dirty="0"/>
              <a:t>, and Jacobson</a:t>
            </a:r>
          </a:p>
          <a:p>
            <a:r>
              <a:rPr lang="en-US" dirty="0"/>
              <a:t> UP should be tailored to organizational and project needs</a:t>
            </a:r>
          </a:p>
          <a:p>
            <a:r>
              <a:rPr lang="en-US" dirty="0"/>
              <a:t> Highly iterative life cycle</a:t>
            </a:r>
          </a:p>
          <a:p>
            <a:r>
              <a:rPr lang="en-US" dirty="0"/>
              <a:t> Project will be use-case driven and modeled using UML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373345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UP life cycle:</a:t>
            </a:r>
          </a:p>
          <a:p>
            <a:pPr lvl="1"/>
            <a:r>
              <a:rPr lang="en-US" dirty="0"/>
              <a:t>Includes four phases which consist of iterations</a:t>
            </a:r>
          </a:p>
          <a:p>
            <a:pPr lvl="1"/>
            <a:r>
              <a:rPr lang="en-US" dirty="0"/>
              <a:t>Iterations are “mini-projects”</a:t>
            </a:r>
          </a:p>
          <a:p>
            <a:r>
              <a:rPr lang="en-US" dirty="0"/>
              <a:t> Four Phases:</a:t>
            </a:r>
          </a:p>
          <a:p>
            <a:pPr lvl="1"/>
            <a:r>
              <a:rPr lang="en-US" dirty="0"/>
              <a:t>Inception – develop and refine system vision</a:t>
            </a:r>
          </a:p>
          <a:p>
            <a:pPr lvl="1"/>
            <a:r>
              <a:rPr lang="en-US" dirty="0"/>
              <a:t>Elaboration – define requirements and design and implement core architecture</a:t>
            </a:r>
          </a:p>
          <a:p>
            <a:pPr lvl="1"/>
            <a:r>
              <a:rPr lang="en-US" dirty="0"/>
              <a:t>Construction – continue design and implementation of routine, less risky parts</a:t>
            </a:r>
          </a:p>
          <a:p>
            <a:pPr lvl="1"/>
            <a:r>
              <a:rPr lang="en-US" dirty="0"/>
              <a:t>Transition – move the system into operational mode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44263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9500" y="2019300"/>
            <a:ext cx="68961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905000" y="6260068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Images’ Source:</a:t>
            </a:r>
            <a:r>
              <a:rPr lang="en-US" dirty="0"/>
              <a:t> Systems Analysis and Design in a Changing World, 4th Edition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19750" y="2362200"/>
            <a:ext cx="6096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981950" y="2362200"/>
            <a:ext cx="6096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0801" y="3581401"/>
            <a:ext cx="66198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078384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Related development activities are called disciplines</a:t>
            </a:r>
          </a:p>
          <a:p>
            <a:pPr lvl="1"/>
            <a:r>
              <a:rPr lang="en-US" dirty="0"/>
              <a:t>UP disciplines:</a:t>
            </a:r>
          </a:p>
          <a:p>
            <a:pPr>
              <a:buNone/>
            </a:pPr>
            <a:r>
              <a:rPr lang="en-US" sz="2000" dirty="0"/>
              <a:t>	 	</a:t>
            </a:r>
            <a:r>
              <a:rPr lang="en-US" sz="2400" dirty="0"/>
              <a:t>Business modeling, requirements,  design, 	implementation, testing, deployment, project 	management, configuration and change 	management, and environment</a:t>
            </a:r>
          </a:p>
          <a:p>
            <a:r>
              <a:rPr lang="en-US" dirty="0"/>
              <a:t> Each iteration includes activities from all disciplines</a:t>
            </a:r>
          </a:p>
          <a:p>
            <a:r>
              <a:rPr lang="en-US" dirty="0"/>
              <a:t> Activities in each discipline produce </a:t>
            </a:r>
            <a:r>
              <a:rPr lang="en-US" dirty="0" err="1"/>
              <a:t>artefacts</a:t>
            </a:r>
            <a:r>
              <a:rPr lang="en-US" dirty="0"/>
              <a:t> – </a:t>
            </a:r>
            <a:r>
              <a:rPr lang="fr-FR" dirty="0" err="1"/>
              <a:t>models</a:t>
            </a:r>
            <a:r>
              <a:rPr lang="fr-FR" dirty="0"/>
              <a:t>, documents, source code, and </a:t>
            </a:r>
            <a:r>
              <a:rPr lang="en-US" dirty="0"/>
              <a:t>executables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165711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Unified Process Model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9026" y="2057400"/>
            <a:ext cx="6657975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-2286000" y="5285602"/>
            <a:ext cx="8001000" cy="276999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>
            <a:spAutoFit/>
          </a:bodyPr>
          <a:lstStyle/>
          <a:p>
            <a:r>
              <a:rPr lang="en-US" sz="1200" b="1" dirty="0"/>
              <a:t>Image Source:</a:t>
            </a:r>
            <a:r>
              <a:rPr lang="en-US" sz="1200" dirty="0"/>
              <a:t> Systems Analysis and Design in a Changing World, 4th Edition</a:t>
            </a:r>
          </a:p>
        </p:txBody>
      </p:sp>
    </p:spTree>
    <p:extLst>
      <p:ext uri="{BB962C8B-B14F-4D97-AF65-F5344CB8AC3E}">
        <p14:creationId xmlns:p14="http://schemas.microsoft.com/office/powerpoint/2010/main" val="386710695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Emphasis on flexibility in producing software quickly and capably in rapidly changing environment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Agile manifesto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Concentrate on responding to change rather than on creating a plan and then following it (</a:t>
            </a:r>
            <a:r>
              <a:rPr lang="en-GB" i="1" dirty="0" err="1"/>
              <a:t>chaordic</a:t>
            </a:r>
            <a:r>
              <a:rPr lang="en-GB" dirty="0"/>
              <a:t>)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Value individuals and interactions over process and tools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Prefer to invest time in producing working software rather than in producing comprehensive documentation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Focus on customer collaboration rather than contract negotiation</a:t>
            </a:r>
          </a:p>
        </p:txBody>
      </p:sp>
    </p:spTree>
    <p:extLst>
      <p:ext uri="{BB962C8B-B14F-4D97-AF65-F5344CB8AC3E}">
        <p14:creationId xmlns:p14="http://schemas.microsoft.com/office/powerpoint/2010/main" val="43309442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2362200"/>
            <a:ext cx="424815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1352550"/>
            <a:ext cx="426720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163745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95625" y="2438400"/>
            <a:ext cx="600075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2812690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5476" y="3124200"/>
            <a:ext cx="59531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981200" y="2438400"/>
            <a:ext cx="8229600" cy="609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600" dirty="0"/>
              <a:t>Extreme Programming (XP)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752600" y="609600"/>
            <a:ext cx="8229600" cy="6115050"/>
            <a:chOff x="228600" y="609600"/>
            <a:chExt cx="8229600" cy="6115050"/>
          </a:xfrm>
        </p:grpSpPr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8600" y="609600"/>
              <a:ext cx="6257925" cy="6115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6781800" y="2819400"/>
              <a:ext cx="16764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XP Development Approach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43705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Scrum:</a:t>
            </a:r>
          </a:p>
          <a:p>
            <a:pPr lvl="1"/>
            <a:r>
              <a:rPr lang="en-US" dirty="0"/>
              <a:t>A quick, adaptive, and self-organizing development methodology</a:t>
            </a:r>
          </a:p>
          <a:p>
            <a:pPr lvl="1"/>
            <a:r>
              <a:rPr lang="en-US" dirty="0"/>
              <a:t>Responds to a current situation as rapidly and positively as possible</a:t>
            </a:r>
          </a:p>
        </p:txBody>
      </p:sp>
    </p:spTree>
    <p:extLst>
      <p:ext uri="{BB962C8B-B14F-4D97-AF65-F5344CB8AC3E}">
        <p14:creationId xmlns:p14="http://schemas.microsoft.com/office/powerpoint/2010/main" val="119315487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Scrum Philosophy</a:t>
            </a:r>
          </a:p>
          <a:p>
            <a:pPr lvl="1"/>
            <a:r>
              <a:rPr lang="en-US" dirty="0"/>
              <a:t>Responsive to a highly changing, dynamic environment</a:t>
            </a:r>
          </a:p>
          <a:p>
            <a:pPr lvl="1"/>
            <a:r>
              <a:rPr lang="en-US" dirty="0"/>
              <a:t>Focuses primarily on the team level</a:t>
            </a:r>
          </a:p>
          <a:p>
            <a:pPr lvl="2"/>
            <a:r>
              <a:rPr lang="en-US" dirty="0"/>
              <a:t>Team exerts total control over its own organization and work processes</a:t>
            </a:r>
          </a:p>
          <a:p>
            <a:pPr lvl="1"/>
            <a:r>
              <a:rPr lang="en-US" dirty="0"/>
              <a:t>Uses a product backlog as the basic control mechanism</a:t>
            </a:r>
          </a:p>
          <a:p>
            <a:pPr lvl="2"/>
            <a:r>
              <a:rPr lang="en-US" dirty="0"/>
              <a:t>The product backlog includes user functions (such as use cases), features (such as security), and technology (such as platforms). </a:t>
            </a:r>
          </a:p>
        </p:txBody>
      </p:sp>
    </p:spTree>
    <p:extLst>
      <p:ext uri="{BB962C8B-B14F-4D97-AF65-F5344CB8AC3E}">
        <p14:creationId xmlns:p14="http://schemas.microsoft.com/office/powerpoint/2010/main" val="219587100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8494A-4FC4-4D4C-B170-1B7DED983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697" y="1426267"/>
            <a:ext cx="10225825" cy="38456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777B66-FF32-4511-9CCC-9F139919F49C}"/>
              </a:ext>
            </a:extLst>
          </p:cNvPr>
          <p:cNvSpPr txBox="1"/>
          <p:nvPr/>
        </p:nvSpPr>
        <p:spPr>
          <a:xfrm>
            <a:off x="1359088" y="5185363"/>
            <a:ext cx="99177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000" dirty="0"/>
              <a:t>The product backlog list is continually being prioritized, and only a few of the high-priority items are worked on at a time, according to the current needs of the project and its sponsor.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62401959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Scrum Organization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700" dirty="0"/>
              <a:t>Product owner 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The client stakeholder for whom a system is being built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Maintains the product backlog list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700" dirty="0"/>
              <a:t>Scrum master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Person in charge of a Scrum project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700" dirty="0"/>
              <a:t>Scrum team or teams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Small group of developers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Set their own goals and distribute work among themselves</a:t>
            </a:r>
          </a:p>
        </p:txBody>
      </p:sp>
    </p:spTree>
    <p:extLst>
      <p:ext uri="{BB962C8B-B14F-4D97-AF65-F5344CB8AC3E}">
        <p14:creationId xmlns:p14="http://schemas.microsoft.com/office/powerpoint/2010/main" val="184445008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Agile Methods (Contd.)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Scrum Practices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Sprint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The basic work process in Scrum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A time-controlled mini-project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Firm 30-day time box with a specific goal or deliverable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 Parts of a sprint</a:t>
            </a:r>
          </a:p>
          <a:p>
            <a:pPr lvl="1"/>
            <a:r>
              <a:rPr lang="en-US" dirty="0"/>
              <a:t>Begins with a one-day planning session </a:t>
            </a:r>
          </a:p>
          <a:p>
            <a:pPr lvl="1"/>
            <a:r>
              <a:rPr lang="en-US" dirty="0"/>
              <a:t>A short daily Scrum meeting to report progress</a:t>
            </a:r>
          </a:p>
          <a:p>
            <a:pPr lvl="1"/>
            <a:r>
              <a:rPr lang="en-US" dirty="0"/>
              <a:t>Ends with a final half-day review</a:t>
            </a:r>
          </a:p>
        </p:txBody>
      </p:sp>
    </p:spTree>
    <p:extLst>
      <p:ext uri="{BB962C8B-B14F-4D97-AF65-F5344CB8AC3E}">
        <p14:creationId xmlns:p14="http://schemas.microsoft.com/office/powerpoint/2010/main" val="66262678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Special THANK FOR THE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Mr.</a:t>
            </a:r>
            <a:r>
              <a:rPr lang="en-GB" dirty="0"/>
              <a:t> </a:t>
            </a:r>
            <a:r>
              <a:rPr lang="en-GB" dirty="0" err="1"/>
              <a:t>Haroon</a:t>
            </a:r>
            <a:r>
              <a:rPr lang="en-GB" dirty="0"/>
              <a:t> Abdul </a:t>
            </a:r>
            <a:r>
              <a:rPr lang="en-GB" dirty="0" err="1"/>
              <a:t>Waheed</a:t>
            </a:r>
            <a:endParaRPr lang="en-GB" dirty="0"/>
          </a:p>
          <a:p>
            <a:r>
              <a:rPr lang="en-GB" dirty="0" err="1"/>
              <a:t>Prof.</a:t>
            </a:r>
            <a:r>
              <a:rPr lang="en-GB" dirty="0"/>
              <a:t> </a:t>
            </a:r>
            <a:r>
              <a:rPr lang="en-GB" dirty="0" err="1"/>
              <a:t>Zeeshan</a:t>
            </a:r>
            <a:r>
              <a:rPr lang="en-GB" dirty="0"/>
              <a:t> Ali </a:t>
            </a:r>
            <a:r>
              <a:rPr lang="en-GB" dirty="0" err="1"/>
              <a:t>Rana</a:t>
            </a:r>
            <a:endParaRPr lang="en-GB" dirty="0"/>
          </a:p>
          <a:p>
            <a:r>
              <a:rPr lang="en-US" dirty="0" err="1"/>
              <a:t>Pfleeger’s</a:t>
            </a:r>
            <a:r>
              <a:rPr lang="en-US" dirty="0"/>
              <a:t> Book slides from UCF</a:t>
            </a:r>
          </a:p>
          <a:p>
            <a:r>
              <a:rPr lang="en-US" dirty="0"/>
              <a:t>Software Fundamentals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933636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125</TotalTime>
  <Words>1472</Words>
  <Application>Microsoft Office PowerPoint</Application>
  <PresentationFormat>Widescreen</PresentationFormat>
  <Paragraphs>213</Paragraphs>
  <Slides>42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Palatino Linotype</vt:lpstr>
      <vt:lpstr>Wingdings 2</vt:lpstr>
      <vt:lpstr>Gallery</vt:lpstr>
      <vt:lpstr>Introduction to Software Engineering</vt:lpstr>
      <vt:lpstr>What Do We Mean by a Process? </vt:lpstr>
      <vt:lpstr>How is a Process Useful? </vt:lpstr>
      <vt:lpstr>Characteristics of a Process</vt:lpstr>
      <vt:lpstr>Characteristics of a Process</vt:lpstr>
      <vt:lpstr>Software Lifecycle</vt:lpstr>
      <vt:lpstr>What is a Process Model?</vt:lpstr>
      <vt:lpstr>Why is a Process Model Needed?</vt:lpstr>
      <vt:lpstr>What is a Software Process Model?</vt:lpstr>
      <vt:lpstr>Software Development Process Models</vt:lpstr>
      <vt:lpstr>Waterfall Model</vt:lpstr>
      <vt:lpstr>Waterfall Model (Contd.)</vt:lpstr>
      <vt:lpstr>Waterfall Model (Contd.)</vt:lpstr>
      <vt:lpstr>Waterfall Model (Contd.)</vt:lpstr>
      <vt:lpstr>Waterfall Model with Prototyping</vt:lpstr>
      <vt:lpstr>Waterfall Model with Prototyping</vt:lpstr>
      <vt:lpstr>V Model</vt:lpstr>
      <vt:lpstr>V Model (Contd.)</vt:lpstr>
      <vt:lpstr>Prototyping Model</vt:lpstr>
      <vt:lpstr>Prototyping Model (Contd.)</vt:lpstr>
      <vt:lpstr>Phased Development</vt:lpstr>
      <vt:lpstr>Phased Development (Contd.)</vt:lpstr>
      <vt:lpstr>Phased Development (Contd.)</vt:lpstr>
      <vt:lpstr>Phased Development (Contd.)</vt:lpstr>
      <vt:lpstr>Lecture 5</vt:lpstr>
      <vt:lpstr>Spiral Model</vt:lpstr>
      <vt:lpstr>Spiral Model (Contd.)</vt:lpstr>
      <vt:lpstr>Unified Process Model</vt:lpstr>
      <vt:lpstr>Unified Process Model (Contd.)</vt:lpstr>
      <vt:lpstr>Unified Process Model (Contd.)</vt:lpstr>
      <vt:lpstr>Unified Process Model (Contd.)</vt:lpstr>
      <vt:lpstr>Unified Process Model (Contd.)</vt:lpstr>
      <vt:lpstr>Agile Methods</vt:lpstr>
      <vt:lpstr>Agile Methods</vt:lpstr>
      <vt:lpstr>Agile Methods (Contd.)</vt:lpstr>
      <vt:lpstr>Agile Methods (Contd.)</vt:lpstr>
      <vt:lpstr>Agile Methods (Contd.)</vt:lpstr>
      <vt:lpstr>Agile Methods (Contd.)</vt:lpstr>
      <vt:lpstr>Agile Methods (Contd.)</vt:lpstr>
      <vt:lpstr>Agile Methods (Contd.)</vt:lpstr>
      <vt:lpstr>Agile Methods (Contd.)</vt:lpstr>
      <vt:lpstr>Special THANK FOR THE MATERIALS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Engineering</dc:title>
  <dc:creator>haroonaw</dc:creator>
  <cp:lastModifiedBy>Muhammad Kashif</cp:lastModifiedBy>
  <cp:revision>14</cp:revision>
  <dcterms:created xsi:type="dcterms:W3CDTF">2017-04-12T08:55:27Z</dcterms:created>
  <dcterms:modified xsi:type="dcterms:W3CDTF">2024-03-27T16:19:05Z</dcterms:modified>
</cp:coreProperties>
</file>