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259" r:id="rId3"/>
    <p:sldId id="260" r:id="rId4"/>
    <p:sldId id="262" r:id="rId5"/>
    <p:sldId id="263" r:id="rId6"/>
    <p:sldId id="264" r:id="rId7"/>
    <p:sldId id="267" r:id="rId8"/>
    <p:sldId id="268" r:id="rId9"/>
    <p:sldId id="271" r:id="rId10"/>
    <p:sldId id="300" r:id="rId11"/>
    <p:sldId id="301" r:id="rId12"/>
    <p:sldId id="302" r:id="rId13"/>
    <p:sldId id="303" r:id="rId14"/>
    <p:sldId id="304" r:id="rId15"/>
    <p:sldId id="283" r:id="rId16"/>
    <p:sldId id="284"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5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618B5B-97E4-4189-A711-7435D1BB1ED5}" type="datetimeFigureOut">
              <a:rPr lang="en-US" smtClean="0"/>
              <a:t>8/18/2016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2CF99A-3E40-43CC-AAE5-EAF560A9E48F}" type="slidenum">
              <a:rPr lang="en-US" smtClean="0"/>
              <a:t>‹#›</a:t>
            </a:fld>
            <a:endParaRPr lang="en-US"/>
          </a:p>
        </p:txBody>
      </p:sp>
    </p:spTree>
    <p:extLst>
      <p:ext uri="{BB962C8B-B14F-4D97-AF65-F5344CB8AC3E}">
        <p14:creationId xmlns:p14="http://schemas.microsoft.com/office/powerpoint/2010/main" val="154159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charset="-128"/>
              </a:defRPr>
            </a:lvl1pPr>
            <a:lvl2pPr marL="742950" indent="-285750">
              <a:defRPr sz="2400">
                <a:solidFill>
                  <a:schemeClr val="tx1"/>
                </a:solidFill>
                <a:latin typeface="Arial" pitchFamily="34" charset="0"/>
                <a:ea typeface="ＭＳ Ｐゴシック" charset="-128"/>
              </a:defRPr>
            </a:lvl2pPr>
            <a:lvl3pPr marL="1143000" indent="-228600">
              <a:defRPr sz="2400">
                <a:solidFill>
                  <a:schemeClr val="tx1"/>
                </a:solidFill>
                <a:latin typeface="Arial" pitchFamily="34" charset="0"/>
                <a:ea typeface="ＭＳ Ｐゴシック" charset="-128"/>
              </a:defRPr>
            </a:lvl3pPr>
            <a:lvl4pPr marL="1600200" indent="-228600">
              <a:defRPr sz="2400">
                <a:solidFill>
                  <a:schemeClr val="tx1"/>
                </a:solidFill>
                <a:latin typeface="Arial" pitchFamily="34" charset="0"/>
                <a:ea typeface="ＭＳ Ｐゴシック" charset="-128"/>
              </a:defRPr>
            </a:lvl4pPr>
            <a:lvl5pPr marL="2057400" indent="-22860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fld id="{00564790-82E7-4E53-8179-82C1DCC40B57}" type="slidenum">
              <a:rPr lang="en-US" sz="1200"/>
              <a:pPr/>
              <a:t>2</a:t>
            </a:fld>
            <a:endParaRPr lang="en-US"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charset="-128"/>
              </a:defRPr>
            </a:lvl1pPr>
            <a:lvl2pPr marL="742950" indent="-285750">
              <a:defRPr sz="2400">
                <a:solidFill>
                  <a:schemeClr val="tx1"/>
                </a:solidFill>
                <a:latin typeface="Arial" pitchFamily="34" charset="0"/>
                <a:ea typeface="ＭＳ Ｐゴシック" charset="-128"/>
              </a:defRPr>
            </a:lvl2pPr>
            <a:lvl3pPr marL="1143000" indent="-228600">
              <a:defRPr sz="2400">
                <a:solidFill>
                  <a:schemeClr val="tx1"/>
                </a:solidFill>
                <a:latin typeface="Arial" pitchFamily="34" charset="0"/>
                <a:ea typeface="ＭＳ Ｐゴシック" charset="-128"/>
              </a:defRPr>
            </a:lvl3pPr>
            <a:lvl4pPr marL="1600200" indent="-228600">
              <a:defRPr sz="2400">
                <a:solidFill>
                  <a:schemeClr val="tx1"/>
                </a:solidFill>
                <a:latin typeface="Arial" pitchFamily="34" charset="0"/>
                <a:ea typeface="ＭＳ Ｐゴシック" charset="-128"/>
              </a:defRPr>
            </a:lvl4pPr>
            <a:lvl5pPr marL="2057400" indent="-22860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fld id="{295FD6FF-25E6-4677-9EB7-8294E4F80145}" type="slidenum">
              <a:rPr lang="en-US" sz="1200"/>
              <a:pPr/>
              <a:t>6</a:t>
            </a:fld>
            <a:endParaRPr 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charset="-128"/>
              </a:defRPr>
            </a:lvl1pPr>
            <a:lvl2pPr marL="742950" indent="-285750">
              <a:defRPr sz="2400">
                <a:solidFill>
                  <a:schemeClr val="tx1"/>
                </a:solidFill>
                <a:latin typeface="Arial" pitchFamily="34" charset="0"/>
                <a:ea typeface="ＭＳ Ｐゴシック" charset="-128"/>
              </a:defRPr>
            </a:lvl2pPr>
            <a:lvl3pPr marL="1143000" indent="-228600">
              <a:defRPr sz="2400">
                <a:solidFill>
                  <a:schemeClr val="tx1"/>
                </a:solidFill>
                <a:latin typeface="Arial" pitchFamily="34" charset="0"/>
                <a:ea typeface="ＭＳ Ｐゴシック" charset="-128"/>
              </a:defRPr>
            </a:lvl3pPr>
            <a:lvl4pPr marL="1600200" indent="-228600">
              <a:defRPr sz="2400">
                <a:solidFill>
                  <a:schemeClr val="tx1"/>
                </a:solidFill>
                <a:latin typeface="Arial" pitchFamily="34" charset="0"/>
                <a:ea typeface="ＭＳ Ｐゴシック" charset="-128"/>
              </a:defRPr>
            </a:lvl4pPr>
            <a:lvl5pPr marL="2057400" indent="-22860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fld id="{2FCFABBA-98FE-4C9F-BD19-03D547559065}" type="slidenum">
              <a:rPr lang="en-US" sz="1200"/>
              <a:pPr/>
              <a:t>15</a:t>
            </a:fld>
            <a:endParaRPr lang="en-US"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charset="-128"/>
              </a:defRPr>
            </a:lvl1pPr>
            <a:lvl2pPr marL="742950" indent="-285750">
              <a:defRPr sz="2400">
                <a:solidFill>
                  <a:schemeClr val="tx1"/>
                </a:solidFill>
                <a:latin typeface="Arial" pitchFamily="34" charset="0"/>
                <a:ea typeface="ＭＳ Ｐゴシック" charset="-128"/>
              </a:defRPr>
            </a:lvl2pPr>
            <a:lvl3pPr marL="1143000" indent="-228600">
              <a:defRPr sz="2400">
                <a:solidFill>
                  <a:schemeClr val="tx1"/>
                </a:solidFill>
                <a:latin typeface="Arial" pitchFamily="34" charset="0"/>
                <a:ea typeface="ＭＳ Ｐゴシック" charset="-128"/>
              </a:defRPr>
            </a:lvl3pPr>
            <a:lvl4pPr marL="1600200" indent="-228600">
              <a:defRPr sz="2400">
                <a:solidFill>
                  <a:schemeClr val="tx1"/>
                </a:solidFill>
                <a:latin typeface="Arial" pitchFamily="34" charset="0"/>
                <a:ea typeface="ＭＳ Ｐゴシック" charset="-128"/>
              </a:defRPr>
            </a:lvl4pPr>
            <a:lvl5pPr marL="2057400" indent="-22860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fld id="{9576876A-3CD4-4629-AA4C-72CE32FA588B}" type="slidenum">
              <a:rPr lang="en-US" sz="1200"/>
              <a:pPr/>
              <a:t>16</a:t>
            </a:fld>
            <a:endParaRPr 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E85BE07-233E-4F75-A798-1BF895ECBD9D}" type="datetime1">
              <a:rPr lang="en-US" smtClean="0"/>
              <a:t>8/18/2016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93B40E-A879-4571-93E6-F347F8C2F52C}"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A137C9-9A25-40A2-A2C5-5838A07F350F}" type="datetime1">
              <a:rPr lang="en-US" smtClean="0"/>
              <a:t>8/18/2016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273BED-4A02-4FBC-8513-1C7192DFD3D9}" type="datetime1">
              <a:rPr lang="en-US" smtClean="0"/>
              <a:t>8/18/2016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93B40E-A879-4571-93E6-F347F8C2F52C}"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C791879-D04C-429D-A2A8-D6AA4ECDED62}" type="datetime1">
              <a:rPr lang="en-US" smtClean="0"/>
              <a:t>8/18/2016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E2F195-7B50-4DB1-A955-4F6CCFB4FA46}" type="datetime1">
              <a:rPr lang="en-US" smtClean="0"/>
              <a:t>8/18/2016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93B40E-A879-4571-93E6-F347F8C2F52C}"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07A685-E57C-4247-8C6C-73EBB76A59AC}" type="datetime1">
              <a:rPr lang="en-US" smtClean="0"/>
              <a:t>8/18/2016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333B6F-F7B0-4F97-855E-4CC9BB817A01}" type="datetime1">
              <a:rPr lang="en-US" smtClean="0"/>
              <a:t>8/18/2016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81F18A-A0EE-4DF1-9EF0-D984AEFFD537}" type="datetime1">
              <a:rPr lang="en-US" smtClean="0"/>
              <a:t>8/18/2016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93B40E-A879-4571-93E6-F347F8C2F52C}"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B5A27A-987F-48D2-824C-4C13A7028D34}" type="datetime1">
              <a:rPr lang="en-US" smtClean="0"/>
              <a:t>8/18/2016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51B3CA-623E-4C87-B89D-149572BA2F98}" type="datetime1">
              <a:rPr lang="en-US" smtClean="0"/>
              <a:t>8/18/2016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E5D5E8B-1540-4179-85B2-FD2C3AEE3A49}" type="datetime1">
              <a:rPr lang="en-US" smtClean="0"/>
              <a:t>8/18/2016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93B40E-A879-4571-93E6-F347F8C2F5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F1DA9731-CB8B-4A7E-8038-04D436504C54}" type="datetime1">
              <a:rPr lang="en-US" smtClean="0"/>
              <a:t>8/18/2016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1193B40E-A879-4571-93E6-F347F8C2F52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Calibri" pitchFamily="34" charset="0"/>
              </a:rPr>
              <a:t>SOFTWARE ENGINEERING</a:t>
            </a:r>
            <a:endParaRPr lang="en-US" dirty="0">
              <a:latin typeface="Calibri" pitchFamily="34" charset="0"/>
            </a:endParaRPr>
          </a:p>
        </p:txBody>
      </p:sp>
      <p:sp>
        <p:nvSpPr>
          <p:cNvPr id="3" name="Subtitle 2"/>
          <p:cNvSpPr>
            <a:spLocks noGrp="1"/>
          </p:cNvSpPr>
          <p:nvPr>
            <p:ph type="subTitle" idx="1"/>
          </p:nvPr>
        </p:nvSpPr>
        <p:spPr>
          <a:xfrm>
            <a:off x="685800" y="3505200"/>
            <a:ext cx="7772400" cy="1752600"/>
          </a:xfrm>
        </p:spPr>
        <p:txBody>
          <a:bodyPr>
            <a:normAutofit/>
          </a:bodyPr>
          <a:lstStyle/>
          <a:p>
            <a:r>
              <a:rPr lang="en-US" dirty="0" smtClean="0">
                <a:latin typeface="Calibri" pitchFamily="34" charset="0"/>
              </a:rPr>
              <a:t>CHAPTER 1: </a:t>
            </a:r>
          </a:p>
          <a:p>
            <a:r>
              <a:rPr lang="en-US" dirty="0" smtClean="0">
                <a:latin typeface="Calibri" pitchFamily="34" charset="0"/>
              </a:rPr>
              <a:t>INTRODUCTION TO SOFTWARE ENGINEERING</a:t>
            </a:r>
            <a:endParaRPr lang="en-US" dirty="0">
              <a:latin typeface="Calibri" pitchFamily="34" charset="0"/>
            </a:endParaRPr>
          </a:p>
        </p:txBody>
      </p:sp>
    </p:spTree>
    <p:extLst>
      <p:ext uri="{BB962C8B-B14F-4D97-AF65-F5344CB8AC3E}">
        <p14:creationId xmlns:p14="http://schemas.microsoft.com/office/powerpoint/2010/main" val="1224304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397125" y="990600"/>
            <a:ext cx="3703321" cy="666849"/>
          </a:xfrm>
          <a:noFill/>
        </p:spPr>
        <p:txBody>
          <a:bodyPr wrap="none" lIns="63500" tIns="25400" rIns="63500" bIns="25400" anchor="t">
            <a:spAutoFit/>
          </a:bodyPr>
          <a:lstStyle/>
          <a:p>
            <a:pPr eaLnBrk="1" hangingPunct="1"/>
            <a:r>
              <a:rPr lang="en-US" dirty="0" smtClean="0">
                <a:latin typeface="Calibri" pitchFamily="34" charset="0"/>
                <a:ea typeface="ＭＳ Ｐゴシック" charset="-128"/>
              </a:rPr>
              <a:t>What is Software?</a:t>
            </a:r>
          </a:p>
        </p:txBody>
      </p:sp>
      <p:sp>
        <p:nvSpPr>
          <p:cNvPr id="16393" name="Text Box 36"/>
          <p:cNvSpPr txBox="1">
            <a:spLocks noChangeArrowheads="1"/>
          </p:cNvSpPr>
          <p:nvPr/>
        </p:nvSpPr>
        <p:spPr bwMode="auto">
          <a:xfrm>
            <a:off x="685800" y="2133600"/>
            <a:ext cx="78486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just">
              <a:spcBef>
                <a:spcPct val="50000"/>
              </a:spcBef>
              <a:defRPr/>
            </a:pPr>
            <a:r>
              <a:rPr lang="en-US" i="1" dirty="0" smtClean="0">
                <a:latin typeface="Calibri" pitchFamily="34" charset="0"/>
              </a:rPr>
              <a:t>The product that software professionals </a:t>
            </a:r>
            <a:r>
              <a:rPr lang="en-US" i="1" dirty="0" smtClean="0">
                <a:solidFill>
                  <a:srgbClr val="AD0101"/>
                </a:solidFill>
                <a:latin typeface="Calibri" pitchFamily="34" charset="0"/>
              </a:rPr>
              <a:t>build </a:t>
            </a:r>
            <a:r>
              <a:rPr lang="en-US" i="1" dirty="0" smtClean="0">
                <a:latin typeface="Calibri" pitchFamily="34" charset="0"/>
              </a:rPr>
              <a:t>and then </a:t>
            </a:r>
            <a:r>
              <a:rPr lang="en-US" i="1" dirty="0" smtClean="0">
                <a:solidFill>
                  <a:srgbClr val="AD0101"/>
                </a:solidFill>
                <a:latin typeface="Calibri" pitchFamily="34" charset="0"/>
              </a:rPr>
              <a:t>support </a:t>
            </a:r>
            <a:r>
              <a:rPr lang="en-US" i="1" dirty="0" smtClean="0">
                <a:latin typeface="Calibri" pitchFamily="34" charset="0"/>
              </a:rPr>
              <a:t>over the long term.</a:t>
            </a:r>
          </a:p>
          <a:p>
            <a:pPr algn="just">
              <a:spcBef>
                <a:spcPct val="50000"/>
              </a:spcBef>
              <a:defRPr/>
            </a:pPr>
            <a:r>
              <a:rPr lang="en-US" i="1" dirty="0" smtClean="0">
                <a:latin typeface="Calibri" pitchFamily="34" charset="0"/>
              </a:rPr>
              <a:t>Software comprises of: (1) </a:t>
            </a:r>
            <a:r>
              <a:rPr lang="en-US" i="1" dirty="0" smtClean="0">
                <a:solidFill>
                  <a:schemeClr val="folHlink"/>
                </a:solidFill>
                <a:latin typeface="Calibri" pitchFamily="34" charset="0"/>
              </a:rPr>
              <a:t>instructions</a:t>
            </a:r>
            <a:r>
              <a:rPr lang="en-US" i="1" dirty="0" smtClean="0">
                <a:latin typeface="Calibri" pitchFamily="34" charset="0"/>
              </a:rPr>
              <a:t> (computer programs) that when executed provide desired features, function, and performance;  (2) </a:t>
            </a:r>
            <a:r>
              <a:rPr lang="en-US" i="1" dirty="0" smtClean="0">
                <a:solidFill>
                  <a:schemeClr val="folHlink"/>
                </a:solidFill>
                <a:latin typeface="Calibri" pitchFamily="34" charset="0"/>
              </a:rPr>
              <a:t>data structures</a:t>
            </a:r>
            <a:r>
              <a:rPr lang="en-US" i="1" dirty="0" smtClean="0">
                <a:latin typeface="Calibri" pitchFamily="34" charset="0"/>
              </a:rPr>
              <a:t> that enable the programs to adequately store and manipulate information and (3) </a:t>
            </a:r>
            <a:r>
              <a:rPr lang="en-US" i="1" dirty="0" smtClean="0">
                <a:solidFill>
                  <a:schemeClr val="folHlink"/>
                </a:solidFill>
                <a:latin typeface="Calibri" pitchFamily="34" charset="0"/>
              </a:rPr>
              <a:t>documentation</a:t>
            </a:r>
            <a:r>
              <a:rPr lang="en-US" i="1" dirty="0" smtClean="0">
                <a:latin typeface="Calibri" pitchFamily="34" charset="0"/>
              </a:rPr>
              <a:t> that describes the operation and use of the programs.</a:t>
            </a:r>
            <a:r>
              <a:rPr lang="en-US" dirty="0" smtClean="0">
                <a:latin typeface="Calibri" pitchFamily="34" charset="0"/>
              </a:rPr>
              <a:t> </a:t>
            </a:r>
          </a:p>
        </p:txBody>
      </p:sp>
    </p:spTree>
    <p:extLst>
      <p:ext uri="{BB962C8B-B14F-4D97-AF65-F5344CB8AC3E}">
        <p14:creationId xmlns:p14="http://schemas.microsoft.com/office/powerpoint/2010/main" val="35395080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274638"/>
            <a:ext cx="7292975" cy="1143000"/>
          </a:xfrm>
        </p:spPr>
        <p:txBody>
          <a:bodyPr/>
          <a:lstStyle/>
          <a:p>
            <a:pPr algn="ctr" eaLnBrk="1" hangingPunct="1"/>
            <a:r>
              <a:rPr lang="en-US" dirty="0" smtClean="0">
                <a:latin typeface="Calibri" pitchFamily="34" charset="0"/>
                <a:ea typeface="ＭＳ Ｐゴシック" charset="-128"/>
              </a:rPr>
              <a:t>Software Products</a:t>
            </a:r>
          </a:p>
        </p:txBody>
      </p:sp>
      <p:sp>
        <p:nvSpPr>
          <p:cNvPr id="8195" name="Content Placeholder 2"/>
          <p:cNvSpPr>
            <a:spLocks noGrp="1"/>
          </p:cNvSpPr>
          <p:nvPr>
            <p:ph idx="1"/>
          </p:nvPr>
        </p:nvSpPr>
        <p:spPr>
          <a:xfrm>
            <a:off x="457200" y="1600200"/>
            <a:ext cx="8229600" cy="4525963"/>
          </a:xfrm>
        </p:spPr>
        <p:txBody>
          <a:bodyPr/>
          <a:lstStyle/>
          <a:p>
            <a:pPr eaLnBrk="1" hangingPunct="1"/>
            <a:r>
              <a:rPr lang="en-US" dirty="0" smtClean="0">
                <a:solidFill>
                  <a:srgbClr val="AD0101"/>
                </a:solidFill>
                <a:latin typeface="Calibri" pitchFamily="34" charset="0"/>
                <a:ea typeface="ＭＳ Ｐゴシック" charset="-128"/>
              </a:rPr>
              <a:t>Generic products</a:t>
            </a:r>
          </a:p>
          <a:p>
            <a:pPr lvl="1" eaLnBrk="1" hangingPunct="1"/>
            <a:r>
              <a:rPr lang="en-US" dirty="0" smtClean="0">
                <a:latin typeface="Calibri" pitchFamily="34" charset="0"/>
                <a:ea typeface="ＭＳ Ｐゴシック" charset="-128"/>
              </a:rPr>
              <a:t>Stand-alone systems that are marketed and sold to </a:t>
            </a:r>
            <a:r>
              <a:rPr lang="en-US" b="1" dirty="0" smtClean="0">
                <a:latin typeface="Calibri" pitchFamily="34" charset="0"/>
                <a:ea typeface="ＭＳ Ｐゴシック" charset="-128"/>
              </a:rPr>
              <a:t>any customer </a:t>
            </a:r>
            <a:r>
              <a:rPr lang="en-US" dirty="0" smtClean="0">
                <a:latin typeface="Calibri" pitchFamily="34" charset="0"/>
                <a:ea typeface="ＭＳ Ｐゴシック" charset="-128"/>
              </a:rPr>
              <a:t>who wishes to buy them.</a:t>
            </a:r>
          </a:p>
          <a:p>
            <a:pPr lvl="1" eaLnBrk="1" hangingPunct="1"/>
            <a:r>
              <a:rPr lang="en-US" dirty="0" smtClean="0">
                <a:latin typeface="Calibri" pitchFamily="34" charset="0"/>
                <a:ea typeface="ＭＳ Ｐゴシック" charset="-128"/>
              </a:rPr>
              <a:t>Examples – PC software such as editing, graphics programs, project management tools; CAD software; software for specific markets such as appointments systems for dentists.</a:t>
            </a:r>
          </a:p>
          <a:p>
            <a:pPr eaLnBrk="1" hangingPunct="1"/>
            <a:r>
              <a:rPr lang="en-US" dirty="0" smtClean="0">
                <a:solidFill>
                  <a:srgbClr val="AD0101"/>
                </a:solidFill>
                <a:latin typeface="Calibri" pitchFamily="34" charset="0"/>
                <a:ea typeface="ＭＳ Ｐゴシック" charset="-128"/>
              </a:rPr>
              <a:t>Customized products</a:t>
            </a:r>
          </a:p>
          <a:p>
            <a:pPr lvl="1" eaLnBrk="1" hangingPunct="1"/>
            <a:r>
              <a:rPr lang="en-US" dirty="0" smtClean="0">
                <a:latin typeface="Calibri" pitchFamily="34" charset="0"/>
                <a:ea typeface="ＭＳ Ｐゴシック" charset="-128"/>
              </a:rPr>
              <a:t>Software that is commissioned by </a:t>
            </a:r>
            <a:r>
              <a:rPr lang="en-US" b="1" dirty="0" smtClean="0">
                <a:latin typeface="Calibri" pitchFamily="34" charset="0"/>
                <a:ea typeface="ＭＳ Ｐゴシック" charset="-128"/>
              </a:rPr>
              <a:t>a specific customer </a:t>
            </a:r>
            <a:r>
              <a:rPr lang="en-US" dirty="0" smtClean="0">
                <a:latin typeface="Calibri" pitchFamily="34" charset="0"/>
                <a:ea typeface="ＭＳ Ｐゴシック" charset="-128"/>
              </a:rPr>
              <a:t>to meet their own needs. </a:t>
            </a:r>
          </a:p>
          <a:p>
            <a:pPr lvl="1" eaLnBrk="1" hangingPunct="1"/>
            <a:r>
              <a:rPr lang="en-US" dirty="0" smtClean="0">
                <a:latin typeface="Calibri" pitchFamily="34" charset="0"/>
                <a:ea typeface="ＭＳ Ｐゴシック" charset="-128"/>
              </a:rPr>
              <a:t>Examples – embedded control systems, air traffic control software, traffic monitoring systems.</a:t>
            </a:r>
          </a:p>
        </p:txBody>
      </p:sp>
    </p:spTree>
    <p:extLst>
      <p:ext uri="{BB962C8B-B14F-4D97-AF65-F5344CB8AC3E}">
        <p14:creationId xmlns:p14="http://schemas.microsoft.com/office/powerpoint/2010/main" val="1010074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457200" y="274638"/>
            <a:ext cx="7292975" cy="1143000"/>
          </a:xfrm>
        </p:spPr>
        <p:txBody>
          <a:bodyPr/>
          <a:lstStyle/>
          <a:p>
            <a:pPr algn="ctr" eaLnBrk="1" hangingPunct="1"/>
            <a:r>
              <a:rPr lang="en-GB" dirty="0" smtClean="0">
                <a:latin typeface="Calibri" pitchFamily="34" charset="0"/>
                <a:ea typeface="ＭＳ Ｐゴシック" charset="-128"/>
              </a:rPr>
              <a:t>Software Costs</a:t>
            </a:r>
          </a:p>
        </p:txBody>
      </p:sp>
      <p:sp>
        <p:nvSpPr>
          <p:cNvPr id="10243" name="Rectangle 5"/>
          <p:cNvSpPr>
            <a:spLocks noGrp="1" noChangeArrowheads="1"/>
          </p:cNvSpPr>
          <p:nvPr>
            <p:ph idx="1"/>
          </p:nvPr>
        </p:nvSpPr>
        <p:spPr>
          <a:xfrm>
            <a:off x="457200" y="1600200"/>
            <a:ext cx="8229600" cy="4525963"/>
          </a:xfrm>
        </p:spPr>
        <p:txBody>
          <a:bodyPr/>
          <a:lstStyle/>
          <a:p>
            <a:pPr algn="just" eaLnBrk="1" hangingPunct="1"/>
            <a:r>
              <a:rPr lang="en-GB" dirty="0" smtClean="0">
                <a:latin typeface="Calibri" pitchFamily="34" charset="0"/>
                <a:ea typeface="ＭＳ Ｐゴシック" charset="-128"/>
              </a:rPr>
              <a:t>Software costs often dominate computer system costs. The costs of software on a PC are often greater than the hardware cost.</a:t>
            </a:r>
          </a:p>
          <a:p>
            <a:pPr algn="just" eaLnBrk="1" hangingPunct="1"/>
            <a:r>
              <a:rPr lang="en-GB" dirty="0" smtClean="0">
                <a:latin typeface="Calibri" pitchFamily="34" charset="0"/>
                <a:ea typeface="ＭＳ Ｐゴシック" charset="-128"/>
              </a:rPr>
              <a:t>Software costs </a:t>
            </a:r>
            <a:r>
              <a:rPr lang="en-GB" b="1" dirty="0" smtClean="0">
                <a:solidFill>
                  <a:srgbClr val="AD0101"/>
                </a:solidFill>
                <a:latin typeface="Calibri" pitchFamily="34" charset="0"/>
                <a:ea typeface="ＭＳ Ｐゴシック" charset="-128"/>
              </a:rPr>
              <a:t>more to maintain </a:t>
            </a:r>
            <a:r>
              <a:rPr lang="en-GB" dirty="0" smtClean="0">
                <a:latin typeface="Calibri" pitchFamily="34" charset="0"/>
                <a:ea typeface="ＭＳ Ｐゴシック" charset="-128"/>
              </a:rPr>
              <a:t>than it does to develop. For systems with a long life, maintenance costs may be several times development costs.</a:t>
            </a:r>
          </a:p>
          <a:p>
            <a:pPr algn="just" eaLnBrk="1" hangingPunct="1"/>
            <a:r>
              <a:rPr lang="en-GB" dirty="0" smtClean="0">
                <a:latin typeface="Calibri" pitchFamily="34" charset="0"/>
                <a:ea typeface="ＭＳ Ｐゴシック" charset="-128"/>
              </a:rPr>
              <a:t>Software engineering is concerned with cost-effective software development.</a:t>
            </a:r>
          </a:p>
        </p:txBody>
      </p:sp>
    </p:spTree>
    <p:extLst>
      <p:ext uri="{BB962C8B-B14F-4D97-AF65-F5344CB8AC3E}">
        <p14:creationId xmlns:p14="http://schemas.microsoft.com/office/powerpoint/2010/main" val="50046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524000" y="685800"/>
            <a:ext cx="5867400" cy="709613"/>
          </a:xfrm>
        </p:spPr>
        <p:txBody>
          <a:bodyPr rtlCol="0">
            <a:normAutofit/>
          </a:bodyPr>
          <a:lstStyle/>
          <a:p>
            <a:pPr algn="ctr" eaLnBrk="1" fontAlgn="auto" hangingPunct="1">
              <a:spcAft>
                <a:spcPts val="0"/>
              </a:spcAft>
              <a:defRPr/>
            </a:pPr>
            <a:r>
              <a:rPr lang="en-US" dirty="0" smtClean="0">
                <a:ea typeface="+mj-ea"/>
                <a:cs typeface="+mj-cs"/>
              </a:rPr>
              <a:t>Features of Software</a:t>
            </a:r>
          </a:p>
        </p:txBody>
      </p:sp>
      <p:sp>
        <p:nvSpPr>
          <p:cNvPr id="11267" name="Rectangle 3"/>
          <p:cNvSpPr>
            <a:spLocks noGrp="1" noChangeArrowheads="1"/>
          </p:cNvSpPr>
          <p:nvPr>
            <p:ph idx="1"/>
          </p:nvPr>
        </p:nvSpPr>
        <p:spPr>
          <a:xfrm>
            <a:off x="457200" y="1676400"/>
            <a:ext cx="8229600" cy="4572000"/>
          </a:xfrm>
        </p:spPr>
        <p:txBody>
          <a:bodyPr>
            <a:normAutofit/>
          </a:bodyPr>
          <a:lstStyle/>
          <a:p>
            <a:pPr algn="just" eaLnBrk="1" hangingPunct="1">
              <a:lnSpc>
                <a:spcPct val="90000"/>
              </a:lnSpc>
            </a:pPr>
            <a:r>
              <a:rPr lang="en-US" dirty="0" smtClean="0">
                <a:latin typeface="Calibri" pitchFamily="34" charset="0"/>
                <a:ea typeface="ＭＳ Ｐゴシック" charset="-128"/>
              </a:rPr>
              <a:t>Software is developed or </a:t>
            </a:r>
            <a:r>
              <a:rPr lang="en-US" dirty="0" smtClean="0">
                <a:solidFill>
                  <a:srgbClr val="AD0101"/>
                </a:solidFill>
                <a:latin typeface="Calibri" pitchFamily="34" charset="0"/>
                <a:ea typeface="ＭＳ Ｐゴシック" charset="-128"/>
              </a:rPr>
              <a:t>engineered</a:t>
            </a:r>
            <a:r>
              <a:rPr lang="en-US" dirty="0" smtClean="0">
                <a:latin typeface="Calibri" pitchFamily="34" charset="0"/>
                <a:ea typeface="ＭＳ Ｐゴシック" charset="-128"/>
              </a:rPr>
              <a:t>, it is not manufactured in the classical sense which has quality problem.</a:t>
            </a:r>
          </a:p>
          <a:p>
            <a:pPr algn="just" eaLnBrk="1" hangingPunct="1">
              <a:lnSpc>
                <a:spcPct val="90000"/>
              </a:lnSpc>
            </a:pPr>
            <a:r>
              <a:rPr lang="en-US" dirty="0" smtClean="0">
                <a:latin typeface="Calibri" pitchFamily="34" charset="0"/>
                <a:ea typeface="ＭＳ Ｐゴシック" charset="-128"/>
              </a:rPr>
              <a:t>Software </a:t>
            </a:r>
            <a:r>
              <a:rPr lang="en-US" dirty="0" smtClean="0">
                <a:solidFill>
                  <a:srgbClr val="AD0101"/>
                </a:solidFill>
                <a:latin typeface="Calibri" pitchFamily="34" charset="0"/>
                <a:ea typeface="ＭＳ Ｐゴシック" charset="-128"/>
              </a:rPr>
              <a:t>doesn't "wear out.</a:t>
            </a:r>
            <a:r>
              <a:rPr lang="ja-JP" altLang="en-US" dirty="0" smtClean="0">
                <a:solidFill>
                  <a:srgbClr val="AD0101"/>
                </a:solidFill>
                <a:latin typeface="Calibri" pitchFamily="34" charset="0"/>
                <a:ea typeface="ＭＳ Ｐゴシック" charset="-128"/>
              </a:rPr>
              <a:t>”</a:t>
            </a:r>
            <a:r>
              <a:rPr lang="en-US" altLang="ja-JP" dirty="0" smtClean="0">
                <a:solidFill>
                  <a:srgbClr val="AD0101"/>
                </a:solidFill>
                <a:latin typeface="Calibri" pitchFamily="34" charset="0"/>
                <a:ea typeface="ＭＳ Ｐゴシック" charset="-128"/>
              </a:rPr>
              <a:t> </a:t>
            </a:r>
            <a:r>
              <a:rPr lang="en-US" altLang="ja-JP" dirty="0" smtClean="0">
                <a:latin typeface="Calibri" pitchFamily="34" charset="0"/>
                <a:ea typeface="ＭＳ Ｐゴシック" charset="-128"/>
              </a:rPr>
              <a:t>but it deteriorates </a:t>
            </a:r>
            <a:r>
              <a:rPr lang="en-US" altLang="ja-JP" sz="1800" dirty="0" smtClean="0">
                <a:latin typeface="Calibri" pitchFamily="34" charset="0"/>
                <a:ea typeface="ＭＳ Ｐゴシック" charset="-128"/>
              </a:rPr>
              <a:t>(due to change). </a:t>
            </a:r>
            <a:r>
              <a:rPr lang="en-US" altLang="ja-JP" dirty="0" smtClean="0">
                <a:latin typeface="Calibri" pitchFamily="34" charset="0"/>
                <a:ea typeface="ＭＳ Ｐゴシック" charset="-128"/>
              </a:rPr>
              <a:t>Hardware has bathtub curve of failure rate </a:t>
            </a:r>
            <a:r>
              <a:rPr lang="en-US" altLang="ja-JP" sz="1800" dirty="0" smtClean="0">
                <a:latin typeface="Calibri" pitchFamily="34" charset="0"/>
                <a:ea typeface="ＭＳ Ｐゴシック" charset="-128"/>
              </a:rPr>
              <a:t>( high failure rate in the beginning, then drop to steady state, then cumulative effects of dust, vibration, abuse occurs). </a:t>
            </a:r>
          </a:p>
          <a:p>
            <a:pPr algn="just" eaLnBrk="1" hangingPunct="1">
              <a:lnSpc>
                <a:spcPct val="90000"/>
              </a:lnSpc>
            </a:pPr>
            <a:r>
              <a:rPr lang="en-US" dirty="0" smtClean="0">
                <a:latin typeface="Calibri" pitchFamily="34" charset="0"/>
                <a:ea typeface="ＭＳ Ｐゴシック" charset="-128"/>
              </a:rPr>
              <a:t>Although the industry is moving toward component-based construction (e.g. off-the-shelf integrated circuits), most software continues to be </a:t>
            </a:r>
            <a:r>
              <a:rPr lang="en-US" dirty="0" smtClean="0">
                <a:solidFill>
                  <a:schemeClr val="tx2"/>
                </a:solidFill>
                <a:latin typeface="Calibri" pitchFamily="34" charset="0"/>
                <a:ea typeface="ＭＳ Ｐゴシック" charset="-128"/>
              </a:rPr>
              <a:t>custom-built</a:t>
            </a:r>
            <a:r>
              <a:rPr lang="en-US" dirty="0" smtClean="0">
                <a:solidFill>
                  <a:schemeClr val="accent1"/>
                </a:solidFill>
                <a:latin typeface="Calibri" pitchFamily="34" charset="0"/>
                <a:ea typeface="ＭＳ Ｐゴシック" charset="-128"/>
              </a:rPr>
              <a:t>. </a:t>
            </a:r>
            <a:r>
              <a:rPr lang="en-US" dirty="0" smtClean="0">
                <a:latin typeface="Calibri" pitchFamily="34" charset="0"/>
                <a:ea typeface="ＭＳ Ｐゴシック" charset="-128"/>
              </a:rPr>
              <a:t>Modern reusable components encapsulate data and processing into software parts to be reused by different programs. E.g. graphical user interface, window, pull-down menus in library etc.</a:t>
            </a:r>
            <a:r>
              <a:rPr lang="en-US" i="1" dirty="0" smtClean="0">
                <a:latin typeface="Calibri" pitchFamily="34" charset="0"/>
                <a:ea typeface="ＭＳ Ｐゴシック" charset="-128"/>
              </a:rPr>
              <a:t>  </a:t>
            </a:r>
          </a:p>
        </p:txBody>
      </p:sp>
    </p:spTree>
    <p:extLst>
      <p:ext uri="{BB962C8B-B14F-4D97-AF65-F5344CB8AC3E}">
        <p14:creationId xmlns:p14="http://schemas.microsoft.com/office/powerpoint/2010/main" val="239426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title"/>
          </p:nvPr>
        </p:nvSpPr>
        <p:spPr>
          <a:xfrm>
            <a:off x="1295400" y="1066800"/>
            <a:ext cx="5180013" cy="660400"/>
          </a:xfrm>
          <a:noFill/>
        </p:spPr>
        <p:txBody>
          <a:bodyPr wrap="none" lIns="63500" tIns="25400" rIns="63500" bIns="25400" anchor="t">
            <a:spAutoFit/>
          </a:bodyPr>
          <a:lstStyle/>
          <a:p>
            <a:pPr eaLnBrk="1" hangingPunct="1"/>
            <a:r>
              <a:rPr lang="en-US" smtClean="0">
                <a:ea typeface="ＭＳ Ｐゴシック" charset="-128"/>
              </a:rPr>
              <a:t>Wear vs. Deterioration</a:t>
            </a:r>
          </a:p>
        </p:txBody>
      </p:sp>
      <p:sp>
        <p:nvSpPr>
          <p:cNvPr id="128002" name="Rectangle 2"/>
          <p:cNvSpPr>
            <a:spLocks noChangeArrowheads="1"/>
          </p:cNvSpPr>
          <p:nvPr/>
        </p:nvSpPr>
        <p:spPr bwMode="auto">
          <a:xfrm>
            <a:off x="1371600" y="1885950"/>
            <a:ext cx="6781800" cy="4438650"/>
          </a:xfrm>
          <a:prstGeom prst="rect">
            <a:avLst/>
          </a:prstGeom>
          <a:solidFill>
            <a:srgbClr val="96E3FE"/>
          </a:solidFill>
          <a:ln w="12700">
            <a:noFill/>
            <a:miter lim="800000"/>
            <a:headEnd/>
            <a:tailEnd/>
          </a:ln>
          <a:effectLst>
            <a:outerShdw blurRad="63500" dist="71842" dir="2700000" algn="ctr" rotWithShape="0">
              <a:schemeClr val="bg2">
                <a:alpha val="74998"/>
              </a:schemeClr>
            </a:outerShdw>
          </a:effectLst>
        </p:spPr>
        <p:txBody>
          <a:bodyPr wrap="none" anchor="ctr"/>
          <a:lstStyle/>
          <a:p>
            <a:pPr>
              <a:defRPr/>
            </a:pPr>
            <a:endParaRPr lang="en-US">
              <a:latin typeface="Arial" charset="0"/>
              <a:ea typeface="ＭＳ Ｐゴシック" charset="0"/>
              <a:cs typeface="ＭＳ Ｐゴシック" charset="0"/>
            </a:endParaRPr>
          </a:p>
        </p:txBody>
      </p:sp>
      <p:pic>
        <p:nvPicPr>
          <p:cNvPr id="12293"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1971675"/>
            <a:ext cx="6600825" cy="420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80002641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762000" y="3581400"/>
            <a:ext cx="7772400" cy="1669688"/>
          </a:xfrm>
          <a:prstGeom prst="rect">
            <a:avLst/>
          </a:prstGeom>
        </p:spPr>
        <p:txBody>
          <a:bodyPr>
            <a:spAutoFit/>
          </a:bodyPr>
          <a:lstStyle/>
          <a:p>
            <a:pPr eaLnBrk="1" hangingPunct="1">
              <a:defRPr/>
            </a:pPr>
            <a:r>
              <a:rPr lang="en-US" sz="2000" dirty="0">
                <a:latin typeface="Calibri" pitchFamily="34" charset="0"/>
              </a:rPr>
              <a:t>The IEEE definition:</a:t>
            </a:r>
          </a:p>
          <a:p>
            <a:pPr lvl="1" eaLnBrk="1" hangingPunct="1">
              <a:spcBef>
                <a:spcPts val="300"/>
              </a:spcBef>
              <a:defRPr/>
            </a:pPr>
            <a:r>
              <a:rPr lang="en-US" sz="2000" i="1" dirty="0">
                <a:latin typeface="Calibri" pitchFamily="34" charset="0"/>
              </a:rPr>
              <a:t>Software Engineering: (1) The application of a </a:t>
            </a:r>
            <a:r>
              <a:rPr lang="en-US" sz="2000" i="1" dirty="0">
                <a:solidFill>
                  <a:srgbClr val="AD0101"/>
                </a:solidFill>
                <a:latin typeface="Calibri" pitchFamily="34" charset="0"/>
              </a:rPr>
              <a:t>systematic, disciplined, quantifiable approach </a:t>
            </a:r>
            <a:r>
              <a:rPr lang="en-US" sz="2000" i="1" dirty="0">
                <a:latin typeface="Calibri" pitchFamily="34" charset="0"/>
              </a:rPr>
              <a:t>to the </a:t>
            </a:r>
            <a:r>
              <a:rPr lang="en-US" sz="2000" i="1" dirty="0">
                <a:solidFill>
                  <a:srgbClr val="AD0101"/>
                </a:solidFill>
                <a:latin typeface="Calibri" pitchFamily="34" charset="0"/>
              </a:rPr>
              <a:t>development, operation, and maintenance </a:t>
            </a:r>
            <a:r>
              <a:rPr lang="en-US" sz="2000" i="1" dirty="0">
                <a:latin typeface="Calibri" pitchFamily="34" charset="0"/>
              </a:rPr>
              <a:t>of software; that is, the application of engineering to software.  (2) The study of approaches as in (1).</a:t>
            </a:r>
          </a:p>
        </p:txBody>
      </p:sp>
      <p:sp>
        <p:nvSpPr>
          <p:cNvPr id="15363" name="Rectangle 14"/>
          <p:cNvSpPr>
            <a:spLocks noChangeArrowheads="1"/>
          </p:cNvSpPr>
          <p:nvPr/>
        </p:nvSpPr>
        <p:spPr bwMode="auto">
          <a:xfrm>
            <a:off x="685800" y="1643062"/>
            <a:ext cx="7543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sz="2000" dirty="0">
                <a:latin typeface="Calibri" pitchFamily="34" charset="0"/>
              </a:rPr>
              <a:t>The </a:t>
            </a:r>
            <a:r>
              <a:rPr lang="en-US" sz="2000" dirty="0" smtClean="0">
                <a:latin typeface="Calibri" pitchFamily="34" charset="0"/>
              </a:rPr>
              <a:t>Seminal </a:t>
            </a:r>
            <a:r>
              <a:rPr lang="en-US" sz="2000" dirty="0">
                <a:latin typeface="Calibri" pitchFamily="34" charset="0"/>
              </a:rPr>
              <a:t>definition:</a:t>
            </a:r>
            <a:endParaRPr lang="en-US" sz="2000" i="1" dirty="0">
              <a:latin typeface="Calibri" pitchFamily="34" charset="0"/>
            </a:endParaRPr>
          </a:p>
          <a:p>
            <a:pPr lvl="1" algn="just" eaLnBrk="1" hangingPunct="1"/>
            <a:r>
              <a:rPr lang="en-US" sz="2000" i="1" dirty="0">
                <a:latin typeface="Calibri" pitchFamily="34" charset="0"/>
              </a:rPr>
              <a:t>[Software engineering is] the establishment and use of </a:t>
            </a:r>
            <a:r>
              <a:rPr lang="en-US" sz="2000" i="1" dirty="0">
                <a:solidFill>
                  <a:srgbClr val="AD0101"/>
                </a:solidFill>
                <a:latin typeface="Calibri" pitchFamily="34" charset="0"/>
              </a:rPr>
              <a:t>sound engineering principles </a:t>
            </a:r>
            <a:r>
              <a:rPr lang="en-US" sz="2000" i="1" dirty="0">
                <a:latin typeface="Calibri" pitchFamily="34" charset="0"/>
              </a:rPr>
              <a:t>in order to obtain </a:t>
            </a:r>
            <a:r>
              <a:rPr lang="en-US" sz="2000" i="1" dirty="0">
                <a:solidFill>
                  <a:srgbClr val="AD0101"/>
                </a:solidFill>
                <a:latin typeface="Calibri" pitchFamily="34" charset="0"/>
              </a:rPr>
              <a:t>economically</a:t>
            </a:r>
            <a:r>
              <a:rPr lang="en-US" sz="2000" i="1" dirty="0">
                <a:latin typeface="Calibri" pitchFamily="34" charset="0"/>
              </a:rPr>
              <a:t> software that is </a:t>
            </a:r>
            <a:r>
              <a:rPr lang="en-US" sz="2000" i="1" dirty="0">
                <a:solidFill>
                  <a:srgbClr val="AD0101"/>
                </a:solidFill>
                <a:latin typeface="Calibri" pitchFamily="34" charset="0"/>
              </a:rPr>
              <a:t>reliable and works efficiently on real machines.</a:t>
            </a:r>
          </a:p>
        </p:txBody>
      </p:sp>
      <p:sp>
        <p:nvSpPr>
          <p:cNvPr id="16" name="Rectangle 2"/>
          <p:cNvSpPr>
            <a:spLocks noGrp="1" noChangeArrowheads="1"/>
          </p:cNvSpPr>
          <p:nvPr>
            <p:ph type="title"/>
          </p:nvPr>
        </p:nvSpPr>
        <p:spPr>
          <a:xfrm>
            <a:off x="152400" y="661988"/>
            <a:ext cx="8686800" cy="785812"/>
          </a:xfrm>
        </p:spPr>
        <p:txBody>
          <a:bodyPr rtlCol="0">
            <a:normAutofit/>
          </a:bodyPr>
          <a:lstStyle/>
          <a:p>
            <a:pPr algn="ctr" eaLnBrk="1" fontAlgn="auto" hangingPunct="1">
              <a:spcAft>
                <a:spcPts val="0"/>
              </a:spcAft>
              <a:defRPr/>
            </a:pPr>
            <a:r>
              <a:rPr lang="en-US" dirty="0" smtClean="0">
                <a:latin typeface="Calibri" pitchFamily="34" charset="0"/>
              </a:rPr>
              <a:t>Software Engineering Definition</a:t>
            </a:r>
          </a:p>
        </p:txBody>
      </p:sp>
    </p:spTree>
    <p:extLst>
      <p:ext uri="{BB962C8B-B14F-4D97-AF65-F5344CB8AC3E}">
        <p14:creationId xmlns:p14="http://schemas.microsoft.com/office/powerpoint/2010/main" val="614654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74638"/>
            <a:ext cx="8077200" cy="1143000"/>
          </a:xfrm>
        </p:spPr>
        <p:txBody>
          <a:bodyPr/>
          <a:lstStyle/>
          <a:p>
            <a:pPr eaLnBrk="1" hangingPunct="1"/>
            <a:r>
              <a:rPr lang="en-US" sz="4000" smtClean="0">
                <a:ea typeface="ＭＳ Ｐゴシック" charset="-128"/>
              </a:rPr>
              <a:t>Importance of Software Engineering</a:t>
            </a:r>
          </a:p>
        </p:txBody>
      </p:sp>
      <p:sp>
        <p:nvSpPr>
          <p:cNvPr id="16387" name="Content Placeholder 2"/>
          <p:cNvSpPr>
            <a:spLocks noGrp="1"/>
          </p:cNvSpPr>
          <p:nvPr>
            <p:ph idx="1"/>
          </p:nvPr>
        </p:nvSpPr>
        <p:spPr>
          <a:xfrm>
            <a:off x="457200" y="1600200"/>
            <a:ext cx="8229600" cy="4525963"/>
          </a:xfrm>
        </p:spPr>
        <p:txBody>
          <a:bodyPr/>
          <a:lstStyle/>
          <a:p>
            <a:pPr algn="just" eaLnBrk="1" hangingPunct="1"/>
            <a:r>
              <a:rPr lang="en-GB" dirty="0" smtClean="0">
                <a:ea typeface="ＭＳ Ｐゴシック" charset="-128"/>
              </a:rPr>
              <a:t>More and more, individuals and society rely on advanced software systems. We need to be able to produce </a:t>
            </a:r>
            <a:r>
              <a:rPr lang="en-GB" dirty="0" smtClean="0">
                <a:solidFill>
                  <a:srgbClr val="AD0101"/>
                </a:solidFill>
                <a:ea typeface="ＭＳ Ｐゴシック" charset="-128"/>
              </a:rPr>
              <a:t>reliable and trustworthy systems economically and quickly.</a:t>
            </a:r>
          </a:p>
          <a:p>
            <a:pPr algn="just" eaLnBrk="1" hangingPunct="1"/>
            <a:r>
              <a:rPr lang="en-GB" dirty="0" smtClean="0">
                <a:ea typeface="ＭＳ Ｐゴシック" charset="-128"/>
              </a:rPr>
              <a:t>It is usually </a:t>
            </a:r>
            <a:r>
              <a:rPr lang="en-GB" dirty="0" smtClean="0">
                <a:solidFill>
                  <a:srgbClr val="AD0101"/>
                </a:solidFill>
                <a:ea typeface="ＭＳ Ｐゴシック" charset="-128"/>
              </a:rPr>
              <a:t>cheaper, in the long run</a:t>
            </a:r>
            <a:r>
              <a:rPr lang="en-GB" dirty="0" smtClean="0">
                <a:ea typeface="ＭＳ Ｐゴシック" charset="-128"/>
              </a:rPr>
              <a:t>, to use software engineering methods and techniques for software systems rather than just write the programs as if it was a personal programming project. For most types of system, the majority of costs are the </a:t>
            </a:r>
            <a:r>
              <a:rPr lang="en-GB" dirty="0" smtClean="0">
                <a:solidFill>
                  <a:srgbClr val="AD0101"/>
                </a:solidFill>
                <a:ea typeface="ＭＳ Ｐゴシック" charset="-128"/>
              </a:rPr>
              <a:t>costs of changing </a:t>
            </a:r>
            <a:r>
              <a:rPr lang="en-GB" dirty="0" smtClean="0">
                <a:ea typeface="ＭＳ Ｐゴシック" charset="-128"/>
              </a:rPr>
              <a:t>the software after it has gone into use.</a:t>
            </a:r>
          </a:p>
          <a:p>
            <a:pPr algn="just" eaLnBrk="1" hangingPunct="1"/>
            <a:endParaRPr lang="en-US" dirty="0" smtClean="0">
              <a:ea typeface="ＭＳ Ｐゴシック" charset="-128"/>
            </a:endParaRPr>
          </a:p>
        </p:txBody>
      </p:sp>
    </p:spTree>
    <p:extLst>
      <p:ext uri="{BB962C8B-B14F-4D97-AF65-F5344CB8AC3E}">
        <p14:creationId xmlns:p14="http://schemas.microsoft.com/office/powerpoint/2010/main" val="783274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12044" y="829469"/>
            <a:ext cx="7405687" cy="620713"/>
          </a:xfrm>
          <a:noFill/>
        </p:spPr>
        <p:txBody>
          <a:bodyPr lIns="63500" tIns="25400" rIns="63500" bIns="25400" anchor="t">
            <a:spAutoFit/>
          </a:bodyPr>
          <a:lstStyle/>
          <a:p>
            <a:pPr algn="ctr" eaLnBrk="1" hangingPunct="1"/>
            <a:r>
              <a:rPr lang="en-US" sz="3700" dirty="0" smtClean="0">
                <a:ea typeface="ＭＳ Ｐゴシック" charset="-128"/>
              </a:rPr>
              <a:t>A Layered Technology</a:t>
            </a:r>
          </a:p>
        </p:txBody>
      </p:sp>
      <p:sp>
        <p:nvSpPr>
          <p:cNvPr id="19460" name="Rectangle 3"/>
          <p:cNvSpPr>
            <a:spLocks noChangeArrowheads="1"/>
          </p:cNvSpPr>
          <p:nvPr/>
        </p:nvSpPr>
        <p:spPr bwMode="auto">
          <a:xfrm>
            <a:off x="152400" y="609600"/>
            <a:ext cx="308451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p>
            <a:pPr>
              <a:lnSpc>
                <a:spcPct val="90000"/>
              </a:lnSpc>
            </a:pPr>
            <a:r>
              <a:rPr lang="en-US" b="1" i="1" dirty="0">
                <a:solidFill>
                  <a:schemeClr val="folHlink"/>
                </a:solidFill>
                <a:latin typeface="Palatino" charset="0"/>
              </a:rPr>
              <a:t>Software Engineering</a:t>
            </a:r>
            <a:endParaRPr lang="en-US" b="1" dirty="0">
              <a:latin typeface="Palatino" charset="0"/>
            </a:endParaRPr>
          </a:p>
        </p:txBody>
      </p:sp>
      <p:sp>
        <p:nvSpPr>
          <p:cNvPr id="156676" name="Oval 4"/>
          <p:cNvSpPr>
            <a:spLocks noChangeArrowheads="1"/>
          </p:cNvSpPr>
          <p:nvPr/>
        </p:nvSpPr>
        <p:spPr bwMode="auto">
          <a:xfrm>
            <a:off x="1004888" y="2598513"/>
            <a:ext cx="7620000" cy="1285875"/>
          </a:xfrm>
          <a:prstGeom prst="ellipse">
            <a:avLst/>
          </a:prstGeom>
          <a:solidFill>
            <a:srgbClr val="0070C0">
              <a:alpha val="78000"/>
            </a:srgbClr>
          </a:solidFill>
          <a:ln>
            <a:noFill/>
          </a:ln>
          <a:effectLst>
            <a:outerShdw blurRad="63500" dist="107763" dir="2700000" algn="ctr" rotWithShape="0">
              <a:srgbClr val="000000">
                <a:alpha val="74997"/>
              </a:srgbClr>
            </a:outerShdw>
          </a:effectLst>
          <a:extLst/>
        </p:spPr>
        <p:txBody>
          <a:bodyPr wrap="none" anchor="ctr"/>
          <a:lstStyle/>
          <a:p>
            <a:pPr>
              <a:defRPr/>
            </a:pPr>
            <a:endParaRPr lang="en-US">
              <a:latin typeface="Arial" charset="0"/>
              <a:ea typeface="ＭＳ Ｐゴシック" charset="0"/>
              <a:cs typeface="ＭＳ Ｐゴシック" charset="0"/>
            </a:endParaRPr>
          </a:p>
        </p:txBody>
      </p:sp>
      <p:sp>
        <p:nvSpPr>
          <p:cNvPr id="156677" name="Oval 5"/>
          <p:cNvSpPr>
            <a:spLocks noChangeArrowheads="1"/>
          </p:cNvSpPr>
          <p:nvPr/>
        </p:nvSpPr>
        <p:spPr bwMode="auto">
          <a:xfrm>
            <a:off x="1462088" y="2169888"/>
            <a:ext cx="6629400" cy="1200150"/>
          </a:xfrm>
          <a:prstGeom prst="ellipse">
            <a:avLst/>
          </a:prstGeom>
          <a:solidFill>
            <a:srgbClr val="00B050">
              <a:alpha val="55000"/>
            </a:srgbClr>
          </a:solidFill>
          <a:ln>
            <a:noFill/>
          </a:ln>
          <a:effectLst>
            <a:outerShdw blurRad="63500" dist="107763" dir="2700000" algn="ctr" rotWithShape="0">
              <a:srgbClr val="000000">
                <a:alpha val="74997"/>
              </a:srgbClr>
            </a:outerShdw>
          </a:effectLst>
          <a:extLst/>
        </p:spPr>
        <p:txBody>
          <a:bodyPr wrap="none" anchor="ctr"/>
          <a:lstStyle/>
          <a:p>
            <a:pPr>
              <a:defRPr/>
            </a:pPr>
            <a:endParaRPr lang="en-US">
              <a:latin typeface="Arial" charset="0"/>
              <a:ea typeface="ＭＳ Ｐゴシック" charset="0"/>
              <a:cs typeface="ＭＳ Ｐゴシック" charset="0"/>
            </a:endParaRPr>
          </a:p>
        </p:txBody>
      </p:sp>
      <p:sp>
        <p:nvSpPr>
          <p:cNvPr id="156678" name="Oval 6"/>
          <p:cNvSpPr>
            <a:spLocks noChangeArrowheads="1"/>
          </p:cNvSpPr>
          <p:nvPr/>
        </p:nvSpPr>
        <p:spPr bwMode="auto">
          <a:xfrm>
            <a:off x="1995488" y="1712688"/>
            <a:ext cx="5486400" cy="1028700"/>
          </a:xfrm>
          <a:prstGeom prst="ellipse">
            <a:avLst/>
          </a:prstGeom>
          <a:solidFill>
            <a:srgbClr val="FFC000">
              <a:alpha val="52000"/>
            </a:srgbClr>
          </a:solidFill>
          <a:ln>
            <a:noFill/>
          </a:ln>
          <a:effectLst>
            <a:outerShdw blurRad="63500" dist="107763" dir="2700000" algn="ctr" rotWithShape="0">
              <a:srgbClr val="000000">
                <a:alpha val="74997"/>
              </a:srgbClr>
            </a:outerShdw>
          </a:effectLst>
          <a:extLst/>
        </p:spPr>
        <p:txBody>
          <a:bodyPr wrap="none" anchor="ctr"/>
          <a:lstStyle/>
          <a:p>
            <a:pPr>
              <a:defRPr/>
            </a:pPr>
            <a:endParaRPr lang="en-US">
              <a:latin typeface="Arial" charset="0"/>
              <a:ea typeface="ＭＳ Ｐゴシック" charset="0"/>
              <a:cs typeface="ＭＳ Ｐゴシック" charset="0"/>
            </a:endParaRPr>
          </a:p>
        </p:txBody>
      </p:sp>
      <p:sp>
        <p:nvSpPr>
          <p:cNvPr id="156679" name="Oval 7"/>
          <p:cNvSpPr>
            <a:spLocks noChangeArrowheads="1"/>
          </p:cNvSpPr>
          <p:nvPr/>
        </p:nvSpPr>
        <p:spPr bwMode="auto">
          <a:xfrm>
            <a:off x="2376488" y="1484088"/>
            <a:ext cx="4724400" cy="685800"/>
          </a:xfrm>
          <a:prstGeom prst="ellipse">
            <a:avLst/>
          </a:prstGeom>
          <a:solidFill>
            <a:srgbClr val="790015">
              <a:alpha val="59000"/>
            </a:srgbClr>
          </a:solidFill>
          <a:ln>
            <a:noFill/>
          </a:ln>
          <a:effectLst>
            <a:outerShdw blurRad="63500" dist="107763" dir="2700000" algn="ctr" rotWithShape="0">
              <a:srgbClr val="000000">
                <a:alpha val="74997"/>
              </a:srgbClr>
            </a:outerShdw>
          </a:effectLst>
          <a:extLst/>
        </p:spPr>
        <p:txBody>
          <a:bodyPr wrap="none" anchor="ctr"/>
          <a:lstStyle/>
          <a:p>
            <a:pPr>
              <a:defRPr/>
            </a:pPr>
            <a:endParaRPr lang="en-US">
              <a:latin typeface="Arial" charset="0"/>
              <a:ea typeface="ＭＳ Ｐゴシック" charset="0"/>
              <a:cs typeface="ＭＳ Ｐゴシック" charset="0"/>
            </a:endParaRPr>
          </a:p>
        </p:txBody>
      </p:sp>
      <p:sp>
        <p:nvSpPr>
          <p:cNvPr id="156680" name="Rectangle 8"/>
          <p:cNvSpPr>
            <a:spLocks noChangeArrowheads="1"/>
          </p:cNvSpPr>
          <p:nvPr/>
        </p:nvSpPr>
        <p:spPr bwMode="auto">
          <a:xfrm>
            <a:off x="3657600" y="3556000"/>
            <a:ext cx="2141538" cy="393700"/>
          </a:xfrm>
          <a:prstGeom prst="rect">
            <a:avLst/>
          </a:prstGeom>
          <a:noFill/>
          <a:ln w="12700">
            <a:noFill/>
            <a:miter lim="800000"/>
            <a:headEnd/>
            <a:tailEnd/>
          </a:ln>
          <a:effectLst/>
        </p:spPr>
        <p:txBody>
          <a:bodyPr wrap="none" lIns="90487" tIns="44450" rIns="90487" bIns="44450">
            <a:spAutoFit/>
          </a:bodyPr>
          <a:lstStyle/>
          <a:p>
            <a:pPr>
              <a:defRPr/>
            </a:pPr>
            <a:r>
              <a:rPr lang="en-US" sz="2000" b="1">
                <a:effectLst>
                  <a:outerShdw blurRad="38100" dist="38100" dir="2700000" algn="tl">
                    <a:srgbClr val="C0C0C0"/>
                  </a:outerShdw>
                </a:effectLst>
                <a:latin typeface="Palatino" charset="0"/>
              </a:rPr>
              <a:t>a </a:t>
            </a:r>
            <a:r>
              <a:rPr lang="ja-JP" altLang="en-US" sz="2000" b="1">
                <a:effectLst>
                  <a:outerShdw blurRad="38100" dist="38100" dir="2700000" algn="tl">
                    <a:srgbClr val="C0C0C0"/>
                  </a:outerShdw>
                </a:effectLst>
                <a:latin typeface="Palatino" charset="0"/>
              </a:rPr>
              <a:t>“</a:t>
            </a:r>
            <a:r>
              <a:rPr lang="en-US" altLang="ja-JP" sz="2000" b="1">
                <a:effectLst>
                  <a:outerShdw blurRad="38100" dist="38100" dir="2700000" algn="tl">
                    <a:srgbClr val="C0C0C0"/>
                  </a:outerShdw>
                </a:effectLst>
                <a:latin typeface="Palatino" charset="0"/>
              </a:rPr>
              <a:t>quality</a:t>
            </a:r>
            <a:r>
              <a:rPr lang="ja-JP" altLang="en-US" sz="2000" b="1">
                <a:effectLst>
                  <a:outerShdw blurRad="38100" dist="38100" dir="2700000" algn="tl">
                    <a:srgbClr val="C0C0C0"/>
                  </a:outerShdw>
                </a:effectLst>
                <a:latin typeface="Palatino" charset="0"/>
              </a:rPr>
              <a:t>”</a:t>
            </a:r>
            <a:r>
              <a:rPr lang="en-US" altLang="ja-JP" sz="2000" b="1">
                <a:effectLst>
                  <a:outerShdw blurRad="38100" dist="38100" dir="2700000" algn="tl">
                    <a:srgbClr val="C0C0C0"/>
                  </a:outerShdw>
                </a:effectLst>
                <a:latin typeface="Palatino" charset="0"/>
              </a:rPr>
              <a:t> focus</a:t>
            </a:r>
            <a:endParaRPr lang="en-US" sz="2000" b="1">
              <a:effectLst>
                <a:outerShdw blurRad="38100" dist="38100" dir="2700000" algn="tl">
                  <a:srgbClr val="C0C0C0"/>
                </a:outerShdw>
              </a:effectLst>
              <a:latin typeface="Palatino" charset="0"/>
            </a:endParaRPr>
          </a:p>
        </p:txBody>
      </p:sp>
      <p:sp>
        <p:nvSpPr>
          <p:cNvPr id="156681" name="Rectangle 9"/>
          <p:cNvSpPr>
            <a:spLocks noChangeArrowheads="1"/>
          </p:cNvSpPr>
          <p:nvPr/>
        </p:nvSpPr>
        <p:spPr bwMode="auto">
          <a:xfrm>
            <a:off x="3759200" y="2955925"/>
            <a:ext cx="1838325" cy="393700"/>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C0C0C0"/>
                  </a:outerShdw>
                </a:effectLst>
                <a:latin typeface="Palatino" charset="0"/>
              </a:rPr>
              <a:t>process model</a:t>
            </a:r>
          </a:p>
        </p:txBody>
      </p:sp>
      <p:sp>
        <p:nvSpPr>
          <p:cNvPr id="156682" name="Rectangle 10"/>
          <p:cNvSpPr>
            <a:spLocks noChangeArrowheads="1"/>
          </p:cNvSpPr>
          <p:nvPr/>
        </p:nvSpPr>
        <p:spPr bwMode="auto">
          <a:xfrm>
            <a:off x="4114800" y="2355850"/>
            <a:ext cx="1182688" cy="393700"/>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C0C0C0"/>
                  </a:outerShdw>
                </a:effectLst>
                <a:latin typeface="Palatino" charset="0"/>
              </a:rPr>
              <a:t>methods</a:t>
            </a:r>
          </a:p>
        </p:txBody>
      </p:sp>
      <p:sp>
        <p:nvSpPr>
          <p:cNvPr id="156683" name="Rectangle 11"/>
          <p:cNvSpPr>
            <a:spLocks noChangeArrowheads="1"/>
          </p:cNvSpPr>
          <p:nvPr/>
        </p:nvSpPr>
        <p:spPr bwMode="auto">
          <a:xfrm>
            <a:off x="4419600" y="1755775"/>
            <a:ext cx="746125" cy="393700"/>
          </a:xfrm>
          <a:prstGeom prst="rect">
            <a:avLst/>
          </a:prstGeom>
          <a:noFill/>
          <a:ln w="12700">
            <a:noFill/>
            <a:miter lim="800000"/>
            <a:headEnd/>
            <a:tailEnd/>
          </a:ln>
          <a:effectLst/>
        </p:spPr>
        <p:txBody>
          <a:bodyPr wrap="none" lIns="90487" tIns="44450" rIns="90487" bIns="44450">
            <a:spAutoFit/>
          </a:bodyPr>
          <a:lstStyle/>
          <a:p>
            <a:pPr>
              <a:defRPr/>
            </a:pPr>
            <a:r>
              <a:rPr lang="en-US" sz="2000" b="1">
                <a:solidFill>
                  <a:srgbClr val="DADADA"/>
                </a:solidFill>
                <a:effectLst>
                  <a:outerShdw blurRad="38100" dist="38100" dir="2700000" algn="tl">
                    <a:srgbClr val="C0C0C0"/>
                  </a:outerShdw>
                </a:effectLst>
                <a:latin typeface="Palatino" charset="0"/>
              </a:rPr>
              <a:t>tools</a:t>
            </a:r>
          </a:p>
        </p:txBody>
      </p:sp>
      <p:sp>
        <p:nvSpPr>
          <p:cNvPr id="19469" name="Rectangle 3"/>
          <p:cNvSpPr txBox="1">
            <a:spLocks noChangeArrowheads="1"/>
          </p:cNvSpPr>
          <p:nvPr/>
        </p:nvSpPr>
        <p:spPr bwMode="auto">
          <a:xfrm>
            <a:off x="449262" y="4067628"/>
            <a:ext cx="8458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itchFamily="34" charset="0"/>
                <a:ea typeface="ＭＳ Ｐゴシック" charset="-128"/>
              </a:defRPr>
            </a:lvl1pPr>
            <a:lvl2pPr marL="742950" indent="-285750">
              <a:defRPr sz="2400">
                <a:solidFill>
                  <a:schemeClr val="tx1"/>
                </a:solidFill>
                <a:latin typeface="Arial" pitchFamily="34" charset="0"/>
                <a:ea typeface="ＭＳ Ｐゴシック" charset="-128"/>
              </a:defRPr>
            </a:lvl2pPr>
            <a:lvl3pPr marL="1143000" indent="-228600">
              <a:defRPr sz="2400">
                <a:solidFill>
                  <a:schemeClr val="tx1"/>
                </a:solidFill>
                <a:latin typeface="Arial" pitchFamily="34" charset="0"/>
                <a:ea typeface="ＭＳ Ｐゴシック" charset="-128"/>
              </a:defRPr>
            </a:lvl3pPr>
            <a:lvl4pPr marL="1600200" indent="-228600">
              <a:defRPr sz="2400">
                <a:solidFill>
                  <a:schemeClr val="tx1"/>
                </a:solidFill>
                <a:latin typeface="Arial" pitchFamily="34" charset="0"/>
                <a:ea typeface="ＭＳ Ｐゴシック" charset="-128"/>
              </a:defRPr>
            </a:lvl4pPr>
            <a:lvl5pPr marL="2057400" indent="-22860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spcBef>
                <a:spcPct val="20000"/>
              </a:spcBef>
              <a:buClr>
                <a:schemeClr val="folHlink"/>
              </a:buClr>
              <a:buSzPct val="75000"/>
              <a:buFont typeface="Wingdings" pitchFamily="2" charset="2"/>
              <a:buChar char="n"/>
            </a:pPr>
            <a:r>
              <a:rPr lang="en-US" sz="1600" dirty="0">
                <a:latin typeface="Helvetica" charset="0"/>
              </a:rPr>
              <a:t>Any engineering approach must rest on organizational commitment to </a:t>
            </a:r>
            <a:r>
              <a:rPr lang="en-US" sz="1600" b="1" dirty="0">
                <a:solidFill>
                  <a:srgbClr val="AD0101"/>
                </a:solidFill>
                <a:latin typeface="Helvetica" charset="0"/>
              </a:rPr>
              <a:t>quality</a:t>
            </a:r>
            <a:r>
              <a:rPr lang="en-US" sz="1600" dirty="0">
                <a:solidFill>
                  <a:srgbClr val="AD0101"/>
                </a:solidFill>
                <a:latin typeface="Helvetica" charset="0"/>
              </a:rPr>
              <a:t> </a:t>
            </a:r>
            <a:r>
              <a:rPr lang="en-US" sz="1600" dirty="0">
                <a:latin typeface="Helvetica" charset="0"/>
              </a:rPr>
              <a:t>which fosters a continuous process improvement culture. </a:t>
            </a:r>
          </a:p>
          <a:p>
            <a:pPr eaLnBrk="1" hangingPunct="1">
              <a:spcBef>
                <a:spcPct val="20000"/>
              </a:spcBef>
              <a:buClr>
                <a:schemeClr val="folHlink"/>
              </a:buClr>
              <a:buSzPct val="75000"/>
              <a:buFont typeface="Wingdings" pitchFamily="2" charset="2"/>
              <a:buChar char="n"/>
            </a:pPr>
            <a:r>
              <a:rPr lang="en-US" sz="1600" b="1" dirty="0">
                <a:solidFill>
                  <a:srgbClr val="AD0101"/>
                </a:solidFill>
                <a:latin typeface="Helvetica" charset="0"/>
              </a:rPr>
              <a:t>Process</a:t>
            </a:r>
            <a:r>
              <a:rPr lang="en-US" sz="1600" dirty="0">
                <a:solidFill>
                  <a:srgbClr val="AD0101"/>
                </a:solidFill>
                <a:latin typeface="Helvetica" charset="0"/>
              </a:rPr>
              <a:t> </a:t>
            </a:r>
            <a:r>
              <a:rPr lang="en-US" sz="1600" dirty="0">
                <a:latin typeface="Helvetica" charset="0"/>
              </a:rPr>
              <a:t>layer as the foundation defines a framework with activities for effective delivery of software engineering technology. Establish the context where products (model, data, report, and forms) are produced, milestone are established, quality is ensured and change is managed. </a:t>
            </a:r>
          </a:p>
          <a:p>
            <a:pPr algn="just" eaLnBrk="1" hangingPunct="1">
              <a:spcBef>
                <a:spcPct val="20000"/>
              </a:spcBef>
              <a:buClr>
                <a:schemeClr val="folHlink"/>
              </a:buClr>
              <a:buSzPct val="75000"/>
              <a:buFont typeface="Wingdings" pitchFamily="2" charset="2"/>
              <a:buChar char="n"/>
            </a:pPr>
            <a:r>
              <a:rPr lang="en-US" sz="1600" b="1" dirty="0">
                <a:solidFill>
                  <a:srgbClr val="AD0101"/>
                </a:solidFill>
                <a:latin typeface="Helvetica" charset="0"/>
              </a:rPr>
              <a:t>Method</a:t>
            </a:r>
            <a:r>
              <a:rPr lang="en-US" sz="1600" dirty="0">
                <a:solidFill>
                  <a:srgbClr val="AD0101"/>
                </a:solidFill>
                <a:latin typeface="Helvetica" charset="0"/>
              </a:rPr>
              <a:t> </a:t>
            </a:r>
            <a:r>
              <a:rPr lang="en-US" sz="1600" dirty="0">
                <a:latin typeface="Helvetica" charset="0"/>
              </a:rPr>
              <a:t>provides technical how-to</a:t>
            </a:r>
            <a:r>
              <a:rPr lang="ja-JP" altLang="en-US" sz="1600" dirty="0">
                <a:latin typeface="Helvetica" charset="0"/>
              </a:rPr>
              <a:t>’</a:t>
            </a:r>
            <a:r>
              <a:rPr lang="en-US" altLang="ja-JP" sz="1600" dirty="0">
                <a:latin typeface="Helvetica" charset="0"/>
              </a:rPr>
              <a:t>s for building software. It encompasses many tasks including communication, requirement analysis, design modeling, program construction, testing and support. </a:t>
            </a:r>
          </a:p>
          <a:p>
            <a:pPr eaLnBrk="1" hangingPunct="1">
              <a:spcBef>
                <a:spcPct val="20000"/>
              </a:spcBef>
              <a:buClr>
                <a:schemeClr val="folHlink"/>
              </a:buClr>
              <a:buSzPct val="75000"/>
              <a:buFont typeface="Wingdings" pitchFamily="2" charset="2"/>
              <a:buChar char="n"/>
            </a:pPr>
            <a:r>
              <a:rPr lang="en-US" sz="1600" b="1" dirty="0">
                <a:solidFill>
                  <a:srgbClr val="AD0101"/>
                </a:solidFill>
                <a:latin typeface="Helvetica" charset="0"/>
              </a:rPr>
              <a:t>Tools</a:t>
            </a:r>
            <a:r>
              <a:rPr lang="en-US" sz="1600" dirty="0">
                <a:solidFill>
                  <a:srgbClr val="AD0101"/>
                </a:solidFill>
                <a:latin typeface="Helvetica" charset="0"/>
              </a:rPr>
              <a:t> </a:t>
            </a:r>
            <a:r>
              <a:rPr lang="en-US" sz="1600" dirty="0">
                <a:latin typeface="Helvetica" charset="0"/>
              </a:rPr>
              <a:t>provide automated or semi-automated support for the process and methods.  </a:t>
            </a:r>
            <a:endParaRPr lang="en-US" sz="1600" dirty="0">
              <a:latin typeface="Palatino" charset="0"/>
            </a:endParaRPr>
          </a:p>
        </p:txBody>
      </p:sp>
    </p:spTree>
    <p:extLst>
      <p:ext uri="{BB962C8B-B14F-4D97-AF65-F5344CB8AC3E}">
        <p14:creationId xmlns:p14="http://schemas.microsoft.com/office/powerpoint/2010/main" val="2430210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smtClean="0"/>
              <a:t>Software Processes</a:t>
            </a:r>
          </a:p>
        </p:txBody>
      </p:sp>
      <p:sp>
        <p:nvSpPr>
          <p:cNvPr id="4099" name="Rectangle 3"/>
          <p:cNvSpPr>
            <a:spLocks noGrp="1" noChangeArrowheads="1"/>
          </p:cNvSpPr>
          <p:nvPr>
            <p:ph type="body" idx="1"/>
          </p:nvPr>
        </p:nvSpPr>
        <p:spPr>
          <a:xfrm>
            <a:off x="1143000" y="1295400"/>
            <a:ext cx="7772400" cy="5562600"/>
          </a:xfrm>
        </p:spPr>
        <p:txBody>
          <a:bodyPr/>
          <a:lstStyle/>
          <a:p>
            <a:r>
              <a:rPr lang="en-US" smtClean="0"/>
              <a:t>What is a process?</a:t>
            </a:r>
          </a:p>
          <a:p>
            <a:pPr lvl="1"/>
            <a:r>
              <a:rPr lang="en-US" smtClean="0"/>
              <a:t>Sequence of steps required to develop or maintain software</a:t>
            </a:r>
          </a:p>
          <a:p>
            <a:endParaRPr lang="en-US" smtClean="0"/>
          </a:p>
          <a:p>
            <a:r>
              <a:rPr lang="en-US" smtClean="0"/>
              <a:t>Characteristics</a:t>
            </a:r>
          </a:p>
          <a:p>
            <a:pPr lvl="1"/>
            <a:r>
              <a:rPr lang="en-US" smtClean="0"/>
              <a:t>prescribes major </a:t>
            </a:r>
            <a:r>
              <a:rPr lang="en-US" b="1" i="1" smtClean="0"/>
              <a:t>activities</a:t>
            </a:r>
          </a:p>
          <a:p>
            <a:pPr lvl="1"/>
            <a:r>
              <a:rPr lang="en-US" b="1" i="1" smtClean="0"/>
              <a:t>constraints</a:t>
            </a:r>
            <a:r>
              <a:rPr lang="en-US" smtClean="0"/>
              <a:t> and controls apply to activities, resources, and products</a:t>
            </a:r>
          </a:p>
          <a:p>
            <a:pPr lvl="1"/>
            <a:r>
              <a:rPr lang="en-US" smtClean="0"/>
              <a:t>utilizes </a:t>
            </a:r>
            <a:r>
              <a:rPr lang="en-US" b="1" i="1" smtClean="0"/>
              <a:t>resources</a:t>
            </a:r>
            <a:r>
              <a:rPr lang="en-US" smtClean="0"/>
              <a:t>, subject to constraints such as schedule, to produce intermediate and final results</a:t>
            </a:r>
          </a:p>
          <a:p>
            <a:pPr lvl="1"/>
            <a:r>
              <a:rPr lang="en-US" smtClean="0"/>
              <a:t>constraints on activities: time, budget, </a:t>
            </a:r>
            <a:r>
              <a:rPr lang="en-US" b="1" i="1" smtClean="0"/>
              <a:t>tools</a:t>
            </a:r>
          </a:p>
          <a:p>
            <a:pPr lvl="1"/>
            <a:r>
              <a:rPr lang="en-US" b="1" i="1" smtClean="0"/>
              <a:t>controls</a:t>
            </a:r>
            <a:r>
              <a:rPr lang="en-US" smtClean="0"/>
              <a:t> on activities: config. mgmt, reports</a:t>
            </a:r>
          </a:p>
        </p:txBody>
      </p:sp>
    </p:spTree>
    <p:extLst>
      <p:ext uri="{BB962C8B-B14F-4D97-AF65-F5344CB8AC3E}">
        <p14:creationId xmlns:p14="http://schemas.microsoft.com/office/powerpoint/2010/main" val="3495990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4"/>
          <p:cNvSpPr>
            <a:spLocks noGrp="1"/>
          </p:cNvSpPr>
          <p:nvPr>
            <p:ph type="sldNum" sz="quarter" idx="4294967295"/>
          </p:nvPr>
        </p:nvSpPr>
        <p:spPr bwMode="auto">
          <a:xfrm>
            <a:off x="7543800" y="6248400"/>
            <a:ext cx="1295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F070EF5-AC72-4628-ADEA-B61D7A0FA7A7}" type="slidenum">
              <a:rPr lang="en-US"/>
              <a:pPr/>
              <a:t>11</a:t>
            </a:fld>
            <a:endParaRPr lang="en-US"/>
          </a:p>
        </p:txBody>
      </p:sp>
      <p:sp>
        <p:nvSpPr>
          <p:cNvPr id="5124" name="Rectangle 6"/>
          <p:cNvSpPr>
            <a:spLocks noChangeArrowheads="1"/>
          </p:cNvSpPr>
          <p:nvPr/>
        </p:nvSpPr>
        <p:spPr bwMode="auto">
          <a:xfrm>
            <a:off x="2526471" y="2057399"/>
            <a:ext cx="3886200" cy="1676400"/>
          </a:xfrm>
          <a:prstGeom prst="rect">
            <a:avLst/>
          </a:prstGeom>
          <a:solidFill>
            <a:srgbClr val="C00000"/>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5125" name="Rectangle 4"/>
          <p:cNvSpPr>
            <a:spLocks noGrp="1" noChangeArrowheads="1"/>
          </p:cNvSpPr>
          <p:nvPr>
            <p:ph type="title"/>
          </p:nvPr>
        </p:nvSpPr>
        <p:spPr>
          <a:xfrm>
            <a:off x="1908139" y="381000"/>
            <a:ext cx="5122863" cy="660400"/>
          </a:xfrm>
          <a:noFill/>
          <a:extLst>
            <a:ext uri="{91240B29-F687-4F45-9708-019B960494DF}">
              <a14:hiddenLine xmlns:a14="http://schemas.microsoft.com/office/drawing/2010/main" w="12700">
                <a:solidFill>
                  <a:schemeClr val="tx1"/>
                </a:solidFill>
                <a:miter lim="800000"/>
                <a:headEnd/>
                <a:tailEnd/>
              </a14:hiddenLine>
            </a:ext>
          </a:extLst>
        </p:spPr>
        <p:txBody>
          <a:bodyPr wrap="none" lIns="63500" tIns="25400" rIns="63500" bIns="25400" anchor="t">
            <a:spAutoFit/>
          </a:bodyPr>
          <a:lstStyle/>
          <a:p>
            <a:r>
              <a:rPr lang="en-US" dirty="0" smtClean="0"/>
              <a:t>A Process Framework</a:t>
            </a:r>
          </a:p>
        </p:txBody>
      </p:sp>
      <p:sp>
        <p:nvSpPr>
          <p:cNvPr id="157701" name="Rectangle 5"/>
          <p:cNvSpPr>
            <a:spLocks noChangeArrowheads="1"/>
          </p:cNvSpPr>
          <p:nvPr/>
        </p:nvSpPr>
        <p:spPr bwMode="auto">
          <a:xfrm>
            <a:off x="1828800" y="1378743"/>
            <a:ext cx="3722172" cy="295670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pPr>
              <a:lnSpc>
                <a:spcPct val="115000"/>
              </a:lnSpc>
              <a:defRPr/>
            </a:pPr>
            <a:r>
              <a:rPr lang="en-US" b="1" dirty="0">
                <a:effectLst>
                  <a:outerShdw blurRad="38100" dist="38100" dir="2700000" algn="tl">
                    <a:srgbClr val="FFFFFF"/>
                  </a:outerShdw>
                </a:effectLst>
                <a:latin typeface="Palatino" pitchFamily="-128" charset="0"/>
              </a:rPr>
              <a:t>Process framework</a:t>
            </a:r>
            <a:endParaRPr lang="en-US" b="1" dirty="0">
              <a:solidFill>
                <a:schemeClr val="bg1"/>
              </a:solidFill>
              <a:effectLst>
                <a:outerShdw blurRad="38100" dist="38100" dir="2700000" algn="tl">
                  <a:srgbClr val="000000"/>
                </a:outerShdw>
              </a:effectLst>
              <a:latin typeface="Palatino" pitchFamily="-128" charset="0"/>
            </a:endParaRPr>
          </a:p>
          <a:p>
            <a:pPr lvl="1">
              <a:lnSpc>
                <a:spcPct val="115000"/>
              </a:lnSpc>
              <a:defRPr/>
            </a:pPr>
            <a:r>
              <a:rPr lang="en-US" b="1" dirty="0">
                <a:effectLst>
                  <a:outerShdw blurRad="38100" dist="38100" dir="2700000" algn="tl">
                    <a:srgbClr val="FFFFFF"/>
                  </a:outerShdw>
                </a:effectLst>
                <a:latin typeface="Palatino" pitchFamily="-128" charset="0"/>
              </a:rPr>
              <a:t>Framework activities</a:t>
            </a:r>
          </a:p>
          <a:p>
            <a:pPr lvl="2">
              <a:lnSpc>
                <a:spcPct val="115000"/>
              </a:lnSpc>
              <a:defRPr/>
            </a:pPr>
            <a:r>
              <a:rPr lang="en-US" dirty="0">
                <a:solidFill>
                  <a:schemeClr val="bg1"/>
                </a:solidFill>
                <a:latin typeface="Palatino" pitchFamily="-128" charset="0"/>
              </a:rPr>
              <a:t>work tasks</a:t>
            </a:r>
          </a:p>
          <a:p>
            <a:pPr lvl="2">
              <a:lnSpc>
                <a:spcPct val="115000"/>
              </a:lnSpc>
              <a:defRPr/>
            </a:pPr>
            <a:r>
              <a:rPr lang="en-US" dirty="0">
                <a:solidFill>
                  <a:schemeClr val="bg1"/>
                </a:solidFill>
                <a:latin typeface="Palatino" pitchFamily="-128" charset="0"/>
              </a:rPr>
              <a:t>work products</a:t>
            </a:r>
          </a:p>
          <a:p>
            <a:pPr lvl="2">
              <a:lnSpc>
                <a:spcPct val="115000"/>
              </a:lnSpc>
              <a:defRPr/>
            </a:pPr>
            <a:r>
              <a:rPr lang="en-US" dirty="0">
                <a:solidFill>
                  <a:schemeClr val="bg1"/>
                </a:solidFill>
                <a:latin typeface="Palatino" pitchFamily="-128" charset="0"/>
              </a:rPr>
              <a:t>milestones &amp; deliverables</a:t>
            </a:r>
          </a:p>
          <a:p>
            <a:pPr lvl="2">
              <a:lnSpc>
                <a:spcPct val="115000"/>
              </a:lnSpc>
              <a:defRPr/>
            </a:pPr>
            <a:r>
              <a:rPr lang="en-US" dirty="0">
                <a:solidFill>
                  <a:schemeClr val="bg1"/>
                </a:solidFill>
                <a:latin typeface="Palatino" pitchFamily="-128" charset="0"/>
              </a:rPr>
              <a:t>QA checkpoints</a:t>
            </a:r>
            <a:endParaRPr lang="en-US" b="1" dirty="0">
              <a:latin typeface="Palatino" pitchFamily="-128" charset="0"/>
            </a:endParaRPr>
          </a:p>
          <a:p>
            <a:pPr lvl="1">
              <a:lnSpc>
                <a:spcPct val="115000"/>
              </a:lnSpc>
              <a:defRPr/>
            </a:pPr>
            <a:endParaRPr lang="en-US" b="1" dirty="0" smtClean="0">
              <a:effectLst>
                <a:outerShdw blurRad="38100" dist="38100" dir="2700000" algn="tl">
                  <a:srgbClr val="FFFFFF"/>
                </a:outerShdw>
              </a:effectLst>
              <a:latin typeface="Palatino" pitchFamily="-128" charset="0"/>
            </a:endParaRPr>
          </a:p>
          <a:p>
            <a:pPr lvl="1">
              <a:lnSpc>
                <a:spcPct val="115000"/>
              </a:lnSpc>
              <a:defRPr/>
            </a:pPr>
            <a:endParaRPr lang="en-US" b="1" dirty="0">
              <a:effectLst>
                <a:outerShdw blurRad="38100" dist="38100" dir="2700000" algn="tl">
                  <a:srgbClr val="FFFFFF"/>
                </a:outerShdw>
              </a:effectLst>
              <a:latin typeface="Palatino" pitchFamily="-128" charset="0"/>
            </a:endParaRPr>
          </a:p>
          <a:p>
            <a:pPr lvl="1">
              <a:lnSpc>
                <a:spcPct val="115000"/>
              </a:lnSpc>
              <a:defRPr/>
            </a:pPr>
            <a:r>
              <a:rPr lang="en-US" b="1" dirty="0" smtClean="0">
                <a:effectLst>
                  <a:outerShdw blurRad="38100" dist="38100" dir="2700000" algn="tl">
                    <a:srgbClr val="FFFFFF"/>
                  </a:outerShdw>
                </a:effectLst>
                <a:latin typeface="Palatino" pitchFamily="-128" charset="0"/>
              </a:rPr>
              <a:t>Umbrella </a:t>
            </a:r>
            <a:r>
              <a:rPr lang="en-US" b="1" dirty="0">
                <a:effectLst>
                  <a:outerShdw blurRad="38100" dist="38100" dir="2700000" algn="tl">
                    <a:srgbClr val="FFFFFF"/>
                  </a:outerShdw>
                </a:effectLst>
                <a:latin typeface="Palatino" pitchFamily="-128" charset="0"/>
              </a:rPr>
              <a:t>Activities</a:t>
            </a:r>
          </a:p>
        </p:txBody>
      </p:sp>
    </p:spTree>
    <p:extLst>
      <p:ext uri="{BB962C8B-B14F-4D97-AF65-F5344CB8AC3E}">
        <p14:creationId xmlns:p14="http://schemas.microsoft.com/office/powerpoint/2010/main" val="26310788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r>
              <a:rPr lang="en-US" smtClean="0"/>
              <a:t>Common Process Framework  Activities</a:t>
            </a:r>
          </a:p>
        </p:txBody>
      </p:sp>
      <p:sp>
        <p:nvSpPr>
          <p:cNvPr id="6147" name="Rectangle 3"/>
          <p:cNvSpPr>
            <a:spLocks noGrp="1" noChangeArrowheads="1"/>
          </p:cNvSpPr>
          <p:nvPr>
            <p:ph type="body" idx="1"/>
          </p:nvPr>
        </p:nvSpPr>
        <p:spPr>
          <a:xfrm>
            <a:off x="1066800" y="1752600"/>
            <a:ext cx="7772400" cy="5334000"/>
          </a:xfrm>
        </p:spPr>
        <p:txBody>
          <a:bodyPr/>
          <a:lstStyle/>
          <a:p>
            <a:r>
              <a:rPr lang="en-US" smtClean="0"/>
              <a:t>Communication </a:t>
            </a:r>
          </a:p>
          <a:p>
            <a:r>
              <a:rPr lang="en-US" smtClean="0"/>
              <a:t>Planning</a:t>
            </a:r>
          </a:p>
          <a:p>
            <a:r>
              <a:rPr lang="en-US" smtClean="0"/>
              <a:t>Modeling </a:t>
            </a:r>
          </a:p>
          <a:p>
            <a:pPr lvl="1"/>
            <a:r>
              <a:rPr lang="en-US" smtClean="0"/>
              <a:t>Analysis of requirements</a:t>
            </a:r>
          </a:p>
          <a:p>
            <a:pPr lvl="1"/>
            <a:r>
              <a:rPr lang="en-US" smtClean="0"/>
              <a:t>Design</a:t>
            </a:r>
          </a:p>
          <a:p>
            <a:r>
              <a:rPr lang="en-US" smtClean="0"/>
              <a:t>Construction</a:t>
            </a:r>
          </a:p>
          <a:p>
            <a:pPr lvl="1"/>
            <a:r>
              <a:rPr lang="en-US" smtClean="0"/>
              <a:t>Code generation</a:t>
            </a:r>
          </a:p>
          <a:p>
            <a:pPr lvl="1"/>
            <a:r>
              <a:rPr lang="en-US" smtClean="0"/>
              <a:t>Testing</a:t>
            </a:r>
          </a:p>
          <a:p>
            <a:r>
              <a:rPr lang="en-US" smtClean="0"/>
              <a:t>Deployment</a:t>
            </a:r>
          </a:p>
        </p:txBody>
      </p:sp>
    </p:spTree>
    <p:extLst>
      <p:ext uri="{BB962C8B-B14F-4D97-AF65-F5344CB8AC3E}">
        <p14:creationId xmlns:p14="http://schemas.microsoft.com/office/powerpoint/2010/main" val="232699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mtClean="0"/>
              <a:t>Umbrella Activities </a:t>
            </a:r>
          </a:p>
        </p:txBody>
      </p:sp>
      <p:sp>
        <p:nvSpPr>
          <p:cNvPr id="7171" name="Rectangle 3"/>
          <p:cNvSpPr>
            <a:spLocks noGrp="1" noChangeArrowheads="1"/>
          </p:cNvSpPr>
          <p:nvPr>
            <p:ph type="body" idx="1"/>
          </p:nvPr>
        </p:nvSpPr>
        <p:spPr/>
        <p:txBody>
          <a:bodyPr/>
          <a:lstStyle/>
          <a:p>
            <a:r>
              <a:rPr lang="en-US" sz="2400" smtClean="0"/>
              <a:t>Software project tracking and control</a:t>
            </a:r>
          </a:p>
          <a:p>
            <a:r>
              <a:rPr lang="en-US" sz="2400" smtClean="0"/>
              <a:t>Formal technical reviews </a:t>
            </a:r>
          </a:p>
          <a:p>
            <a:r>
              <a:rPr lang="en-US" sz="2400" smtClean="0"/>
              <a:t>Software quality assurance </a:t>
            </a:r>
          </a:p>
          <a:p>
            <a:r>
              <a:rPr lang="en-US" sz="2400" smtClean="0"/>
              <a:t>Software configuration management </a:t>
            </a:r>
          </a:p>
          <a:p>
            <a:r>
              <a:rPr lang="en-US" sz="2400" smtClean="0"/>
              <a:t>Work product preparation and production (activities to create models, documents, logs, forms, lists, etc.)</a:t>
            </a:r>
          </a:p>
          <a:p>
            <a:r>
              <a:rPr lang="en-US" sz="2400" smtClean="0"/>
              <a:t>Reusability management (defines criteria for work product reuse and establish mechanisms to achieve component reuse) </a:t>
            </a:r>
          </a:p>
          <a:p>
            <a:r>
              <a:rPr lang="en-US" sz="2400" smtClean="0"/>
              <a:t>Measurement </a:t>
            </a:r>
          </a:p>
          <a:p>
            <a:r>
              <a:rPr lang="en-US" sz="2400" smtClean="0"/>
              <a:t>Risk management </a:t>
            </a:r>
          </a:p>
          <a:p>
            <a:endParaRPr lang="en-US" sz="2400" smtClean="0"/>
          </a:p>
          <a:p>
            <a:endParaRPr lang="en-US" sz="2400" smtClean="0"/>
          </a:p>
        </p:txBody>
      </p:sp>
    </p:spTree>
    <p:extLst>
      <p:ext uri="{BB962C8B-B14F-4D97-AF65-F5344CB8AC3E}">
        <p14:creationId xmlns:p14="http://schemas.microsoft.com/office/powerpoint/2010/main" val="2522763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p:cNvSpPr>
            <a:spLocks noGrp="1"/>
          </p:cNvSpPr>
          <p:nvPr>
            <p:ph type="sldNum" sz="quarter" idx="4294967295"/>
          </p:nvPr>
        </p:nvSpPr>
        <p:spPr bwMode="auto">
          <a:xfrm>
            <a:off x="7543800" y="6248400"/>
            <a:ext cx="1295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EA5AF48-8300-4F34-8F50-62E6BA9BDB1A}" type="slidenum">
              <a:rPr lang="en-US"/>
              <a:pPr/>
              <a:t>14</a:t>
            </a:fld>
            <a:endParaRPr lang="en-US"/>
          </a:p>
        </p:txBody>
      </p:sp>
      <p:sp>
        <p:nvSpPr>
          <p:cNvPr id="8196" name="Rectangle 2"/>
          <p:cNvSpPr>
            <a:spLocks noGrp="1" noChangeArrowheads="1"/>
          </p:cNvSpPr>
          <p:nvPr>
            <p:ph type="title"/>
          </p:nvPr>
        </p:nvSpPr>
        <p:spPr/>
        <p:txBody>
          <a:bodyPr/>
          <a:lstStyle/>
          <a:p>
            <a:r>
              <a:rPr lang="en-US" smtClean="0"/>
              <a:t> A Generic Process Model</a:t>
            </a:r>
          </a:p>
        </p:txBody>
      </p:sp>
      <p:pic>
        <p:nvPicPr>
          <p:cNvPr id="8197" name="Picture 4" descr="Fig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322388"/>
            <a:ext cx="281940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3649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a:xfrm>
            <a:off x="2514600" y="914400"/>
            <a:ext cx="4359275" cy="709613"/>
          </a:xfrm>
        </p:spPr>
        <p:txBody>
          <a:bodyPr rtlCol="0">
            <a:normAutofit/>
          </a:bodyPr>
          <a:lstStyle/>
          <a:p>
            <a:pPr algn="ctr" eaLnBrk="1" fontAlgn="auto" hangingPunct="1">
              <a:spcAft>
                <a:spcPts val="0"/>
              </a:spcAft>
              <a:defRPr/>
            </a:pPr>
            <a:r>
              <a:rPr lang="en-US" dirty="0" smtClean="0">
                <a:ea typeface="+mj-ea"/>
                <a:cs typeface="+mj-cs"/>
              </a:rPr>
              <a:t>Software Myths</a:t>
            </a:r>
          </a:p>
        </p:txBody>
      </p:sp>
      <p:sp>
        <p:nvSpPr>
          <p:cNvPr id="31747" name="Rectangle 3"/>
          <p:cNvSpPr>
            <a:spLocks noGrp="1" noChangeArrowheads="1"/>
          </p:cNvSpPr>
          <p:nvPr>
            <p:ph idx="1"/>
          </p:nvPr>
        </p:nvSpPr>
        <p:spPr>
          <a:xfrm>
            <a:off x="381000" y="1752600"/>
            <a:ext cx="8229600" cy="4343400"/>
          </a:xfrm>
        </p:spPr>
        <p:txBody>
          <a:bodyPr>
            <a:normAutofit/>
          </a:bodyPr>
          <a:lstStyle/>
          <a:p>
            <a:pPr marL="0" indent="0" algn="just" eaLnBrk="1" hangingPunct="1">
              <a:buFont typeface="Arial" pitchFamily="34" charset="0"/>
              <a:buNone/>
            </a:pPr>
            <a:r>
              <a:rPr lang="en-US" dirty="0" smtClean="0">
                <a:ea typeface="ＭＳ Ｐゴシック" charset="-128"/>
              </a:rPr>
              <a:t>Erroneous beliefs about software and the process that is used to build it.</a:t>
            </a:r>
          </a:p>
          <a:p>
            <a:pPr marL="0" indent="0" algn="just" eaLnBrk="1" hangingPunct="1"/>
            <a:r>
              <a:rPr lang="en-US" dirty="0" smtClean="0">
                <a:ea typeface="ＭＳ Ｐゴシック" charset="-128"/>
              </a:rPr>
              <a:t>Affect managers, customers (and other non-technical stakeholders) and practitioners</a:t>
            </a:r>
          </a:p>
          <a:p>
            <a:pPr marL="0" indent="0" algn="just" eaLnBrk="1" hangingPunct="1"/>
            <a:r>
              <a:rPr lang="en-US" dirty="0" smtClean="0">
                <a:ea typeface="ＭＳ Ｐゴシック" charset="-128"/>
              </a:rPr>
              <a:t>Are believable because they often have elements of truth, </a:t>
            </a:r>
          </a:p>
          <a:p>
            <a:pPr marL="0" indent="0" algn="just" eaLnBrk="1" hangingPunct="1">
              <a:buFont typeface="Wingdings" pitchFamily="2" charset="2"/>
              <a:buNone/>
            </a:pPr>
            <a:r>
              <a:rPr lang="en-US" i="1" dirty="0" smtClean="0">
                <a:solidFill>
                  <a:schemeClr val="folHlink"/>
                </a:solidFill>
                <a:ea typeface="ＭＳ Ｐゴシック" charset="-128"/>
              </a:rPr>
              <a:t>but …</a:t>
            </a:r>
            <a:endParaRPr lang="en-US" dirty="0" smtClean="0">
              <a:ea typeface="ＭＳ Ｐゴシック" charset="-128"/>
            </a:endParaRPr>
          </a:p>
          <a:p>
            <a:pPr marL="0" indent="0" algn="just" eaLnBrk="1" hangingPunct="1"/>
            <a:r>
              <a:rPr lang="en-US" dirty="0" smtClean="0">
                <a:ea typeface="ＭＳ Ｐゴシック" charset="-128"/>
              </a:rPr>
              <a:t>Invariably lead to bad decisions, </a:t>
            </a:r>
          </a:p>
          <a:p>
            <a:pPr marL="0" indent="0" algn="just" eaLnBrk="1" hangingPunct="1">
              <a:buFont typeface="Wingdings" pitchFamily="2" charset="2"/>
              <a:buNone/>
            </a:pPr>
            <a:r>
              <a:rPr lang="en-US" i="1" dirty="0" smtClean="0">
                <a:solidFill>
                  <a:schemeClr val="folHlink"/>
                </a:solidFill>
                <a:ea typeface="ＭＳ Ｐゴシック" charset="-128"/>
              </a:rPr>
              <a:t>therefore …</a:t>
            </a:r>
            <a:endParaRPr lang="en-US" dirty="0" smtClean="0">
              <a:ea typeface="ＭＳ Ｐゴシック" charset="-128"/>
            </a:endParaRPr>
          </a:p>
          <a:p>
            <a:pPr marL="0" indent="0" algn="just" eaLnBrk="1" hangingPunct="1"/>
            <a:r>
              <a:rPr lang="en-US" dirty="0" smtClean="0">
                <a:ea typeface="ＭＳ Ｐゴシック" charset="-128"/>
              </a:rPr>
              <a:t>Insist on reality as you navigate your way through software engineering</a:t>
            </a:r>
          </a:p>
        </p:txBody>
      </p:sp>
    </p:spTree>
    <p:extLst>
      <p:ext uri="{BB962C8B-B14F-4D97-AF65-F5344CB8AC3E}">
        <p14:creationId xmlns:p14="http://schemas.microsoft.com/office/powerpoint/2010/main" val="2914594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a:xfrm>
            <a:off x="990600" y="457200"/>
            <a:ext cx="7391400" cy="709613"/>
          </a:xfrm>
        </p:spPr>
        <p:txBody>
          <a:bodyPr rtlCol="0">
            <a:normAutofit/>
          </a:bodyPr>
          <a:lstStyle/>
          <a:p>
            <a:pPr algn="ctr" eaLnBrk="1" fontAlgn="auto" hangingPunct="1">
              <a:spcAft>
                <a:spcPts val="0"/>
              </a:spcAft>
              <a:defRPr/>
            </a:pPr>
            <a:r>
              <a:rPr lang="en-US" dirty="0" smtClean="0">
                <a:ea typeface="+mj-ea"/>
                <a:cs typeface="+mj-cs"/>
              </a:rPr>
              <a:t>Software Myths Examples</a:t>
            </a:r>
          </a:p>
        </p:txBody>
      </p:sp>
      <p:sp>
        <p:nvSpPr>
          <p:cNvPr id="32771" name="Rectangle 3"/>
          <p:cNvSpPr>
            <a:spLocks noGrp="1" noChangeArrowheads="1"/>
          </p:cNvSpPr>
          <p:nvPr>
            <p:ph idx="1"/>
          </p:nvPr>
        </p:nvSpPr>
        <p:spPr>
          <a:xfrm>
            <a:off x="381000" y="1371600"/>
            <a:ext cx="8382000" cy="4953000"/>
          </a:xfrm>
        </p:spPr>
        <p:txBody>
          <a:bodyPr>
            <a:normAutofit/>
          </a:bodyPr>
          <a:lstStyle/>
          <a:p>
            <a:pPr algn="just" eaLnBrk="1" hangingPunct="1"/>
            <a:r>
              <a:rPr lang="en-US" sz="1800" dirty="0" smtClean="0">
                <a:solidFill>
                  <a:srgbClr val="800000"/>
                </a:solidFill>
                <a:ea typeface="ＭＳ Ｐゴシック" charset="-128"/>
              </a:rPr>
              <a:t>Myth 1:</a:t>
            </a:r>
            <a:r>
              <a:rPr lang="en-US" sz="1800" dirty="0" smtClean="0">
                <a:ea typeface="ＭＳ Ｐゴシック" charset="-128"/>
              </a:rPr>
              <a:t> Once we write the program and get it to work, our job is done.</a:t>
            </a:r>
          </a:p>
          <a:p>
            <a:pPr algn="just" eaLnBrk="1" hangingPunct="1"/>
            <a:r>
              <a:rPr lang="en-US" sz="1800" dirty="0" smtClean="0">
                <a:ea typeface="ＭＳ Ｐゴシック" charset="-128"/>
              </a:rPr>
              <a:t>Reality: the sooner you begin writing code, the longer it will take you to get done. 60% to 80% of all efforts are spent after software is delivered to the customer for the first time. </a:t>
            </a:r>
          </a:p>
          <a:p>
            <a:pPr algn="just" eaLnBrk="1" hangingPunct="1"/>
            <a:endParaRPr lang="en-US" sz="1800" dirty="0" smtClean="0">
              <a:ea typeface="ＭＳ Ｐゴシック" charset="-128"/>
            </a:endParaRPr>
          </a:p>
          <a:p>
            <a:pPr algn="just" eaLnBrk="1" hangingPunct="1"/>
            <a:r>
              <a:rPr lang="en-US" sz="1800" dirty="0" smtClean="0">
                <a:solidFill>
                  <a:srgbClr val="800000"/>
                </a:solidFill>
                <a:ea typeface="ＭＳ Ｐゴシック" charset="-128"/>
              </a:rPr>
              <a:t>Myth 2:</a:t>
            </a:r>
            <a:r>
              <a:rPr lang="en-US" sz="1800" dirty="0" smtClean="0">
                <a:ea typeface="ＭＳ Ｐゴシック" charset="-128"/>
              </a:rPr>
              <a:t> Until I get the program running, I have no way of assessing its quality.</a:t>
            </a:r>
          </a:p>
          <a:p>
            <a:pPr algn="just" eaLnBrk="1" hangingPunct="1"/>
            <a:r>
              <a:rPr lang="en-US" sz="1800" dirty="0" smtClean="0">
                <a:ea typeface="ＭＳ Ｐゴシック" charset="-128"/>
              </a:rPr>
              <a:t>Reality: technical review are a quality filter that can be used to find certain classes of software defects from the inception of a project. </a:t>
            </a:r>
          </a:p>
          <a:p>
            <a:pPr algn="just" eaLnBrk="1" hangingPunct="1"/>
            <a:endParaRPr lang="en-US" sz="1800" dirty="0" smtClean="0">
              <a:ea typeface="ＭＳ Ｐゴシック" charset="-128"/>
            </a:endParaRPr>
          </a:p>
          <a:p>
            <a:pPr algn="just" eaLnBrk="1" hangingPunct="1"/>
            <a:r>
              <a:rPr lang="en-US" sz="1800" dirty="0" smtClean="0">
                <a:solidFill>
                  <a:srgbClr val="800000"/>
                </a:solidFill>
                <a:ea typeface="ＭＳ Ｐゴシック" charset="-128"/>
              </a:rPr>
              <a:t>Myth 3</a:t>
            </a:r>
            <a:r>
              <a:rPr lang="en-US" sz="1800" dirty="0" smtClean="0">
                <a:ea typeface="ＭＳ Ｐゴシック" charset="-128"/>
              </a:rPr>
              <a:t>: software engineering will make us create voluminous and unnecessary documentation and will invariably slow us down. </a:t>
            </a:r>
          </a:p>
          <a:p>
            <a:pPr algn="just" eaLnBrk="1" hangingPunct="1"/>
            <a:r>
              <a:rPr lang="en-US" sz="1800" dirty="0" smtClean="0">
                <a:ea typeface="ＭＳ Ｐゴシック" charset="-128"/>
              </a:rPr>
              <a:t>Reality: it is not about creating documents. It is about creating a quality product. Better quality leads to a reduced rework. Reduced work results in faster delivery times. </a:t>
            </a:r>
          </a:p>
          <a:p>
            <a:pPr algn="just" eaLnBrk="1" hangingPunct="1"/>
            <a:endParaRPr lang="en-US" sz="2000" dirty="0" smtClean="0">
              <a:ea typeface="ＭＳ Ｐゴシック" charset="-128"/>
            </a:endParaRPr>
          </a:p>
          <a:p>
            <a:pPr marL="0" indent="0" algn="just" eaLnBrk="1" hangingPunct="1">
              <a:buNone/>
            </a:pPr>
            <a:endParaRPr lang="en-US" sz="2800" dirty="0" smtClean="0">
              <a:ea typeface="ＭＳ Ｐゴシック" charset="-128"/>
            </a:endParaRPr>
          </a:p>
        </p:txBody>
      </p:sp>
    </p:spTree>
    <p:extLst>
      <p:ext uri="{BB962C8B-B14F-4D97-AF65-F5344CB8AC3E}">
        <p14:creationId xmlns:p14="http://schemas.microsoft.com/office/powerpoint/2010/main" val="4202691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7292975" cy="1143000"/>
          </a:xfrm>
        </p:spPr>
        <p:txBody>
          <a:bodyPr/>
          <a:lstStyle/>
          <a:p>
            <a:pPr eaLnBrk="1" hangingPunct="1"/>
            <a:r>
              <a:rPr lang="en-US" smtClean="0">
                <a:ea typeface="ＭＳ Ｐゴシック" charset="-128"/>
              </a:rPr>
              <a:t>Case studies</a:t>
            </a:r>
          </a:p>
        </p:txBody>
      </p:sp>
      <p:sp>
        <p:nvSpPr>
          <p:cNvPr id="34819" name="Content Placeholder 2"/>
          <p:cNvSpPr>
            <a:spLocks noGrp="1"/>
          </p:cNvSpPr>
          <p:nvPr>
            <p:ph idx="1"/>
          </p:nvPr>
        </p:nvSpPr>
        <p:spPr>
          <a:xfrm>
            <a:off x="457200" y="1600200"/>
            <a:ext cx="8229600" cy="4525963"/>
          </a:xfrm>
        </p:spPr>
        <p:txBody>
          <a:bodyPr/>
          <a:lstStyle/>
          <a:p>
            <a:pPr eaLnBrk="1" hangingPunct="1"/>
            <a:r>
              <a:rPr lang="en-US" smtClean="0">
                <a:ea typeface="ＭＳ Ｐゴシック" charset="-128"/>
              </a:rPr>
              <a:t>A personal insulin pump</a:t>
            </a:r>
          </a:p>
          <a:p>
            <a:pPr lvl="1" eaLnBrk="1" hangingPunct="1"/>
            <a:r>
              <a:rPr lang="en-US" smtClean="0">
                <a:ea typeface="ＭＳ Ｐゴシック" charset="-128"/>
              </a:rPr>
              <a:t>An embedded system in an insulin pump used by diabetics to maintain blood glucose control.</a:t>
            </a:r>
          </a:p>
          <a:p>
            <a:pPr eaLnBrk="1" hangingPunct="1"/>
            <a:r>
              <a:rPr lang="en-US" smtClean="0">
                <a:ea typeface="ＭＳ Ｐゴシック" charset="-128"/>
              </a:rPr>
              <a:t>A mental health case patient management system</a:t>
            </a:r>
          </a:p>
          <a:p>
            <a:pPr lvl="1" eaLnBrk="1" hangingPunct="1"/>
            <a:r>
              <a:rPr lang="en-US" smtClean="0">
                <a:ea typeface="ＭＳ Ｐゴシック" charset="-128"/>
              </a:rPr>
              <a:t>A system used to maintain records of people receiving care for mental health problems.</a:t>
            </a:r>
          </a:p>
          <a:p>
            <a:pPr eaLnBrk="1" hangingPunct="1"/>
            <a:r>
              <a:rPr lang="en-US" smtClean="0">
                <a:ea typeface="ＭＳ Ｐゴシック" charset="-128"/>
              </a:rPr>
              <a:t>A wilderness weather station</a:t>
            </a:r>
          </a:p>
          <a:p>
            <a:pPr lvl="1" eaLnBrk="1" hangingPunct="1"/>
            <a:r>
              <a:rPr lang="en-US" smtClean="0">
                <a:ea typeface="ＭＳ Ｐゴシック" charset="-128"/>
              </a:rPr>
              <a:t>A data collection system that collects data about weather conditions in remote areas.</a:t>
            </a:r>
          </a:p>
        </p:txBody>
      </p:sp>
    </p:spTree>
    <p:extLst>
      <p:ext uri="{BB962C8B-B14F-4D97-AF65-F5344CB8AC3E}">
        <p14:creationId xmlns:p14="http://schemas.microsoft.com/office/powerpoint/2010/main" val="3814864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609600"/>
            <a:ext cx="8001000" cy="808038"/>
          </a:xfrm>
        </p:spPr>
        <p:txBody>
          <a:bodyPr rtlCol="0">
            <a:normAutofit/>
          </a:bodyPr>
          <a:lstStyle/>
          <a:p>
            <a:pPr eaLnBrk="1" fontAlgn="auto" hangingPunct="1">
              <a:spcAft>
                <a:spcPts val="0"/>
              </a:spcAft>
              <a:defRPr/>
            </a:pPr>
            <a:r>
              <a:rPr lang="en-US" dirty="0" smtClean="0">
                <a:solidFill>
                  <a:schemeClr val="tx1">
                    <a:lumMod val="85000"/>
                    <a:lumOff val="15000"/>
                  </a:schemeClr>
                </a:solidFill>
                <a:ea typeface="+mj-ea"/>
                <a:cs typeface="+mj-cs"/>
              </a:rPr>
              <a:t>Insulin pump control system</a:t>
            </a:r>
            <a:endParaRPr lang="en-US" dirty="0">
              <a:solidFill>
                <a:schemeClr val="tx1">
                  <a:lumMod val="85000"/>
                  <a:lumOff val="15000"/>
                </a:schemeClr>
              </a:solidFill>
              <a:ea typeface="+mj-ea"/>
              <a:cs typeface="+mj-cs"/>
            </a:endParaRPr>
          </a:p>
        </p:txBody>
      </p:sp>
      <p:sp>
        <p:nvSpPr>
          <p:cNvPr id="35843" name="Content Placeholder 2"/>
          <p:cNvSpPr>
            <a:spLocks noGrp="1"/>
          </p:cNvSpPr>
          <p:nvPr>
            <p:ph idx="1"/>
          </p:nvPr>
        </p:nvSpPr>
        <p:spPr>
          <a:xfrm>
            <a:off x="457200" y="1600200"/>
            <a:ext cx="8229600" cy="4525963"/>
          </a:xfrm>
        </p:spPr>
        <p:txBody>
          <a:bodyPr/>
          <a:lstStyle/>
          <a:p>
            <a:pPr eaLnBrk="1" hangingPunct="1"/>
            <a:r>
              <a:rPr lang="en-US" smtClean="0">
                <a:ea typeface="ＭＳ Ｐゴシック" charset="-128"/>
              </a:rPr>
              <a:t>Collects data from a blood sugar sensor and calculates the amount of insulin required to be injected.</a:t>
            </a:r>
          </a:p>
          <a:p>
            <a:pPr eaLnBrk="1" hangingPunct="1"/>
            <a:r>
              <a:rPr lang="en-US" smtClean="0">
                <a:ea typeface="ＭＳ Ｐゴシック" charset="-128"/>
              </a:rPr>
              <a:t>Calculation based on the rate of change of blood sugar levels.</a:t>
            </a:r>
          </a:p>
          <a:p>
            <a:pPr eaLnBrk="1" hangingPunct="1"/>
            <a:r>
              <a:rPr lang="en-US" smtClean="0">
                <a:ea typeface="ＭＳ Ｐゴシック" charset="-128"/>
              </a:rPr>
              <a:t>Sends signals to a micro-pump to deliver the correct dose of insulin.</a:t>
            </a:r>
          </a:p>
          <a:p>
            <a:pPr eaLnBrk="1" hangingPunct="1"/>
            <a:r>
              <a:rPr lang="en-US" smtClean="0">
                <a:ea typeface="ＭＳ Ｐゴシック" charset="-128"/>
              </a:rPr>
              <a:t>Safety-critical system as low blood sugars can lead to brain malfunctioning, coma and death; high-blood sugar levels have long-term consequences such as eye and kidney damage.</a:t>
            </a:r>
          </a:p>
        </p:txBody>
      </p:sp>
    </p:spTree>
    <p:extLst>
      <p:ext uri="{BB962C8B-B14F-4D97-AF65-F5344CB8AC3E}">
        <p14:creationId xmlns:p14="http://schemas.microsoft.com/office/powerpoint/2010/main" val="4013590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02406" y="533400"/>
            <a:ext cx="8763000" cy="1143000"/>
          </a:xfrm>
        </p:spPr>
        <p:txBody>
          <a:bodyPr>
            <a:normAutofit fontScale="90000"/>
          </a:bodyPr>
          <a:lstStyle/>
          <a:p>
            <a:pPr algn="ctr" eaLnBrk="1" hangingPunct="1"/>
            <a:r>
              <a:rPr lang="en-GB" sz="4900" dirty="0" smtClean="0">
                <a:ea typeface="ＭＳ Ｐゴシック" charset="-128"/>
              </a:rPr>
              <a:t>Insulin Pump </a:t>
            </a:r>
            <a:r>
              <a:rPr lang="en-GB" sz="4900" dirty="0">
                <a:ea typeface="ＭＳ Ｐゴシック" charset="-128"/>
              </a:rPr>
              <a:t>H</a:t>
            </a:r>
            <a:r>
              <a:rPr lang="en-GB" sz="4900" dirty="0" smtClean="0">
                <a:ea typeface="ＭＳ Ｐゴシック" charset="-128"/>
              </a:rPr>
              <a:t>ardware </a:t>
            </a:r>
            <a:r>
              <a:rPr lang="en-GB" sz="4900" dirty="0">
                <a:ea typeface="ＭＳ Ｐゴシック" charset="-128"/>
              </a:rPr>
              <a:t>A</a:t>
            </a:r>
            <a:r>
              <a:rPr lang="en-GB" sz="4900" dirty="0" smtClean="0">
                <a:ea typeface="ＭＳ Ｐゴシック" charset="-128"/>
              </a:rPr>
              <a:t>rchitecture</a:t>
            </a:r>
            <a:endParaRPr lang="en-US" sz="4900" dirty="0" smtClean="0">
              <a:ea typeface="ＭＳ Ｐゴシック" charset="-128"/>
            </a:endParaRPr>
          </a:p>
        </p:txBody>
      </p:sp>
      <p:pic>
        <p:nvPicPr>
          <p:cNvPr id="36868" name="Picture 8" descr="1.4 InsulinPumpHW.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1350" y="2068513"/>
            <a:ext cx="5345113" cy="340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2821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09600" y="914400"/>
            <a:ext cx="7292975" cy="1143000"/>
          </a:xfrm>
        </p:spPr>
        <p:txBody>
          <a:bodyPr>
            <a:normAutofit fontScale="90000"/>
          </a:bodyPr>
          <a:lstStyle/>
          <a:p>
            <a:pPr eaLnBrk="1" hangingPunct="1"/>
            <a:r>
              <a:rPr lang="en-GB" sz="4900" smtClean="0">
                <a:ea typeface="ＭＳ Ｐゴシック" charset="-128"/>
              </a:rPr>
              <a:t>Activity model of the insulin pump</a:t>
            </a:r>
            <a:endParaRPr lang="en-US" sz="4900" smtClean="0">
              <a:ea typeface="ＭＳ Ｐゴシック" charset="-128"/>
            </a:endParaRPr>
          </a:p>
        </p:txBody>
      </p:sp>
      <p:pic>
        <p:nvPicPr>
          <p:cNvPr id="37892" name="Picture 8" descr="1.5 InsulinPumpActDiag.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2413" y="2498725"/>
            <a:ext cx="65373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8896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600" y="762000"/>
            <a:ext cx="7772400" cy="1143000"/>
          </a:xfrm>
        </p:spPr>
        <p:txBody>
          <a:bodyPr rtlCol="0">
            <a:normAutofit/>
          </a:bodyPr>
          <a:lstStyle/>
          <a:p>
            <a:pPr eaLnBrk="1" fontAlgn="auto" hangingPunct="1">
              <a:spcAft>
                <a:spcPts val="0"/>
              </a:spcAft>
              <a:defRPr/>
            </a:pPr>
            <a:r>
              <a:rPr lang="en-US" dirty="0" smtClean="0">
                <a:solidFill>
                  <a:schemeClr val="tx1">
                    <a:lumMod val="85000"/>
                    <a:lumOff val="15000"/>
                  </a:schemeClr>
                </a:solidFill>
                <a:ea typeface="+mj-ea"/>
                <a:cs typeface="+mj-cs"/>
              </a:rPr>
              <a:t>Essential high-level requirements</a:t>
            </a:r>
            <a:endParaRPr lang="en-US" dirty="0">
              <a:solidFill>
                <a:schemeClr val="tx1">
                  <a:lumMod val="85000"/>
                  <a:lumOff val="15000"/>
                </a:schemeClr>
              </a:solidFill>
              <a:ea typeface="+mj-ea"/>
              <a:cs typeface="+mj-cs"/>
            </a:endParaRPr>
          </a:p>
        </p:txBody>
      </p:sp>
      <p:sp>
        <p:nvSpPr>
          <p:cNvPr id="38915" name="Content Placeholder 2"/>
          <p:cNvSpPr>
            <a:spLocks noGrp="1"/>
          </p:cNvSpPr>
          <p:nvPr>
            <p:ph idx="1"/>
          </p:nvPr>
        </p:nvSpPr>
        <p:spPr>
          <a:xfrm>
            <a:off x="457200" y="2209800"/>
            <a:ext cx="8229600" cy="3916363"/>
          </a:xfrm>
        </p:spPr>
        <p:txBody>
          <a:bodyPr/>
          <a:lstStyle/>
          <a:p>
            <a:pPr eaLnBrk="1" hangingPunct="1"/>
            <a:r>
              <a:rPr lang="en-GB" dirty="0" smtClean="0">
                <a:ea typeface="ＭＳ Ｐゴシック" charset="-128"/>
              </a:rPr>
              <a:t>The system shall be available to deliver insulin when required. </a:t>
            </a:r>
          </a:p>
          <a:p>
            <a:pPr eaLnBrk="1" hangingPunct="1"/>
            <a:r>
              <a:rPr lang="en-GB" dirty="0" smtClean="0">
                <a:ea typeface="ＭＳ Ｐゴシック" charset="-128"/>
              </a:rPr>
              <a:t>The system shall perform reliably and deliver the correct amount of insulin to counteract the current level of blood sugar.</a:t>
            </a:r>
          </a:p>
          <a:p>
            <a:pPr eaLnBrk="1" hangingPunct="1"/>
            <a:r>
              <a:rPr lang="en-GB" dirty="0" smtClean="0">
                <a:ea typeface="ＭＳ Ｐゴシック" charset="-128"/>
              </a:rPr>
              <a:t>The system must therefore be designed and implemented to ensure that the system always meets these requirements. </a:t>
            </a:r>
            <a:endParaRPr lang="en-US" dirty="0" smtClean="0">
              <a:ea typeface="ＭＳ Ｐゴシック" charset="-128"/>
            </a:endParaRPr>
          </a:p>
        </p:txBody>
      </p:sp>
    </p:spTree>
    <p:extLst>
      <p:ext uri="{BB962C8B-B14F-4D97-AF65-F5344CB8AC3E}">
        <p14:creationId xmlns:p14="http://schemas.microsoft.com/office/powerpoint/2010/main" val="524509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457200"/>
            <a:ext cx="8153400" cy="1143000"/>
          </a:xfrm>
        </p:spPr>
        <p:txBody>
          <a:bodyPr>
            <a:normAutofit fontScale="90000"/>
          </a:bodyPr>
          <a:lstStyle/>
          <a:p>
            <a:pPr eaLnBrk="1" hangingPunct="1"/>
            <a:r>
              <a:rPr lang="en-US" sz="4200" smtClean="0">
                <a:ea typeface="ＭＳ Ｐゴシック" charset="-128"/>
              </a:rPr>
              <a:t>A patient information system for mental health care</a:t>
            </a:r>
          </a:p>
        </p:txBody>
      </p:sp>
      <p:sp>
        <p:nvSpPr>
          <p:cNvPr id="39939" name="Content Placeholder 2"/>
          <p:cNvSpPr>
            <a:spLocks noGrp="1"/>
          </p:cNvSpPr>
          <p:nvPr>
            <p:ph idx="1"/>
          </p:nvPr>
        </p:nvSpPr>
        <p:spPr>
          <a:xfrm>
            <a:off x="457200" y="1600200"/>
            <a:ext cx="8229600" cy="4525963"/>
          </a:xfrm>
        </p:spPr>
        <p:txBody>
          <a:bodyPr/>
          <a:lstStyle/>
          <a:p>
            <a:pPr eaLnBrk="1" hangingPunct="1"/>
            <a:r>
              <a:rPr lang="en-GB" smtClean="0">
                <a:ea typeface="ＭＳ Ｐゴシック" charset="-128"/>
              </a:rPr>
              <a:t>A patient information system to support mental health care is a medical information system that maintains information about patients suffering from mental health problems and the treatments that they have received.</a:t>
            </a:r>
          </a:p>
          <a:p>
            <a:pPr eaLnBrk="1" hangingPunct="1"/>
            <a:r>
              <a:rPr lang="en-GB" smtClean="0">
                <a:ea typeface="ＭＳ Ｐゴシック" charset="-128"/>
              </a:rPr>
              <a:t>Most mental health patients do not require dedicated hospital treatment but need to attend specialist clinics regularly where they can meet a doctor who has detailed knowledge of their problems. </a:t>
            </a:r>
          </a:p>
          <a:p>
            <a:pPr eaLnBrk="1" hangingPunct="1"/>
            <a:r>
              <a:rPr lang="en-GB" smtClean="0">
                <a:ea typeface="ＭＳ Ｐゴシック" charset="-128"/>
              </a:rPr>
              <a:t>To make it easier for patients to attend, these clinics are not just run in hospitals. They may also be held in local medical practices or community centres. </a:t>
            </a:r>
            <a:endParaRPr lang="en-US" smtClean="0">
              <a:ea typeface="ＭＳ Ｐゴシック" charset="-128"/>
            </a:endParaRPr>
          </a:p>
        </p:txBody>
      </p:sp>
    </p:spTree>
    <p:extLst>
      <p:ext uri="{BB962C8B-B14F-4D97-AF65-F5344CB8AC3E}">
        <p14:creationId xmlns:p14="http://schemas.microsoft.com/office/powerpoint/2010/main" val="3931470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274638"/>
            <a:ext cx="7292975" cy="1143000"/>
          </a:xfrm>
        </p:spPr>
        <p:txBody>
          <a:bodyPr/>
          <a:lstStyle/>
          <a:p>
            <a:pPr eaLnBrk="1" hangingPunct="1"/>
            <a:r>
              <a:rPr lang="en-US" smtClean="0">
                <a:ea typeface="ＭＳ Ｐゴシック" charset="-128"/>
              </a:rPr>
              <a:t>MHC-PMS</a:t>
            </a:r>
          </a:p>
        </p:txBody>
      </p:sp>
      <p:sp>
        <p:nvSpPr>
          <p:cNvPr id="40963" name="Content Placeholder 2"/>
          <p:cNvSpPr>
            <a:spLocks noGrp="1"/>
          </p:cNvSpPr>
          <p:nvPr>
            <p:ph idx="1"/>
          </p:nvPr>
        </p:nvSpPr>
        <p:spPr>
          <a:xfrm>
            <a:off x="457200" y="1600200"/>
            <a:ext cx="8229600" cy="4525963"/>
          </a:xfrm>
        </p:spPr>
        <p:txBody>
          <a:bodyPr/>
          <a:lstStyle/>
          <a:p>
            <a:pPr eaLnBrk="1" hangingPunct="1"/>
            <a:r>
              <a:rPr lang="en-GB" smtClean="0">
                <a:ea typeface="ＭＳ Ｐゴシック" charset="-128"/>
              </a:rPr>
              <a:t>The MHC-PMS (Mental Health Care-Patient Management System) is an information system that is intended for use in clinics. </a:t>
            </a:r>
          </a:p>
          <a:p>
            <a:pPr eaLnBrk="1" hangingPunct="1"/>
            <a:r>
              <a:rPr lang="en-GB" smtClean="0">
                <a:ea typeface="ＭＳ Ｐゴシック" charset="-128"/>
              </a:rPr>
              <a:t>It makes use of a centralized database of patient information but has also been designed to run on a PC, so that it may be accessed and used from sites that do not have secure network connectivity. </a:t>
            </a:r>
          </a:p>
          <a:p>
            <a:pPr eaLnBrk="1" hangingPunct="1"/>
            <a:r>
              <a:rPr lang="en-GB" smtClean="0">
                <a:ea typeface="ＭＳ Ｐゴシック" charset="-128"/>
              </a:rPr>
              <a:t>When the local systems have secure network access, they use patient information in the database but they can download and use local copies of patient records when they are disconnected. </a:t>
            </a:r>
            <a:endParaRPr lang="en-US" smtClean="0">
              <a:ea typeface="ＭＳ Ｐゴシック" charset="-128"/>
            </a:endParaRPr>
          </a:p>
        </p:txBody>
      </p:sp>
    </p:spTree>
    <p:extLst>
      <p:ext uri="{BB962C8B-B14F-4D97-AF65-F5344CB8AC3E}">
        <p14:creationId xmlns:p14="http://schemas.microsoft.com/office/powerpoint/2010/main" val="1413446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274638"/>
            <a:ext cx="7292975" cy="1143000"/>
          </a:xfrm>
        </p:spPr>
        <p:txBody>
          <a:bodyPr/>
          <a:lstStyle/>
          <a:p>
            <a:pPr eaLnBrk="1" hangingPunct="1"/>
            <a:r>
              <a:rPr lang="en-US" smtClean="0">
                <a:ea typeface="ＭＳ Ｐゴシック" charset="-128"/>
              </a:rPr>
              <a:t>MHC-PMS goals</a:t>
            </a:r>
          </a:p>
        </p:txBody>
      </p:sp>
      <p:sp>
        <p:nvSpPr>
          <p:cNvPr id="41987" name="Content Placeholder 2"/>
          <p:cNvSpPr>
            <a:spLocks noGrp="1"/>
          </p:cNvSpPr>
          <p:nvPr>
            <p:ph idx="1"/>
          </p:nvPr>
        </p:nvSpPr>
        <p:spPr>
          <a:xfrm>
            <a:off x="457200" y="1600200"/>
            <a:ext cx="8229600" cy="4525963"/>
          </a:xfrm>
        </p:spPr>
        <p:txBody>
          <a:bodyPr/>
          <a:lstStyle/>
          <a:p>
            <a:pPr eaLnBrk="1" hangingPunct="1"/>
            <a:r>
              <a:rPr lang="en-GB" smtClean="0">
                <a:ea typeface="ＭＳ Ｐゴシック" charset="-128"/>
              </a:rPr>
              <a:t>To generate management information that allows health service managers to assess performance against local and government targets.</a:t>
            </a:r>
          </a:p>
          <a:p>
            <a:pPr eaLnBrk="1" hangingPunct="1"/>
            <a:r>
              <a:rPr lang="en-GB" smtClean="0">
                <a:ea typeface="ＭＳ Ｐゴシック" charset="-128"/>
              </a:rPr>
              <a:t>To provide medical staff with timely information to support the treatment of patients.</a:t>
            </a:r>
          </a:p>
          <a:p>
            <a:pPr eaLnBrk="1" hangingPunct="1"/>
            <a:endParaRPr lang="en-US" smtClean="0">
              <a:ea typeface="ＭＳ Ｐゴシック" charset="-128"/>
            </a:endParaRPr>
          </a:p>
        </p:txBody>
      </p:sp>
    </p:spTree>
    <p:extLst>
      <p:ext uri="{BB962C8B-B14F-4D97-AF65-F5344CB8AC3E}">
        <p14:creationId xmlns:p14="http://schemas.microsoft.com/office/powerpoint/2010/main" val="3175327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609600"/>
            <a:ext cx="8382000" cy="808038"/>
          </a:xfrm>
        </p:spPr>
        <p:txBody>
          <a:bodyPr/>
          <a:lstStyle/>
          <a:p>
            <a:pPr eaLnBrk="1" hangingPunct="1"/>
            <a:r>
              <a:rPr lang="en-GB" sz="4200" smtClean="0">
                <a:ea typeface="ＭＳ Ｐゴシック" charset="-128"/>
              </a:rPr>
              <a:t>The organization of the MHC-PMS </a:t>
            </a:r>
            <a:endParaRPr lang="en-US" sz="4200" smtClean="0">
              <a:ea typeface="ＭＳ Ｐゴシック" charset="-128"/>
            </a:endParaRPr>
          </a:p>
        </p:txBody>
      </p:sp>
      <p:pic>
        <p:nvPicPr>
          <p:cNvPr id="43012" name="Picture 8" descr="1.6 MHC-PM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898650"/>
            <a:ext cx="5289550" cy="334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1576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57200" y="274638"/>
            <a:ext cx="7292975" cy="1143000"/>
          </a:xfrm>
        </p:spPr>
        <p:txBody>
          <a:bodyPr/>
          <a:lstStyle/>
          <a:p>
            <a:pPr eaLnBrk="1" hangingPunct="1"/>
            <a:r>
              <a:rPr lang="en-US" smtClean="0">
                <a:ea typeface="ＭＳ Ｐゴシック" charset="-128"/>
              </a:rPr>
              <a:t>MHC-PMS key features</a:t>
            </a:r>
          </a:p>
        </p:txBody>
      </p:sp>
      <p:sp>
        <p:nvSpPr>
          <p:cNvPr id="44035" name="Content Placeholder 2"/>
          <p:cNvSpPr>
            <a:spLocks noGrp="1"/>
          </p:cNvSpPr>
          <p:nvPr>
            <p:ph idx="1"/>
          </p:nvPr>
        </p:nvSpPr>
        <p:spPr>
          <a:xfrm>
            <a:off x="457200" y="1600200"/>
            <a:ext cx="8474075" cy="4525963"/>
          </a:xfrm>
        </p:spPr>
        <p:txBody>
          <a:bodyPr/>
          <a:lstStyle/>
          <a:p>
            <a:pPr eaLnBrk="1" hangingPunct="1">
              <a:lnSpc>
                <a:spcPct val="90000"/>
              </a:lnSpc>
            </a:pPr>
            <a:r>
              <a:rPr lang="en-GB" smtClean="0">
                <a:ea typeface="ＭＳ Ｐゴシック" charset="-128"/>
              </a:rPr>
              <a:t>Individual care management </a:t>
            </a:r>
          </a:p>
          <a:p>
            <a:pPr lvl="1" eaLnBrk="1" hangingPunct="1">
              <a:lnSpc>
                <a:spcPct val="90000"/>
              </a:lnSpc>
            </a:pPr>
            <a:r>
              <a:rPr lang="en-GB" smtClean="0">
                <a:ea typeface="ＭＳ Ｐゴシック" charset="-128"/>
              </a:rPr>
              <a:t>Clinicians can create records for patients, edit the information in the system, view patient history, etc. The system supports data summaries so that doctors can quickly learn about the key problems and treatments that have been prescribed.</a:t>
            </a:r>
          </a:p>
          <a:p>
            <a:pPr eaLnBrk="1" hangingPunct="1">
              <a:lnSpc>
                <a:spcPct val="90000"/>
              </a:lnSpc>
            </a:pPr>
            <a:r>
              <a:rPr lang="en-GB" smtClean="0">
                <a:ea typeface="ＭＳ Ｐゴシック" charset="-128"/>
              </a:rPr>
              <a:t>Patient monitoring </a:t>
            </a:r>
          </a:p>
          <a:p>
            <a:pPr lvl="1" eaLnBrk="1" hangingPunct="1">
              <a:lnSpc>
                <a:spcPct val="90000"/>
              </a:lnSpc>
            </a:pPr>
            <a:r>
              <a:rPr lang="en-GB" smtClean="0">
                <a:ea typeface="ＭＳ Ｐゴシック" charset="-128"/>
              </a:rPr>
              <a:t>The system monitors the records of patients that are involved in treatment and issues warnings if possible problems are detected. </a:t>
            </a:r>
          </a:p>
          <a:p>
            <a:pPr eaLnBrk="1" hangingPunct="1">
              <a:lnSpc>
                <a:spcPct val="90000"/>
              </a:lnSpc>
            </a:pPr>
            <a:r>
              <a:rPr lang="en-GB" smtClean="0">
                <a:ea typeface="ＭＳ Ｐゴシック" charset="-128"/>
              </a:rPr>
              <a:t>Administrative reporting </a:t>
            </a:r>
          </a:p>
          <a:p>
            <a:pPr lvl="1" eaLnBrk="1" hangingPunct="1">
              <a:lnSpc>
                <a:spcPct val="90000"/>
              </a:lnSpc>
            </a:pPr>
            <a:r>
              <a:rPr lang="en-GB" smtClean="0">
                <a:ea typeface="ＭＳ Ｐゴシック" charset="-128"/>
              </a:rPr>
              <a:t>The system generates monthly management reports showing the number of patients treated at each clinic, the number of patients who have entered and left the care system, number of patients sectioned, the drugs prescribed and their costs, etc. </a:t>
            </a:r>
            <a:endParaRPr lang="en-US" smtClean="0">
              <a:ea typeface="ＭＳ Ｐゴシック" charset="-128"/>
            </a:endParaRPr>
          </a:p>
        </p:txBody>
      </p:sp>
    </p:spTree>
    <p:extLst>
      <p:ext uri="{BB962C8B-B14F-4D97-AF65-F5344CB8AC3E}">
        <p14:creationId xmlns:p14="http://schemas.microsoft.com/office/powerpoint/2010/main" val="426995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457200" y="274638"/>
            <a:ext cx="7292975" cy="1143000"/>
          </a:xfrm>
        </p:spPr>
        <p:txBody>
          <a:bodyPr/>
          <a:lstStyle/>
          <a:p>
            <a:pPr eaLnBrk="1" hangingPunct="1"/>
            <a:r>
              <a:rPr lang="en-US" smtClean="0">
                <a:ea typeface="ＭＳ Ｐゴシック" charset="-128"/>
              </a:rPr>
              <a:t>MHC-PMS concerns</a:t>
            </a:r>
          </a:p>
        </p:txBody>
      </p:sp>
      <p:sp>
        <p:nvSpPr>
          <p:cNvPr id="45059" name="Content Placeholder 2"/>
          <p:cNvSpPr>
            <a:spLocks noGrp="1"/>
          </p:cNvSpPr>
          <p:nvPr>
            <p:ph idx="1"/>
          </p:nvPr>
        </p:nvSpPr>
        <p:spPr>
          <a:xfrm>
            <a:off x="457200" y="1600200"/>
            <a:ext cx="8229600" cy="4525963"/>
          </a:xfrm>
        </p:spPr>
        <p:txBody>
          <a:bodyPr/>
          <a:lstStyle/>
          <a:p>
            <a:pPr eaLnBrk="1" hangingPunct="1"/>
            <a:r>
              <a:rPr lang="en-US" smtClean="0">
                <a:ea typeface="ＭＳ Ｐゴシック" charset="-128"/>
              </a:rPr>
              <a:t>Privacy</a:t>
            </a:r>
          </a:p>
          <a:p>
            <a:pPr lvl="1" eaLnBrk="1" hangingPunct="1"/>
            <a:r>
              <a:rPr lang="en-GB" smtClean="0">
                <a:ea typeface="ＭＳ Ｐゴシック" charset="-128"/>
              </a:rPr>
              <a:t>It is essential that patient information is confidential and is never disclosed to anyone apart from authorised medical staff and the patient themselves. </a:t>
            </a:r>
            <a:endParaRPr lang="en-US" smtClean="0">
              <a:ea typeface="ＭＳ Ｐゴシック" charset="-128"/>
            </a:endParaRPr>
          </a:p>
          <a:p>
            <a:pPr eaLnBrk="1" hangingPunct="1"/>
            <a:r>
              <a:rPr lang="en-US" smtClean="0">
                <a:ea typeface="ＭＳ Ｐゴシック" charset="-128"/>
              </a:rPr>
              <a:t>Safety</a:t>
            </a:r>
          </a:p>
          <a:p>
            <a:pPr lvl="1" eaLnBrk="1" hangingPunct="1"/>
            <a:r>
              <a:rPr lang="en-GB" smtClean="0">
                <a:ea typeface="ＭＳ Ｐゴシック" charset="-128"/>
              </a:rPr>
              <a:t>Some mental illnesses cause patients to become suicidal or a danger to other people. Wherever possible, the system should warn medical staff about potentially suicidal or dangerous patients. </a:t>
            </a:r>
          </a:p>
          <a:p>
            <a:pPr lvl="1" eaLnBrk="1" hangingPunct="1"/>
            <a:r>
              <a:rPr lang="en-GB" smtClean="0">
                <a:ea typeface="ＭＳ Ｐゴシック" charset="-128"/>
              </a:rPr>
              <a:t>The system must be available when needed otherwise safety may be compromised and it may be impossible to prescribe the correct medication to patients. </a:t>
            </a:r>
            <a:endParaRPr lang="en-US" smtClean="0">
              <a:ea typeface="ＭＳ Ｐゴシック" charset="-128"/>
            </a:endParaRPr>
          </a:p>
        </p:txBody>
      </p:sp>
    </p:spTree>
    <p:extLst>
      <p:ext uri="{BB962C8B-B14F-4D97-AF65-F5344CB8AC3E}">
        <p14:creationId xmlns:p14="http://schemas.microsoft.com/office/powerpoint/2010/main" val="1268367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7292975" cy="1143000"/>
          </a:xfrm>
        </p:spPr>
        <p:txBody>
          <a:bodyPr rtlCol="0">
            <a:normAutofit/>
          </a:bodyPr>
          <a:lstStyle/>
          <a:p>
            <a:pPr eaLnBrk="1" fontAlgn="auto" hangingPunct="1">
              <a:spcAft>
                <a:spcPts val="0"/>
              </a:spcAft>
              <a:defRPr/>
            </a:pPr>
            <a:r>
              <a:rPr lang="en-US" dirty="0" smtClean="0">
                <a:solidFill>
                  <a:schemeClr val="tx1">
                    <a:lumMod val="85000"/>
                    <a:lumOff val="15000"/>
                  </a:schemeClr>
                </a:solidFill>
                <a:ea typeface="+mj-ea"/>
                <a:cs typeface="+mj-cs"/>
              </a:rPr>
              <a:t>Wilderness weather station</a:t>
            </a:r>
            <a:endParaRPr lang="en-US" dirty="0">
              <a:solidFill>
                <a:schemeClr val="tx1">
                  <a:lumMod val="85000"/>
                  <a:lumOff val="15000"/>
                </a:schemeClr>
              </a:solidFill>
              <a:ea typeface="+mj-ea"/>
              <a:cs typeface="+mj-cs"/>
            </a:endParaRPr>
          </a:p>
        </p:txBody>
      </p:sp>
      <p:sp>
        <p:nvSpPr>
          <p:cNvPr id="46083" name="Content Placeholder 2"/>
          <p:cNvSpPr>
            <a:spLocks noGrp="1"/>
          </p:cNvSpPr>
          <p:nvPr>
            <p:ph idx="1"/>
          </p:nvPr>
        </p:nvSpPr>
        <p:spPr>
          <a:xfrm>
            <a:off x="457200" y="1600200"/>
            <a:ext cx="8229600" cy="4525963"/>
          </a:xfrm>
        </p:spPr>
        <p:txBody>
          <a:bodyPr/>
          <a:lstStyle/>
          <a:p>
            <a:pPr eaLnBrk="1" hangingPunct="1">
              <a:lnSpc>
                <a:spcPct val="90000"/>
              </a:lnSpc>
            </a:pPr>
            <a:r>
              <a:rPr lang="en-GB" smtClean="0">
                <a:ea typeface="ＭＳ Ｐゴシック" charset="-128"/>
              </a:rPr>
              <a:t>The government of a country with large areas of wilderness decides to deploy several hundred weather stations in remote areas. </a:t>
            </a:r>
          </a:p>
          <a:p>
            <a:pPr eaLnBrk="1" hangingPunct="1">
              <a:lnSpc>
                <a:spcPct val="90000"/>
              </a:lnSpc>
            </a:pPr>
            <a:r>
              <a:rPr lang="en-GB" smtClean="0">
                <a:ea typeface="ＭＳ Ｐゴシック" charset="-128"/>
              </a:rPr>
              <a:t>Weather stations collect data from a set of instruments that measure temperature and pressure, sunshine, rainfall, wind speed and wind direction.</a:t>
            </a:r>
          </a:p>
          <a:p>
            <a:pPr lvl="1" eaLnBrk="1" hangingPunct="1">
              <a:lnSpc>
                <a:spcPct val="90000"/>
              </a:lnSpc>
            </a:pPr>
            <a:r>
              <a:rPr lang="en-GB" smtClean="0">
                <a:ea typeface="ＭＳ Ｐゴシック" charset="-128"/>
              </a:rPr>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pPr eaLnBrk="1" hangingPunct="1">
              <a:lnSpc>
                <a:spcPct val="90000"/>
              </a:lnSpc>
            </a:pPr>
            <a:r>
              <a:rPr lang="en-GB" smtClean="0">
                <a:ea typeface="ＭＳ Ｐゴシック" charset="-128"/>
              </a:rPr>
              <a:t> </a:t>
            </a:r>
          </a:p>
          <a:p>
            <a:pPr eaLnBrk="1" hangingPunct="1">
              <a:lnSpc>
                <a:spcPct val="90000"/>
              </a:lnSpc>
            </a:pPr>
            <a:endParaRPr lang="en-US" smtClean="0">
              <a:ea typeface="ＭＳ Ｐゴシック" charset="-128"/>
            </a:endParaRPr>
          </a:p>
        </p:txBody>
      </p:sp>
    </p:spTree>
    <p:extLst>
      <p:ext uri="{BB962C8B-B14F-4D97-AF65-F5344CB8AC3E}">
        <p14:creationId xmlns:p14="http://schemas.microsoft.com/office/powerpoint/2010/main" val="642635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866775" y="685800"/>
            <a:ext cx="7292975" cy="1143000"/>
          </a:xfrm>
        </p:spPr>
        <p:txBody>
          <a:bodyPr>
            <a:normAutofit fontScale="90000"/>
          </a:bodyPr>
          <a:lstStyle/>
          <a:p>
            <a:pPr eaLnBrk="1" hangingPunct="1"/>
            <a:r>
              <a:rPr lang="en-GB" sz="4900" smtClean="0">
                <a:ea typeface="ＭＳ Ｐゴシック" charset="-128"/>
              </a:rPr>
              <a:t>The weather station</a:t>
            </a:r>
            <a:r>
              <a:rPr lang="en-GB" altLang="en-US" sz="4900" smtClean="0">
                <a:ea typeface="ＭＳ Ｐゴシック" charset="-128"/>
              </a:rPr>
              <a:t>’</a:t>
            </a:r>
            <a:r>
              <a:rPr lang="en-GB" sz="4900" smtClean="0">
                <a:ea typeface="ＭＳ Ｐゴシック" charset="-128"/>
              </a:rPr>
              <a:t>s environment </a:t>
            </a:r>
            <a:endParaRPr lang="en-US" sz="4900" smtClean="0">
              <a:ea typeface="ＭＳ Ｐゴシック" charset="-128"/>
            </a:endParaRPr>
          </a:p>
        </p:txBody>
      </p:sp>
      <p:pic>
        <p:nvPicPr>
          <p:cNvPr id="47108" name="Picture 8" descr="1.7 WeatherStationEnv.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2314575"/>
            <a:ext cx="5159375"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5445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09600" y="533400"/>
            <a:ext cx="7292975" cy="1143000"/>
          </a:xfrm>
        </p:spPr>
        <p:txBody>
          <a:bodyPr/>
          <a:lstStyle/>
          <a:p>
            <a:pPr eaLnBrk="1" hangingPunct="1"/>
            <a:r>
              <a:rPr lang="en-US" sz="4200" smtClean="0">
                <a:ea typeface="ＭＳ Ｐゴシック" charset="-128"/>
              </a:rPr>
              <a:t>Weather information system</a:t>
            </a:r>
          </a:p>
        </p:txBody>
      </p:sp>
      <p:sp>
        <p:nvSpPr>
          <p:cNvPr id="48131" name="Content Placeholder 2"/>
          <p:cNvSpPr>
            <a:spLocks noGrp="1"/>
          </p:cNvSpPr>
          <p:nvPr>
            <p:ph idx="1"/>
          </p:nvPr>
        </p:nvSpPr>
        <p:spPr>
          <a:xfrm>
            <a:off x="284163" y="1600200"/>
            <a:ext cx="8605837" cy="4525963"/>
          </a:xfrm>
        </p:spPr>
        <p:txBody>
          <a:bodyPr/>
          <a:lstStyle/>
          <a:p>
            <a:pPr eaLnBrk="1" hangingPunct="1">
              <a:lnSpc>
                <a:spcPct val="90000"/>
              </a:lnSpc>
            </a:pPr>
            <a:r>
              <a:rPr lang="en-GB" dirty="0" smtClean="0">
                <a:ea typeface="ＭＳ Ｐゴシック" charset="-128"/>
              </a:rPr>
              <a:t>The weather station system </a:t>
            </a:r>
          </a:p>
          <a:p>
            <a:pPr lvl="1" eaLnBrk="1" hangingPunct="1">
              <a:lnSpc>
                <a:spcPct val="90000"/>
              </a:lnSpc>
            </a:pPr>
            <a:r>
              <a:rPr lang="en-GB" dirty="0" smtClean="0">
                <a:ea typeface="ＭＳ Ｐゴシック" charset="-128"/>
              </a:rPr>
              <a:t>This is responsible for collecting weather data, carrying out some initial data processing and transmitting it to the data management system.</a:t>
            </a:r>
          </a:p>
          <a:p>
            <a:pPr eaLnBrk="1" hangingPunct="1">
              <a:lnSpc>
                <a:spcPct val="90000"/>
              </a:lnSpc>
            </a:pPr>
            <a:r>
              <a:rPr lang="en-GB" dirty="0" smtClean="0">
                <a:ea typeface="ＭＳ Ｐゴシック" charset="-128"/>
              </a:rPr>
              <a:t>The data management and archiving system </a:t>
            </a:r>
          </a:p>
          <a:p>
            <a:pPr lvl="1" eaLnBrk="1" hangingPunct="1">
              <a:lnSpc>
                <a:spcPct val="90000"/>
              </a:lnSpc>
            </a:pPr>
            <a:r>
              <a:rPr lang="en-GB" dirty="0" smtClean="0">
                <a:ea typeface="ＭＳ Ｐゴシック" charset="-128"/>
              </a:rPr>
              <a:t>This system collects the data from all of the wilderness weather stations, carries out data processing and analysis and archives the data.</a:t>
            </a:r>
          </a:p>
          <a:p>
            <a:pPr eaLnBrk="1" hangingPunct="1">
              <a:lnSpc>
                <a:spcPct val="90000"/>
              </a:lnSpc>
            </a:pPr>
            <a:r>
              <a:rPr lang="en-GB" dirty="0" smtClean="0">
                <a:ea typeface="ＭＳ Ｐゴシック" charset="-128"/>
              </a:rPr>
              <a:t>The station maintenance system </a:t>
            </a:r>
          </a:p>
          <a:p>
            <a:pPr lvl="1" eaLnBrk="1" hangingPunct="1">
              <a:lnSpc>
                <a:spcPct val="90000"/>
              </a:lnSpc>
            </a:pPr>
            <a:r>
              <a:rPr lang="en-GB" dirty="0" smtClean="0">
                <a:ea typeface="ＭＳ Ｐゴシック" charset="-128"/>
              </a:rPr>
              <a:t>This system can communicate by satellite with all wilderness weather stations to monitor the health of these systems and provide reports of problems. </a:t>
            </a:r>
            <a:endParaRPr lang="en-US" dirty="0" smtClean="0">
              <a:ea typeface="ＭＳ Ｐゴシック" charset="-128"/>
            </a:endParaRPr>
          </a:p>
        </p:txBody>
      </p:sp>
    </p:spTree>
    <p:extLst>
      <p:ext uri="{BB962C8B-B14F-4D97-AF65-F5344CB8AC3E}">
        <p14:creationId xmlns:p14="http://schemas.microsoft.com/office/powerpoint/2010/main" val="4539536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335</TotalTime>
  <Words>1875</Words>
  <Application>Microsoft Office PowerPoint</Application>
  <PresentationFormat>On-screen Show (4:3)</PresentationFormat>
  <Paragraphs>159</Paragraphs>
  <Slides>30</Slides>
  <Notes>4</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Clarity</vt:lpstr>
      <vt:lpstr>SOFTWARE ENGINEERING</vt:lpstr>
      <vt:lpstr>What is Software?</vt:lpstr>
      <vt:lpstr>Software Products</vt:lpstr>
      <vt:lpstr>Software Costs</vt:lpstr>
      <vt:lpstr>Features of Software</vt:lpstr>
      <vt:lpstr>Wear vs. Deterioration</vt:lpstr>
      <vt:lpstr>Software Engineering Definition</vt:lpstr>
      <vt:lpstr>Importance of Software Engineering</vt:lpstr>
      <vt:lpstr>A Layered Technology</vt:lpstr>
      <vt:lpstr>Software Processes</vt:lpstr>
      <vt:lpstr>A Process Framework</vt:lpstr>
      <vt:lpstr>Common Process Framework  Activities</vt:lpstr>
      <vt:lpstr>Umbrella Activities </vt:lpstr>
      <vt:lpstr> A Generic Process Model</vt:lpstr>
      <vt:lpstr>Software Myths</vt:lpstr>
      <vt:lpstr>Software Myths Examples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PC</dc:creator>
  <cp:lastModifiedBy>Zarmina</cp:lastModifiedBy>
  <cp:revision>46</cp:revision>
  <dcterms:created xsi:type="dcterms:W3CDTF">2016-01-12T15:52:04Z</dcterms:created>
  <dcterms:modified xsi:type="dcterms:W3CDTF">2016-08-18T17:38:55Z</dcterms:modified>
</cp:coreProperties>
</file>