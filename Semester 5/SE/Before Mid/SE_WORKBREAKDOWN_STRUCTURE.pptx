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Masroor</a:t>
            </a:r>
            <a:r>
              <a:rPr spc="-55" dirty="0"/>
              <a:t> </a:t>
            </a:r>
            <a:r>
              <a:rPr dirty="0"/>
              <a:t>Hussain</a:t>
            </a:r>
            <a:r>
              <a:rPr spc="-35" dirty="0"/>
              <a:t> </a:t>
            </a:r>
            <a:r>
              <a:rPr dirty="0"/>
              <a:t>[SPM</a:t>
            </a:r>
            <a:r>
              <a:rPr spc="-25" dirty="0"/>
              <a:t> </a:t>
            </a:r>
            <a:r>
              <a:rPr dirty="0"/>
              <a:t>Session</a:t>
            </a:r>
            <a:r>
              <a:rPr spc="-10" dirty="0"/>
              <a:t> </a:t>
            </a:r>
            <a:r>
              <a:rPr dirty="0"/>
              <a:t>Fall</a:t>
            </a:r>
            <a:r>
              <a:rPr spc="-15" dirty="0"/>
              <a:t> </a:t>
            </a:r>
            <a:r>
              <a:rPr spc="-10" dirty="0"/>
              <a:t>2017]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Masroor</a:t>
            </a:r>
            <a:r>
              <a:rPr spc="-55" dirty="0"/>
              <a:t> </a:t>
            </a:r>
            <a:r>
              <a:rPr dirty="0"/>
              <a:t>Hussain</a:t>
            </a:r>
            <a:r>
              <a:rPr spc="-35" dirty="0"/>
              <a:t> </a:t>
            </a:r>
            <a:r>
              <a:rPr dirty="0"/>
              <a:t>[SPM</a:t>
            </a:r>
            <a:r>
              <a:rPr spc="-25" dirty="0"/>
              <a:t> </a:t>
            </a:r>
            <a:r>
              <a:rPr dirty="0"/>
              <a:t>Session</a:t>
            </a:r>
            <a:r>
              <a:rPr spc="-10" dirty="0"/>
              <a:t> </a:t>
            </a:r>
            <a:r>
              <a:rPr dirty="0"/>
              <a:t>Fall</a:t>
            </a:r>
            <a:r>
              <a:rPr spc="-15" dirty="0"/>
              <a:t> </a:t>
            </a:r>
            <a:r>
              <a:rPr spc="-10" dirty="0"/>
              <a:t>2017]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Masroor</a:t>
            </a:r>
            <a:r>
              <a:rPr spc="-55" dirty="0"/>
              <a:t> </a:t>
            </a:r>
            <a:r>
              <a:rPr dirty="0"/>
              <a:t>Hussain</a:t>
            </a:r>
            <a:r>
              <a:rPr spc="-35" dirty="0"/>
              <a:t> </a:t>
            </a:r>
            <a:r>
              <a:rPr dirty="0"/>
              <a:t>[SPM</a:t>
            </a:r>
            <a:r>
              <a:rPr spc="-25" dirty="0"/>
              <a:t> </a:t>
            </a:r>
            <a:r>
              <a:rPr dirty="0"/>
              <a:t>Session</a:t>
            </a:r>
            <a:r>
              <a:rPr spc="-10" dirty="0"/>
              <a:t> </a:t>
            </a:r>
            <a:r>
              <a:rPr dirty="0"/>
              <a:t>Fall</a:t>
            </a:r>
            <a:r>
              <a:rPr spc="-15" dirty="0"/>
              <a:t> </a:t>
            </a:r>
            <a:r>
              <a:rPr spc="-10" dirty="0"/>
              <a:t>2017]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Masroor</a:t>
            </a:r>
            <a:r>
              <a:rPr spc="-55" dirty="0"/>
              <a:t> </a:t>
            </a:r>
            <a:r>
              <a:rPr dirty="0"/>
              <a:t>Hussain</a:t>
            </a:r>
            <a:r>
              <a:rPr spc="-35" dirty="0"/>
              <a:t> </a:t>
            </a:r>
            <a:r>
              <a:rPr dirty="0"/>
              <a:t>[SPM</a:t>
            </a:r>
            <a:r>
              <a:rPr spc="-25" dirty="0"/>
              <a:t> </a:t>
            </a:r>
            <a:r>
              <a:rPr dirty="0"/>
              <a:t>Session</a:t>
            </a:r>
            <a:r>
              <a:rPr spc="-10" dirty="0"/>
              <a:t> </a:t>
            </a:r>
            <a:r>
              <a:rPr dirty="0"/>
              <a:t>Fall</a:t>
            </a:r>
            <a:r>
              <a:rPr spc="-15" dirty="0"/>
              <a:t> </a:t>
            </a:r>
            <a:r>
              <a:rPr spc="-10" dirty="0"/>
              <a:t>2017]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Masroor</a:t>
            </a:r>
            <a:r>
              <a:rPr spc="-55" dirty="0"/>
              <a:t> </a:t>
            </a:r>
            <a:r>
              <a:rPr dirty="0"/>
              <a:t>Hussain</a:t>
            </a:r>
            <a:r>
              <a:rPr spc="-35" dirty="0"/>
              <a:t> </a:t>
            </a:r>
            <a:r>
              <a:rPr dirty="0"/>
              <a:t>[SPM</a:t>
            </a:r>
            <a:r>
              <a:rPr spc="-25" dirty="0"/>
              <a:t> </a:t>
            </a:r>
            <a:r>
              <a:rPr dirty="0"/>
              <a:t>Session</a:t>
            </a:r>
            <a:r>
              <a:rPr spc="-10" dirty="0"/>
              <a:t> </a:t>
            </a:r>
            <a:r>
              <a:rPr dirty="0"/>
              <a:t>Fall</a:t>
            </a:r>
            <a:r>
              <a:rPr spc="-15" dirty="0"/>
              <a:t> </a:t>
            </a:r>
            <a:r>
              <a:rPr spc="-10" dirty="0"/>
              <a:t>2017]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8331"/>
            <a:ext cx="861504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106170"/>
            <a:ext cx="8442325" cy="3196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521915"/>
            <a:ext cx="904875" cy="30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651375" y="6590090"/>
            <a:ext cx="322072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Masroor</a:t>
            </a:r>
            <a:r>
              <a:rPr spc="-55" dirty="0"/>
              <a:t> </a:t>
            </a:r>
            <a:r>
              <a:rPr dirty="0"/>
              <a:t>Hussain</a:t>
            </a:r>
            <a:r>
              <a:rPr spc="-35" dirty="0"/>
              <a:t> </a:t>
            </a:r>
            <a:r>
              <a:rPr dirty="0"/>
              <a:t>[SPM</a:t>
            </a:r>
            <a:r>
              <a:rPr spc="-25" dirty="0"/>
              <a:t> </a:t>
            </a:r>
            <a:r>
              <a:rPr dirty="0"/>
              <a:t>Session</a:t>
            </a:r>
            <a:r>
              <a:rPr spc="-10" dirty="0"/>
              <a:t> </a:t>
            </a:r>
            <a:r>
              <a:rPr dirty="0"/>
              <a:t>Fall</a:t>
            </a:r>
            <a:r>
              <a:rPr spc="-15" dirty="0"/>
              <a:t> </a:t>
            </a:r>
            <a:r>
              <a:rPr spc="-10" dirty="0"/>
              <a:t>2017]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SPM4a_CPM_AND_PERT.pp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://images.google.com.pk/imgres?imgurl=http%3A//www.davethewave.co.uk/mary-mungo-midge/big-jpg/the%2520end.jpg&amp;imgrefurl=http%3A//www.davethewave.co.uk/mary-mungo-midge/&amp;h=480&amp;w=640&amp;sz=18&amp;hl=en&amp;start=15&amp;tbnid=YXA2tuDQlAUgEM%3A&amp;tbnh=103&amp;tbnw=137&amp;prev=/images%3Fq%3Dthe%2Bend%26svnum%3D10%26hl%3Den%26lr%3D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8552" y="1858870"/>
            <a:ext cx="5024120" cy="230568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0"/>
              </a:spcBef>
            </a:pPr>
            <a:r>
              <a:rPr sz="4400" b="0" spc="-10" dirty="0">
                <a:latin typeface="Times New Roman"/>
                <a:cs typeface="Times New Roman"/>
              </a:rPr>
              <a:t>S.P.M</a:t>
            </a:r>
            <a:endParaRPr sz="44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  <a:spcBef>
                <a:spcPts val="1055"/>
              </a:spcBef>
            </a:pPr>
            <a:r>
              <a:rPr sz="4400" b="0" spc="-370" dirty="0">
                <a:latin typeface="Times New Roman"/>
                <a:cs typeface="Times New Roman"/>
              </a:rPr>
              <a:t>WORK</a:t>
            </a:r>
            <a:r>
              <a:rPr sz="4400" b="0" dirty="0">
                <a:latin typeface="Times New Roman"/>
                <a:cs typeface="Times New Roman"/>
              </a:rPr>
              <a:t> </a:t>
            </a:r>
            <a:r>
              <a:rPr sz="4400" b="0" spc="-295" dirty="0">
                <a:latin typeface="Times New Roman"/>
                <a:cs typeface="Times New Roman"/>
              </a:rPr>
              <a:t>BREAKDOWN </a:t>
            </a:r>
            <a:r>
              <a:rPr sz="4400" b="0" spc="-95" dirty="0">
                <a:latin typeface="Times New Roman"/>
                <a:cs typeface="Times New Roman"/>
              </a:rPr>
              <a:t>STRUCTURE.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solidFill>
            <a:srgbClr val="00CCFF"/>
          </a:solidFill>
        </p:spPr>
        <p:txBody>
          <a:bodyPr vert="horz" wrap="square" lIns="0" tIns="2171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710"/>
              </a:spcBef>
            </a:pPr>
            <a:r>
              <a:rPr sz="4400" spc="-10" dirty="0"/>
              <a:t>CONTENTS…..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222044" y="1904212"/>
            <a:ext cx="3429635" cy="23666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545465" indent="-532765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545465" algn="l"/>
              </a:tabLst>
            </a:pPr>
            <a:r>
              <a:rPr sz="3200" b="1" spc="-20" dirty="0">
                <a:latin typeface="Times New Roman"/>
                <a:cs typeface="Times New Roman"/>
              </a:rPr>
              <a:t>WBS.</a:t>
            </a:r>
            <a:endParaRPr sz="320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45465" algn="l"/>
              </a:tabLst>
            </a:pPr>
            <a:r>
              <a:rPr sz="3200" b="1" dirty="0">
                <a:latin typeface="Times New Roman"/>
                <a:cs typeface="Times New Roman"/>
              </a:rPr>
              <a:t>PERT</a:t>
            </a:r>
            <a:r>
              <a:rPr sz="3200" b="1" spc="-10" dirty="0">
                <a:latin typeface="Times New Roman"/>
                <a:cs typeface="Times New Roman"/>
              </a:rPr>
              <a:t> chart</a:t>
            </a:r>
            <a:endParaRPr sz="320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545465" algn="l"/>
              </a:tabLst>
            </a:pPr>
            <a:r>
              <a:rPr sz="3200" b="1" dirty="0">
                <a:latin typeface="Times New Roman"/>
                <a:cs typeface="Times New Roman"/>
              </a:rPr>
              <a:t>Gantt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chart.</a:t>
            </a:r>
            <a:endParaRPr sz="320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45465" algn="l"/>
              </a:tabLst>
            </a:pPr>
            <a:r>
              <a:rPr sz="3200" b="1" dirty="0">
                <a:latin typeface="Times New Roman"/>
                <a:cs typeface="Times New Roman"/>
              </a:rPr>
              <a:t>PERT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vs.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Gantt.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Work</a:t>
            </a:r>
            <a:r>
              <a:rPr spc="-85" dirty="0"/>
              <a:t> </a:t>
            </a:r>
            <a:r>
              <a:rPr dirty="0"/>
              <a:t>VS</a:t>
            </a:r>
            <a:r>
              <a:rPr spc="-80" dirty="0"/>
              <a:t> </a:t>
            </a:r>
            <a:r>
              <a:rPr spc="-10" dirty="0"/>
              <a:t>Effort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801979"/>
            <a:ext cx="7609840" cy="29521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32131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Work.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(Noun)</a:t>
            </a:r>
            <a:endParaRPr sz="2000">
              <a:latin typeface="Times New Roman"/>
              <a:cs typeface="Times New Roman"/>
            </a:endParaRPr>
          </a:p>
          <a:p>
            <a:pPr marL="12700" marR="3924935">
              <a:lnSpc>
                <a:spcPct val="120000"/>
              </a:lnSpc>
            </a:pPr>
            <a:r>
              <a:rPr sz="2000" b="1" dirty="0">
                <a:latin typeface="Times New Roman"/>
                <a:cs typeface="Times New Roman"/>
              </a:rPr>
              <a:t>The task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done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completed. </a:t>
            </a:r>
            <a:r>
              <a:rPr sz="2000" b="1" dirty="0">
                <a:latin typeface="Times New Roman"/>
                <a:cs typeface="Times New Roman"/>
              </a:rPr>
              <a:t>The finished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form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tasks.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quantifiable.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expressible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Scope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20" dirty="0">
                <a:latin typeface="Times New Roman"/>
                <a:cs typeface="Times New Roman"/>
              </a:rPr>
              <a:t> WBS.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2131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Effort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(Verb)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attempt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labor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behind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 task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(or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work).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Times New Roman"/>
                <a:cs typeface="Times New Roman"/>
              </a:rPr>
              <a:t>Quantifiable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man-</a:t>
            </a:r>
            <a:r>
              <a:rPr sz="2000" b="1" spc="-10" dirty="0">
                <a:latin typeface="Times New Roman"/>
                <a:cs typeface="Times New Roman"/>
              </a:rPr>
              <a:t>hours.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2356" y="609600"/>
            <a:ext cx="733044" cy="914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</a:t>
            </a:r>
            <a:r>
              <a:rPr dirty="0"/>
              <a:t>	WBS:</a:t>
            </a:r>
            <a:r>
              <a:rPr spc="-110" dirty="0"/>
              <a:t> </a:t>
            </a:r>
            <a:r>
              <a:rPr dirty="0"/>
              <a:t>Work</a:t>
            </a:r>
            <a:r>
              <a:rPr spc="-110" dirty="0"/>
              <a:t> </a:t>
            </a:r>
            <a:r>
              <a:rPr dirty="0"/>
              <a:t>Breakdown</a:t>
            </a:r>
            <a:r>
              <a:rPr spc="-110" dirty="0"/>
              <a:t> </a:t>
            </a:r>
            <a:r>
              <a:rPr spc="-10" dirty="0"/>
              <a:t>Structure.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766295"/>
            <a:ext cx="7693659" cy="40487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000" b="1" dirty="0">
                <a:latin typeface="Times New Roman"/>
                <a:cs typeface="Times New Roman"/>
              </a:rPr>
              <a:t>Psychologists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say: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680"/>
              </a:spcBef>
            </a:pPr>
            <a:r>
              <a:rPr sz="1800" b="1" dirty="0">
                <a:latin typeface="Times New Roman"/>
                <a:cs typeface="Times New Roman"/>
              </a:rPr>
              <a:t>Our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brains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normally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comprehend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around</a:t>
            </a:r>
            <a:r>
              <a:rPr sz="1800" b="1" spc="-10" dirty="0">
                <a:latin typeface="Times New Roman"/>
                <a:cs typeface="Times New Roman"/>
              </a:rPr>
              <a:t> 7-</a:t>
            </a:r>
            <a:r>
              <a:rPr sz="1800" b="1" dirty="0">
                <a:latin typeface="Times New Roman"/>
                <a:cs typeface="Times New Roman"/>
              </a:rPr>
              <a:t>9 items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simultaneously.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20"/>
              </a:spcBef>
            </a:pP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thousands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even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dozens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tasks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goes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way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over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our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ability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grasp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once.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solution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divide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" dirty="0">
                <a:latin typeface="Times New Roman"/>
                <a:cs typeface="Times New Roman"/>
              </a:rPr>
              <a:t> conquer.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b="1" dirty="0">
                <a:latin typeface="Times New Roman"/>
                <a:cs typeface="Times New Roman"/>
              </a:rPr>
              <a:t>Solution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–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WBS</a:t>
            </a:r>
            <a:endParaRPr sz="2800">
              <a:latin typeface="Times New Roman"/>
              <a:cs typeface="Times New Roman"/>
            </a:endParaRPr>
          </a:p>
          <a:p>
            <a:pPr marL="299085" marR="6985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Times New Roman"/>
                <a:cs typeface="Times New Roman"/>
              </a:rPr>
              <a:t>WBS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hierarchical</a:t>
            </a:r>
            <a:r>
              <a:rPr sz="2800" spc="2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decomposition</a:t>
            </a:r>
            <a:r>
              <a:rPr sz="2800" spc="2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2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phases,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deliverables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10" dirty="0">
                <a:latin typeface="Times New Roman"/>
                <a:cs typeface="Times New Roman"/>
              </a:rPr>
              <a:t> packages.</a:t>
            </a:r>
            <a:endParaRPr sz="2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15"/>
              </a:spcBef>
            </a:pPr>
            <a:r>
              <a:rPr sz="2000" b="1" dirty="0">
                <a:latin typeface="Times New Roman"/>
                <a:cs typeface="Times New Roman"/>
              </a:rPr>
              <a:t>Preparing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understanding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WBS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your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big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step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765"/>
              </a:spcBef>
            </a:pPr>
            <a:r>
              <a:rPr sz="2000" b="1" dirty="0">
                <a:latin typeface="Times New Roman"/>
                <a:cs typeface="Times New Roman"/>
              </a:rPr>
              <a:t>towards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mastering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inherent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complexity.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2356" y="609600"/>
            <a:ext cx="733044" cy="914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3960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1.1</a:t>
            </a:r>
            <a:r>
              <a:rPr dirty="0"/>
              <a:t>	WBS</a:t>
            </a:r>
            <a:r>
              <a:rPr spc="-5" dirty="0"/>
              <a:t> </a:t>
            </a:r>
            <a:r>
              <a:rPr spc="-10" dirty="0"/>
              <a:t>History.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356" y="936091"/>
            <a:ext cx="7406005" cy="46329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algn="just">
              <a:lnSpc>
                <a:spcPct val="104000"/>
              </a:lnSpc>
              <a:spcBef>
                <a:spcPts val="19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WBS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was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initially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developed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U.S.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defense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establishment,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described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Military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Standard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(MIL-</a:t>
            </a:r>
            <a:r>
              <a:rPr sz="2000" b="1" dirty="0">
                <a:latin typeface="Times New Roman"/>
                <a:cs typeface="Times New Roman"/>
              </a:rPr>
              <a:t>STD)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881B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(25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Mar </a:t>
            </a:r>
            <a:r>
              <a:rPr sz="2000" b="1" dirty="0">
                <a:latin typeface="Times New Roman"/>
                <a:cs typeface="Times New Roman"/>
              </a:rPr>
              <a:t>93)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10" dirty="0">
                <a:latin typeface="Times New Roman"/>
                <a:cs typeface="Times New Roman"/>
              </a:rPr>
              <a:t> follows: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4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4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4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deliverable</a:t>
            </a:r>
            <a:r>
              <a:rPr sz="2400" b="1" spc="43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oriented</a:t>
            </a:r>
            <a:r>
              <a:rPr sz="2400" b="1" spc="4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decomposition</a:t>
            </a:r>
            <a:r>
              <a:rPr sz="2400" b="1" spc="4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43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4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project </a:t>
            </a:r>
            <a:r>
              <a:rPr sz="2400" b="1" dirty="0">
                <a:latin typeface="Times New Roman"/>
                <a:cs typeface="Times New Roman"/>
              </a:rPr>
              <a:t>into</a:t>
            </a:r>
            <a:r>
              <a:rPr sz="2400" b="1" spc="5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smaller</a:t>
            </a:r>
            <a:r>
              <a:rPr sz="2400" b="1" spc="53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components.</a:t>
            </a:r>
            <a:r>
              <a:rPr sz="2400" b="1" spc="5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5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defines</a:t>
            </a:r>
            <a:r>
              <a:rPr sz="2400" b="1" spc="52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520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groups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400" b="1" dirty="0">
                <a:latin typeface="Times New Roman"/>
                <a:cs typeface="Times New Roman"/>
              </a:rPr>
              <a:t>'s</a:t>
            </a:r>
            <a:r>
              <a:rPr sz="2400" b="1" spc="3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discrete</a:t>
            </a:r>
            <a:r>
              <a:rPr sz="2400" b="1" spc="3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work</a:t>
            </a:r>
            <a:r>
              <a:rPr sz="2400" b="1" spc="3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elements</a:t>
            </a:r>
            <a:r>
              <a:rPr sz="2400" b="1" spc="3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3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3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way</a:t>
            </a:r>
            <a:r>
              <a:rPr sz="2400" b="1" spc="3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3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helps </a:t>
            </a:r>
            <a:r>
              <a:rPr sz="2400" b="1" dirty="0">
                <a:latin typeface="Times New Roman"/>
                <a:cs typeface="Times New Roman"/>
              </a:rPr>
              <a:t>organize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define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total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work scope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project.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4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displays</a:t>
            </a:r>
            <a:r>
              <a:rPr sz="2400" b="1" spc="4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4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defines</a:t>
            </a:r>
            <a:r>
              <a:rPr sz="2400" b="1" spc="40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4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product(s)</a:t>
            </a:r>
            <a:r>
              <a:rPr sz="2400" b="1" spc="4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4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409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developed </a:t>
            </a:r>
            <a:r>
              <a:rPr sz="2400" b="1" dirty="0">
                <a:latin typeface="Times New Roman"/>
                <a:cs typeface="Times New Roman"/>
              </a:rPr>
              <a:t>and/or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produced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relates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elements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1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work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be </a:t>
            </a:r>
            <a:r>
              <a:rPr sz="2400" b="1" dirty="0">
                <a:latin typeface="Times New Roman"/>
                <a:cs typeface="Times New Roman"/>
              </a:rPr>
              <a:t>accomplished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each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other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end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product(s)."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WBS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Keywords.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773328"/>
            <a:ext cx="3176270" cy="2298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7050">
              <a:lnSpc>
                <a:spcPct val="12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Work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done. </a:t>
            </a:r>
            <a:r>
              <a:rPr sz="2800" b="1" dirty="0">
                <a:latin typeface="Times New Roman"/>
                <a:cs typeface="Times New Roman"/>
              </a:rPr>
              <a:t>Work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elements.</a:t>
            </a:r>
            <a:endParaRPr sz="2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1470"/>
              </a:spcBef>
            </a:pPr>
            <a:r>
              <a:rPr sz="2000" b="1" dirty="0">
                <a:latin typeface="Times New Roman"/>
                <a:cs typeface="Times New Roman"/>
              </a:rPr>
              <a:t>Horizontal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decomposition.</a:t>
            </a:r>
            <a:endParaRPr sz="2000">
              <a:latin typeface="Times New Roman"/>
              <a:cs typeface="Times New Roman"/>
            </a:endParaRPr>
          </a:p>
          <a:p>
            <a:pPr marL="12700" marR="957580">
              <a:lnSpc>
                <a:spcPct val="120000"/>
              </a:lnSpc>
              <a:spcBef>
                <a:spcPts val="195"/>
              </a:spcBef>
            </a:pPr>
            <a:r>
              <a:rPr sz="2000" b="1" dirty="0">
                <a:latin typeface="Times New Roman"/>
                <a:cs typeface="Times New Roman"/>
              </a:rPr>
              <a:t>Divide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conquer. </a:t>
            </a:r>
            <a:r>
              <a:rPr sz="2000" b="1" dirty="0">
                <a:latin typeface="Times New Roman"/>
                <a:cs typeface="Times New Roman"/>
              </a:rPr>
              <a:t>Work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packages.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7094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1.2</a:t>
            </a:r>
            <a:r>
              <a:rPr dirty="0"/>
              <a:t>	WBS:</a:t>
            </a:r>
            <a:r>
              <a:rPr spc="-100" dirty="0"/>
              <a:t> </a:t>
            </a:r>
            <a:r>
              <a:rPr dirty="0"/>
              <a:t>What,</a:t>
            </a:r>
            <a:r>
              <a:rPr spc="-80" dirty="0"/>
              <a:t> </a:t>
            </a:r>
            <a:r>
              <a:rPr dirty="0"/>
              <a:t>when</a:t>
            </a:r>
            <a:r>
              <a:rPr spc="-9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20" dirty="0"/>
              <a:t>why.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859281"/>
            <a:ext cx="7694295" cy="2372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95"/>
              </a:spcBef>
              <a:buChar char="–"/>
              <a:tabLst>
                <a:tab pos="299085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hierarchical</a:t>
            </a:r>
            <a:r>
              <a:rPr sz="2800" spc="15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outline</a:t>
            </a:r>
            <a:r>
              <a:rPr sz="2800" spc="1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(map)</a:t>
            </a:r>
            <a:r>
              <a:rPr sz="2800" spc="1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1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identifies</a:t>
            </a:r>
            <a:r>
              <a:rPr sz="2800" spc="16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products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involved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project.</a:t>
            </a:r>
            <a:endParaRPr sz="2800">
              <a:latin typeface="Times New Roman"/>
              <a:cs typeface="Times New Roman"/>
            </a:endParaRPr>
          </a:p>
          <a:p>
            <a:pPr marL="299085" marR="5715" indent="-287020" algn="just">
              <a:lnSpc>
                <a:spcPct val="100000"/>
              </a:lnSpc>
              <a:spcBef>
                <a:spcPts val="1680"/>
              </a:spcBef>
              <a:buChar char="–"/>
              <a:tabLst>
                <a:tab pos="299085" algn="l"/>
              </a:tabLst>
            </a:pPr>
            <a:r>
              <a:rPr sz="2800" dirty="0">
                <a:latin typeface="Times New Roman"/>
                <a:cs typeface="Times New Roman"/>
              </a:rPr>
              <a:t>Defines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relationship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final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deliverable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(the </a:t>
            </a:r>
            <a:r>
              <a:rPr sz="2800" dirty="0">
                <a:latin typeface="Times New Roman"/>
                <a:cs typeface="Times New Roman"/>
              </a:rPr>
              <a:t>project)</a:t>
            </a:r>
            <a:r>
              <a:rPr sz="2800" spc="5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5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5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sub-</a:t>
            </a:r>
            <a:r>
              <a:rPr sz="2800" dirty="0">
                <a:latin typeface="Times New Roman"/>
                <a:cs typeface="Times New Roman"/>
              </a:rPr>
              <a:t>deliverables,</a:t>
            </a:r>
            <a:r>
              <a:rPr sz="2800" spc="5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5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turn,</a:t>
            </a:r>
            <a:r>
              <a:rPr sz="2800" spc="5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their </a:t>
            </a:r>
            <a:r>
              <a:rPr sz="2800" dirty="0">
                <a:latin typeface="Times New Roman"/>
                <a:cs typeface="Times New Roman"/>
              </a:rPr>
              <a:t>relationships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packages.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79387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1.3</a:t>
            </a:r>
            <a:r>
              <a:rPr dirty="0"/>
              <a:t>	WBS:</a:t>
            </a:r>
            <a:r>
              <a:rPr spc="-75" dirty="0"/>
              <a:t> </a:t>
            </a:r>
            <a:r>
              <a:rPr dirty="0"/>
              <a:t>How</a:t>
            </a:r>
            <a:r>
              <a:rPr spc="-75" dirty="0"/>
              <a:t> </a:t>
            </a:r>
            <a:r>
              <a:rPr dirty="0"/>
              <a:t>does</a:t>
            </a:r>
            <a:r>
              <a:rPr spc="-50" dirty="0"/>
              <a:t> </a:t>
            </a:r>
            <a:r>
              <a:rPr dirty="0"/>
              <a:t>it</a:t>
            </a:r>
            <a:r>
              <a:rPr spc="-75" dirty="0"/>
              <a:t> </a:t>
            </a:r>
            <a:r>
              <a:rPr dirty="0"/>
              <a:t>help</a:t>
            </a:r>
            <a:r>
              <a:rPr spc="-7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5" dirty="0"/>
              <a:t>PM?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787654"/>
            <a:ext cx="7693659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–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activities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tasks.</a:t>
            </a: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planning,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scheduling,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budget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preparation.</a:t>
            </a: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responsibilities.</a:t>
            </a: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80"/>
              </a:spcBef>
              <a:buChar char="–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Facilitates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performance.</a:t>
            </a: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75"/>
              </a:spcBef>
              <a:buChar char="–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whether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COTS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20" dirty="0">
                <a:latin typeface="Times New Roman"/>
                <a:cs typeface="Times New Roman"/>
              </a:rPr>
              <a:t>sub-</a:t>
            </a:r>
            <a:r>
              <a:rPr sz="2400" spc="-10" dirty="0">
                <a:latin typeface="Times New Roman"/>
                <a:cs typeface="Times New Roman"/>
              </a:rPr>
              <a:t>contracting.</a:t>
            </a:r>
            <a:endParaRPr sz="2400">
              <a:latin typeface="Times New Roman"/>
              <a:cs typeface="Times New Roman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575"/>
              </a:spcBef>
              <a:buChar char="–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Helps</a:t>
            </a:r>
            <a:r>
              <a:rPr sz="2400" spc="4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4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organization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breakdown </a:t>
            </a:r>
            <a:r>
              <a:rPr sz="2400" dirty="0">
                <a:latin typeface="Times New Roman"/>
                <a:cs typeface="Times New Roman"/>
              </a:rPr>
              <a:t>structure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(OBS),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assigns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responsibilities</a:t>
            </a:r>
            <a:r>
              <a:rPr sz="2400" spc="5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organizational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individuals.</a:t>
            </a:r>
            <a:endParaRPr sz="2400">
              <a:latin typeface="Times New Roman"/>
              <a:cs typeface="Times New Roman"/>
            </a:endParaRPr>
          </a:p>
          <a:p>
            <a:pPr marL="299085" marR="6985" indent="-287020" algn="just">
              <a:lnSpc>
                <a:spcPct val="100000"/>
              </a:lnSpc>
              <a:spcBef>
                <a:spcPts val="580"/>
              </a:spcBef>
              <a:buChar char="–"/>
              <a:tabLst>
                <a:tab pos="299085" algn="l"/>
              </a:tabLst>
            </a:pPr>
            <a:r>
              <a:rPr sz="2400" dirty="0">
                <a:latin typeface="Times New Roman"/>
                <a:cs typeface="Times New Roman"/>
              </a:rPr>
              <a:t>Defines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 channels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assists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coordinating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4949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1.4</a:t>
            </a:r>
            <a:r>
              <a:rPr dirty="0"/>
              <a:t>	WBS</a:t>
            </a:r>
            <a:r>
              <a:rPr spc="-15" dirty="0"/>
              <a:t> </a:t>
            </a:r>
            <a:r>
              <a:rPr spc="-10" dirty="0"/>
              <a:t>Types/styles.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382547"/>
            <a:ext cx="6673215" cy="2586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775"/>
              </a:spcBef>
              <a:buAutoNum type="arabicPeriod"/>
              <a:tabLst>
                <a:tab pos="546100" algn="l"/>
              </a:tabLst>
            </a:pPr>
            <a:r>
              <a:rPr sz="2800" b="1" dirty="0">
                <a:latin typeface="Times New Roman"/>
                <a:cs typeface="Times New Roman"/>
              </a:rPr>
              <a:t>Tree/hierarchical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WBS.</a:t>
            </a:r>
            <a:endParaRPr sz="2800">
              <a:latin typeface="Times New Roman"/>
              <a:cs typeface="Times New Roman"/>
            </a:endParaRPr>
          </a:p>
          <a:p>
            <a:pPr marL="546100" indent="-5334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46100" algn="l"/>
              </a:tabLst>
            </a:pPr>
            <a:r>
              <a:rPr sz="2800" b="1" dirty="0">
                <a:latin typeface="Times New Roman"/>
                <a:cs typeface="Times New Roman"/>
              </a:rPr>
              <a:t>Hierarchical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with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coding.</a:t>
            </a:r>
            <a:endParaRPr sz="2800">
              <a:latin typeface="Times New Roman"/>
              <a:cs typeface="Times New Roman"/>
            </a:endParaRPr>
          </a:p>
          <a:p>
            <a:pPr marL="546100" indent="-53340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46100" algn="l"/>
              </a:tabLst>
            </a:pPr>
            <a:r>
              <a:rPr sz="2800" b="1" dirty="0">
                <a:latin typeface="Times New Roman"/>
                <a:cs typeface="Times New Roman"/>
              </a:rPr>
              <a:t>Descriptive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WBS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(military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style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coding).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2987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Phase</a:t>
            </a:r>
            <a:r>
              <a:rPr sz="2800" b="1" dirty="0">
                <a:latin typeface="Times New Roman"/>
                <a:cs typeface="Times New Roman"/>
              </a:rPr>
              <a:t>	Project/SDLC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Phase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4269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1.5</a:t>
            </a:r>
            <a:r>
              <a:rPr dirty="0"/>
              <a:t>	WBS</a:t>
            </a:r>
            <a:r>
              <a:rPr spc="-5" dirty="0"/>
              <a:t> </a:t>
            </a:r>
            <a:r>
              <a:rPr spc="-10" dirty="0"/>
              <a:t>Contents.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371600"/>
            <a:ext cx="8336280" cy="4343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4269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1.5</a:t>
            </a:r>
            <a:r>
              <a:rPr dirty="0"/>
              <a:t>	WBS</a:t>
            </a:r>
            <a:r>
              <a:rPr spc="-5" dirty="0"/>
              <a:t> </a:t>
            </a:r>
            <a:r>
              <a:rPr spc="-10" dirty="0"/>
              <a:t>Contents.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783" y="880872"/>
            <a:ext cx="7266432" cy="540105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5864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1.6</a:t>
            </a:r>
            <a:r>
              <a:rPr dirty="0"/>
              <a:t>	WBS:</a:t>
            </a:r>
            <a:r>
              <a:rPr spc="-110" dirty="0"/>
              <a:t> </a:t>
            </a:r>
            <a:r>
              <a:rPr dirty="0"/>
              <a:t>Work</a:t>
            </a:r>
            <a:r>
              <a:rPr spc="-105" dirty="0"/>
              <a:t> </a:t>
            </a:r>
            <a:r>
              <a:rPr spc="-10" dirty="0"/>
              <a:t>packages.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771573"/>
            <a:ext cx="8126095" cy="509841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package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lowest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WBS.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90"/>
              </a:spcBef>
              <a:tabLst>
                <a:tab pos="1003300" algn="l"/>
              </a:tabLst>
            </a:pPr>
            <a:r>
              <a:rPr sz="2400" spc="-50" dirty="0">
                <a:latin typeface="Times New Roman"/>
                <a:cs typeface="Times New Roman"/>
              </a:rPr>
              <a:t>–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dirty="0">
                <a:latin typeface="Times New Roman"/>
                <a:cs typeface="Times New Roman"/>
              </a:rPr>
              <a:t>It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output-</a:t>
            </a:r>
            <a:r>
              <a:rPr sz="2400" b="1" dirty="0">
                <a:latin typeface="Times New Roman"/>
                <a:cs typeface="Times New Roman"/>
              </a:rPr>
              <a:t>oriented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 that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it: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220"/>
              </a:spcBef>
            </a:pPr>
            <a:r>
              <a:rPr sz="2000" dirty="0">
                <a:latin typeface="Times New Roman"/>
                <a:cs typeface="Times New Roman"/>
              </a:rPr>
              <a:t>Defines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10" dirty="0">
                <a:latin typeface="Times New Roman"/>
                <a:cs typeface="Times New Roman"/>
              </a:rPr>
              <a:t> (what).</a:t>
            </a:r>
            <a:endParaRPr sz="2000">
              <a:latin typeface="Times New Roman"/>
              <a:cs typeface="Times New Roman"/>
            </a:endParaRPr>
          </a:p>
          <a:p>
            <a:pPr marL="927100" marR="1125855">
              <a:lnSpc>
                <a:spcPct val="150000"/>
              </a:lnSpc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continuously. </a:t>
            </a: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WP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(how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long?).</a:t>
            </a:r>
            <a:endParaRPr sz="20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Recommended: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8/80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rule.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[8:Min,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80:Max]</a:t>
            </a:r>
            <a:endParaRPr sz="1400">
              <a:latin typeface="Times New Roman"/>
              <a:cs typeface="Times New Roman"/>
            </a:endParaRPr>
          </a:p>
          <a:p>
            <a:pPr marL="927100" marR="753745">
              <a:lnSpc>
                <a:spcPct val="15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time-</a:t>
            </a:r>
            <a:r>
              <a:rPr sz="2000" dirty="0">
                <a:latin typeface="Times New Roman"/>
                <a:cs typeface="Times New Roman"/>
              </a:rPr>
              <a:t>phased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budget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WP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(what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cost?). </a:t>
            </a: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WP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(how</a:t>
            </a:r>
            <a:r>
              <a:rPr sz="2000" spc="-10" dirty="0">
                <a:latin typeface="Times New Roman"/>
                <a:cs typeface="Times New Roman"/>
              </a:rPr>
              <a:t> many?).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person/team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responsible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(who?).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Identifies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(milestones)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success.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packages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chart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3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GENERAL</a:t>
            </a:r>
            <a:r>
              <a:rPr sz="3200" spc="-25" dirty="0"/>
              <a:t> </a:t>
            </a:r>
            <a:r>
              <a:rPr sz="3200" dirty="0"/>
              <a:t>FORM</a:t>
            </a:r>
            <a:r>
              <a:rPr sz="3200" spc="-15" dirty="0"/>
              <a:t> </a:t>
            </a:r>
            <a:r>
              <a:rPr sz="3200" dirty="0"/>
              <a:t>OF</a:t>
            </a:r>
            <a:r>
              <a:rPr sz="3200" spc="-25" dirty="0"/>
              <a:t> WBS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295400"/>
            <a:ext cx="8077200" cy="44958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838200"/>
            <a:ext cx="8610600" cy="54864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dirty="0"/>
              <a:t>#1</a:t>
            </a:r>
            <a:r>
              <a:rPr spc="-90" dirty="0"/>
              <a:t> </a:t>
            </a:r>
            <a:r>
              <a:rPr dirty="0"/>
              <a:t>–</a:t>
            </a:r>
            <a:r>
              <a:rPr spc="-80" dirty="0"/>
              <a:t> </a:t>
            </a:r>
            <a:r>
              <a:rPr dirty="0"/>
              <a:t>SIMPLE</a:t>
            </a:r>
            <a:r>
              <a:rPr spc="-70" dirty="0"/>
              <a:t> </a:t>
            </a:r>
            <a:r>
              <a:rPr spc="-20" dirty="0"/>
              <a:t>WBS.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066800"/>
            <a:ext cx="8001000" cy="48006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3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Example</a:t>
            </a:r>
            <a:r>
              <a:rPr sz="3200" spc="-20" dirty="0"/>
              <a:t> </a:t>
            </a:r>
            <a:r>
              <a:rPr sz="3200" dirty="0"/>
              <a:t>#2.</a:t>
            </a:r>
            <a:r>
              <a:rPr sz="3200" spc="-25" dirty="0"/>
              <a:t> </a:t>
            </a:r>
            <a:r>
              <a:rPr sz="3200" dirty="0"/>
              <a:t>–</a:t>
            </a:r>
            <a:r>
              <a:rPr sz="3200" spc="-10" dirty="0"/>
              <a:t> </a:t>
            </a:r>
            <a:r>
              <a:rPr sz="3200" dirty="0"/>
              <a:t>NETWORKING</a:t>
            </a:r>
            <a:r>
              <a:rPr sz="3200" spc="-40" dirty="0"/>
              <a:t> </a:t>
            </a:r>
            <a:r>
              <a:rPr sz="3200" dirty="0"/>
              <a:t>PROJECT</a:t>
            </a:r>
            <a:r>
              <a:rPr sz="3200" spc="-35" dirty="0"/>
              <a:t> </a:t>
            </a:r>
            <a:r>
              <a:rPr sz="3200" spc="-25" dirty="0"/>
              <a:t>WBS</a:t>
            </a:r>
            <a:endParaRPr sz="32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WBS</a:t>
            </a:r>
            <a:r>
              <a:rPr spc="-85" dirty="0"/>
              <a:t> </a:t>
            </a:r>
            <a:r>
              <a:rPr dirty="0"/>
              <a:t>Example</a:t>
            </a:r>
            <a:r>
              <a:rPr spc="-80" dirty="0"/>
              <a:t> </a:t>
            </a:r>
            <a:r>
              <a:rPr spc="-25" dirty="0"/>
              <a:t>#3.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11" y="914400"/>
            <a:ext cx="8343900" cy="52578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4000" y="0"/>
                </a:moveTo>
                <a:lnTo>
                  <a:pt x="0" y="0"/>
                </a:lnTo>
                <a:lnTo>
                  <a:pt x="0" y="685800"/>
                </a:lnTo>
                <a:lnTo>
                  <a:pt x="9144000" y="685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WBS</a:t>
            </a:r>
            <a:r>
              <a:rPr spc="-85" dirty="0"/>
              <a:t> </a:t>
            </a:r>
            <a:r>
              <a:rPr dirty="0"/>
              <a:t>Example</a:t>
            </a:r>
            <a:r>
              <a:rPr spc="-80" dirty="0"/>
              <a:t> </a:t>
            </a:r>
            <a:r>
              <a:rPr spc="-25" dirty="0"/>
              <a:t>#4.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914400"/>
            <a:ext cx="8763000" cy="5410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TODAY’s</a:t>
            </a:r>
            <a:r>
              <a:rPr sz="3600" spc="-15" dirty="0"/>
              <a:t> </a:t>
            </a:r>
            <a:r>
              <a:rPr sz="3600" spc="-10" dirty="0"/>
              <a:t>ACTIVITY.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54939" y="1106170"/>
            <a:ext cx="8485505" cy="2099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621665" algn="l"/>
              </a:tabLst>
            </a:pPr>
            <a:r>
              <a:rPr sz="2000" b="1" dirty="0">
                <a:latin typeface="Times New Roman"/>
                <a:cs typeface="Times New Roman"/>
              </a:rPr>
              <a:t>Describe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assigned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you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 single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page.</a:t>
            </a:r>
            <a:endParaRPr sz="20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buAutoNum type="arabicPeriod"/>
              <a:tabLst>
                <a:tab pos="621665" algn="l"/>
              </a:tabLst>
            </a:pPr>
            <a:r>
              <a:rPr sz="2000" b="1" dirty="0">
                <a:latin typeface="Times New Roman"/>
                <a:cs typeface="Times New Roman"/>
              </a:rPr>
              <a:t>Identify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major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deliverables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necessary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project.</a:t>
            </a:r>
            <a:endParaRPr sz="20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buAutoNum type="arabicPeriod"/>
              <a:tabLst>
                <a:tab pos="621665" algn="l"/>
              </a:tabLst>
            </a:pPr>
            <a:r>
              <a:rPr sz="2000" b="1" dirty="0">
                <a:latin typeface="Times New Roman"/>
                <a:cs typeface="Times New Roman"/>
              </a:rPr>
              <a:t>Identify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sub-deliverables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make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 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those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major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deliverables.</a:t>
            </a:r>
            <a:endParaRPr sz="2000">
              <a:latin typeface="Times New Roman"/>
              <a:cs typeface="Times New Roman"/>
            </a:endParaRPr>
          </a:p>
          <a:p>
            <a:pPr marL="622300" marR="770890" indent="-609600">
              <a:lnSpc>
                <a:spcPct val="80000"/>
              </a:lnSpc>
              <a:spcBef>
                <a:spcPts val="480"/>
              </a:spcBef>
              <a:buAutoNum type="arabicPeriod"/>
              <a:tabLst>
                <a:tab pos="622300" algn="l"/>
              </a:tabLst>
            </a:pPr>
            <a:r>
              <a:rPr sz="2000" b="1" dirty="0">
                <a:latin typeface="Times New Roman"/>
                <a:cs typeface="Times New Roman"/>
              </a:rPr>
              <a:t>Try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ascertain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amount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required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 </a:t>
            </a:r>
            <a:r>
              <a:rPr sz="2000" b="1" spc="-25" dirty="0">
                <a:latin typeface="Times New Roman"/>
                <a:cs typeface="Times New Roman"/>
              </a:rPr>
              <a:t>sub </a:t>
            </a:r>
            <a:r>
              <a:rPr sz="2000" b="1" dirty="0">
                <a:latin typeface="Times New Roman"/>
                <a:cs typeface="Times New Roman"/>
              </a:rPr>
              <a:t>deliverable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consequently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major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sub-</a:t>
            </a:r>
            <a:r>
              <a:rPr sz="2000" b="1" spc="-10" dirty="0">
                <a:latin typeface="Times New Roman"/>
                <a:cs typeface="Times New Roman"/>
              </a:rPr>
              <a:t>deliverables.</a:t>
            </a:r>
            <a:endParaRPr sz="20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buAutoNum type="arabicPeriod"/>
              <a:tabLst>
                <a:tab pos="621665" algn="l"/>
              </a:tabLst>
            </a:pPr>
            <a:r>
              <a:rPr sz="2000" b="1" dirty="0">
                <a:latin typeface="Times New Roman"/>
                <a:cs typeface="Times New Roman"/>
              </a:rPr>
              <a:t>Try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ascertain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people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needed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these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jobs.</a:t>
            </a:r>
            <a:endParaRPr sz="2000">
              <a:latin typeface="Times New Roman"/>
              <a:cs typeface="Times New Roman"/>
            </a:endParaRPr>
          </a:p>
          <a:p>
            <a:pPr marL="621665" indent="-608965">
              <a:lnSpc>
                <a:spcPct val="100000"/>
              </a:lnSpc>
              <a:buAutoNum type="arabicPeriod"/>
              <a:tabLst>
                <a:tab pos="621665" algn="l"/>
              </a:tabLst>
            </a:pPr>
            <a:r>
              <a:rPr sz="2000" b="1" dirty="0">
                <a:latin typeface="Times New Roman"/>
                <a:cs typeface="Times New Roman"/>
              </a:rPr>
              <a:t>Draw/write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WBS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project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40335"/>
            <a:ext cx="5777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sz="3600" spc="-25" dirty="0"/>
              <a:t>1.7</a:t>
            </a:r>
            <a:r>
              <a:rPr sz="3600" dirty="0"/>
              <a:t>	WBS</a:t>
            </a:r>
            <a:r>
              <a:rPr sz="3600" spc="-20" dirty="0"/>
              <a:t> </a:t>
            </a:r>
            <a:r>
              <a:rPr sz="3600" dirty="0"/>
              <a:t>–</a:t>
            </a:r>
            <a:r>
              <a:rPr sz="3600" spc="-5" dirty="0"/>
              <a:t> </a:t>
            </a:r>
            <a:r>
              <a:rPr sz="3600" dirty="0"/>
              <a:t>How To </a:t>
            </a:r>
            <a:r>
              <a:rPr sz="3600" spc="-10" dirty="0"/>
              <a:t>Prepare.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622300" algn="l"/>
              </a:tabLst>
            </a:pPr>
            <a:r>
              <a:rPr dirty="0"/>
              <a:t>Identify</a:t>
            </a:r>
            <a:r>
              <a:rPr spc="-40" dirty="0"/>
              <a:t> </a:t>
            </a:r>
            <a:r>
              <a:rPr dirty="0"/>
              <a:t>final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dirty="0"/>
              <a:t>products</a:t>
            </a:r>
            <a:r>
              <a:rPr spc="-25" dirty="0"/>
              <a:t> </a:t>
            </a:r>
            <a:r>
              <a:rPr dirty="0"/>
              <a:t>necessary</a:t>
            </a:r>
            <a:r>
              <a:rPr spc="-3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achieving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spc="-10" dirty="0"/>
              <a:t>success.</a:t>
            </a:r>
          </a:p>
          <a:p>
            <a:pPr marL="622300" marR="79375">
              <a:lnSpc>
                <a:spcPct val="80000"/>
              </a:lnSpc>
              <a:spcBef>
                <a:spcPts val="480"/>
              </a:spcBef>
            </a:pPr>
            <a:r>
              <a:rPr dirty="0"/>
              <a:t>The WBS</a:t>
            </a:r>
            <a:r>
              <a:rPr spc="-10" dirty="0"/>
              <a:t> </a:t>
            </a:r>
            <a:r>
              <a:rPr dirty="0"/>
              <a:t>should</a:t>
            </a:r>
            <a:r>
              <a:rPr spc="-25" dirty="0"/>
              <a:t> </a:t>
            </a:r>
            <a:r>
              <a:rPr dirty="0"/>
              <a:t>assist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dirty="0"/>
              <a:t>manager</a:t>
            </a:r>
            <a:r>
              <a:rPr spc="-4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developing</a:t>
            </a:r>
            <a:r>
              <a:rPr spc="-30" dirty="0"/>
              <a:t> </a:t>
            </a:r>
            <a:r>
              <a:rPr dirty="0"/>
              <a:t>a clear</a:t>
            </a:r>
            <a:r>
              <a:rPr spc="-20" dirty="0"/>
              <a:t> </a:t>
            </a:r>
            <a:r>
              <a:rPr spc="-10" dirty="0"/>
              <a:t>vision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end</a:t>
            </a:r>
            <a:r>
              <a:rPr spc="-10" dirty="0"/>
              <a:t> </a:t>
            </a:r>
            <a:r>
              <a:rPr dirty="0"/>
              <a:t>product.</a:t>
            </a:r>
            <a:r>
              <a:rPr spc="-30" dirty="0"/>
              <a:t> </a:t>
            </a:r>
            <a:r>
              <a:rPr dirty="0"/>
              <a:t>You</a:t>
            </a:r>
            <a:r>
              <a:rPr spc="-20" dirty="0"/>
              <a:t> </a:t>
            </a:r>
            <a:r>
              <a:rPr dirty="0"/>
              <a:t>need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answer the</a:t>
            </a:r>
            <a:r>
              <a:rPr spc="-15" dirty="0"/>
              <a:t> </a:t>
            </a:r>
            <a:r>
              <a:rPr dirty="0"/>
              <a:t>following</a:t>
            </a:r>
            <a:r>
              <a:rPr spc="-35" dirty="0"/>
              <a:t> </a:t>
            </a:r>
            <a:r>
              <a:rPr spc="-10" dirty="0"/>
              <a:t>question:</a:t>
            </a:r>
          </a:p>
          <a:p>
            <a:pPr marL="812165" lvl="1" indent="-189865">
              <a:lnSpc>
                <a:spcPct val="100000"/>
              </a:lnSpc>
              <a:buChar char="–"/>
              <a:tabLst>
                <a:tab pos="812165" algn="l"/>
              </a:tabLst>
            </a:pPr>
            <a:r>
              <a:rPr sz="2000" b="1" dirty="0">
                <a:latin typeface="Times New Roman"/>
                <a:cs typeface="Times New Roman"/>
              </a:rPr>
              <a:t>What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must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delivered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achieve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success?</a:t>
            </a:r>
            <a:endParaRPr sz="20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dirty="0"/>
              <a:t>You</a:t>
            </a:r>
            <a:r>
              <a:rPr spc="-10" dirty="0"/>
              <a:t> </a:t>
            </a:r>
            <a:r>
              <a:rPr dirty="0"/>
              <a:t>may</a:t>
            </a:r>
            <a:r>
              <a:rPr spc="-25" dirty="0"/>
              <a:t> </a:t>
            </a:r>
            <a:r>
              <a:rPr dirty="0"/>
              <a:t>need</a:t>
            </a:r>
            <a:r>
              <a:rPr spc="-10" dirty="0"/>
              <a:t> </a:t>
            </a:r>
            <a:r>
              <a:rPr dirty="0"/>
              <a:t>to review</a:t>
            </a:r>
            <a:r>
              <a:rPr spc="-2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dirty="0"/>
              <a:t>scope</a:t>
            </a:r>
            <a:r>
              <a:rPr spc="-25" dirty="0"/>
              <a:t> </a:t>
            </a:r>
            <a:r>
              <a:rPr dirty="0"/>
              <a:t>documents</a:t>
            </a:r>
            <a:r>
              <a:rPr spc="-4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spc="-10" dirty="0"/>
              <a:t>guidance.</a:t>
            </a:r>
          </a:p>
          <a:p>
            <a:pPr marL="622300" indent="-609600">
              <a:lnSpc>
                <a:spcPct val="100000"/>
              </a:lnSpc>
              <a:buAutoNum type="arabicPeriod" startAt="2"/>
              <a:tabLst>
                <a:tab pos="622300" algn="l"/>
              </a:tabLst>
            </a:pPr>
            <a:r>
              <a:rPr dirty="0"/>
              <a:t>Identify</a:t>
            </a:r>
            <a:r>
              <a:rPr spc="-4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major</a:t>
            </a:r>
            <a:r>
              <a:rPr spc="-30" dirty="0"/>
              <a:t> </a:t>
            </a:r>
            <a:r>
              <a:rPr dirty="0"/>
              <a:t>deliverables</a:t>
            </a:r>
            <a:r>
              <a:rPr spc="-45" dirty="0"/>
              <a:t> </a:t>
            </a:r>
            <a:r>
              <a:rPr dirty="0"/>
              <a:t>necessary</a:t>
            </a:r>
            <a:r>
              <a:rPr spc="-1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spc="-10" dirty="0"/>
              <a:t>success.</a:t>
            </a:r>
          </a:p>
          <a:p>
            <a:pPr marL="622300" marR="5080" lvl="1" indent="189865">
              <a:lnSpc>
                <a:spcPts val="1920"/>
              </a:lnSpc>
              <a:spcBef>
                <a:spcPts val="465"/>
              </a:spcBef>
              <a:buChar char="–"/>
              <a:tabLst>
                <a:tab pos="812165" algn="l"/>
              </a:tabLst>
            </a:pPr>
            <a:r>
              <a:rPr sz="2000" b="1" dirty="0">
                <a:latin typeface="Times New Roman"/>
                <a:cs typeface="Times New Roman"/>
              </a:rPr>
              <a:t>These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(periodic)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items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themselves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satisfy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project </a:t>
            </a:r>
            <a:r>
              <a:rPr sz="2000" b="1" dirty="0">
                <a:latin typeface="Times New Roman"/>
                <a:cs typeface="Times New Roman"/>
              </a:rPr>
              <a:t>need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combined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make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up a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successful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project</a:t>
            </a:r>
            <a:endParaRPr sz="20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Examples:</a:t>
            </a:r>
          </a:p>
          <a:p>
            <a:pPr marL="927100" marR="1692910">
              <a:lnSpc>
                <a:spcPct val="80000"/>
              </a:lnSpc>
              <a:spcBef>
                <a:spcPts val="484"/>
              </a:spcBef>
            </a:pPr>
            <a:r>
              <a:rPr dirty="0"/>
              <a:t>a design</a:t>
            </a:r>
            <a:r>
              <a:rPr spc="-15" dirty="0"/>
              <a:t> </a:t>
            </a:r>
            <a:r>
              <a:rPr dirty="0"/>
              <a:t>completion,</a:t>
            </a:r>
            <a:r>
              <a:rPr spc="-30" dirty="0"/>
              <a:t> </a:t>
            </a:r>
            <a:r>
              <a:rPr dirty="0"/>
              <a:t>status</a:t>
            </a:r>
            <a:r>
              <a:rPr spc="-45" dirty="0"/>
              <a:t> </a:t>
            </a:r>
            <a:r>
              <a:rPr dirty="0"/>
              <a:t>reports,</a:t>
            </a:r>
            <a:r>
              <a:rPr spc="-30" dirty="0"/>
              <a:t> </a:t>
            </a:r>
            <a:r>
              <a:rPr dirty="0"/>
              <a:t>or acceptance</a:t>
            </a:r>
            <a:r>
              <a:rPr spc="-35" dirty="0"/>
              <a:t> </a:t>
            </a:r>
            <a:r>
              <a:rPr spc="-20" dirty="0"/>
              <a:t>test </a:t>
            </a:r>
            <a:r>
              <a:rPr dirty="0"/>
              <a:t>completion</a:t>
            </a:r>
            <a:r>
              <a:rPr spc="-40" dirty="0"/>
              <a:t> </a:t>
            </a:r>
            <a:r>
              <a:rPr dirty="0"/>
              <a:t>report,</a:t>
            </a:r>
            <a:r>
              <a:rPr spc="-15" dirty="0"/>
              <a:t> </a:t>
            </a:r>
            <a:r>
              <a:rPr spc="-20" dirty="0"/>
              <a:t>etc.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72339"/>
            <a:ext cx="69278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7100" algn="l"/>
              </a:tabLst>
            </a:pPr>
            <a:r>
              <a:rPr sz="3200" spc="-25" dirty="0"/>
              <a:t>1.7</a:t>
            </a:r>
            <a:r>
              <a:rPr sz="3200" dirty="0"/>
              <a:t>	WBS</a:t>
            </a:r>
            <a:r>
              <a:rPr sz="3200" spc="-25" dirty="0"/>
              <a:t> </a:t>
            </a:r>
            <a:r>
              <a:rPr sz="3200" dirty="0"/>
              <a:t>–</a:t>
            </a:r>
            <a:r>
              <a:rPr sz="3200" spc="-5" dirty="0"/>
              <a:t> </a:t>
            </a:r>
            <a:r>
              <a:rPr sz="3200" dirty="0"/>
              <a:t>How</a:t>
            </a:r>
            <a:r>
              <a:rPr sz="3200" spc="-15" dirty="0"/>
              <a:t> </a:t>
            </a:r>
            <a:r>
              <a:rPr sz="3200" dirty="0"/>
              <a:t>To Prepare?</a:t>
            </a:r>
            <a:r>
              <a:rPr sz="3200" spc="-30" dirty="0"/>
              <a:t> </a:t>
            </a:r>
            <a:r>
              <a:rPr sz="3200" spc="-10" dirty="0"/>
              <a:t>(cont’d).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93444" y="801370"/>
            <a:ext cx="7534909" cy="41109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16865" marR="326390" indent="-304800">
              <a:lnSpc>
                <a:spcPct val="80000"/>
              </a:lnSpc>
              <a:spcBef>
                <a:spcPts val="585"/>
              </a:spcBef>
              <a:buAutoNum type="arabicPeriod" startAt="3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Incorporate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additional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levels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 detail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until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management </a:t>
            </a:r>
            <a:r>
              <a:rPr sz="2000" b="1" dirty="0">
                <a:latin typeface="Times New Roman"/>
                <a:cs typeface="Times New Roman"/>
              </a:rPr>
              <a:t>requirements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controlling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 </a:t>
            </a:r>
            <a:r>
              <a:rPr sz="2000" b="1" spc="-20" dirty="0">
                <a:latin typeface="Times New Roman"/>
                <a:cs typeface="Times New Roman"/>
              </a:rPr>
              <a:t>met.</a:t>
            </a:r>
            <a:endParaRPr sz="2000">
              <a:latin typeface="Times New Roman"/>
              <a:cs typeface="Times New Roman"/>
            </a:endParaRPr>
          </a:p>
          <a:p>
            <a:pPr marL="316865" marR="324485" lvl="1" indent="-304800">
              <a:lnSpc>
                <a:spcPct val="100000"/>
              </a:lnSpc>
              <a:buChar char="–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Remember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thus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 WBS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will </a:t>
            </a:r>
            <a:r>
              <a:rPr sz="2000" b="1" spc="-25" dirty="0">
                <a:latin typeface="Times New Roman"/>
                <a:cs typeface="Times New Roman"/>
              </a:rPr>
              <a:t>be </a:t>
            </a:r>
            <a:r>
              <a:rPr sz="2000" b="1" spc="-10" dirty="0">
                <a:latin typeface="Times New Roman"/>
                <a:cs typeface="Times New Roman"/>
              </a:rPr>
              <a:t>different.</a:t>
            </a:r>
            <a:endParaRPr sz="2000">
              <a:latin typeface="Times New Roman"/>
              <a:cs typeface="Times New Roman"/>
            </a:endParaRPr>
          </a:p>
          <a:p>
            <a:pPr marL="316865" marR="508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WBS’s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previous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templates,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but </a:t>
            </a:r>
            <a:r>
              <a:rPr sz="2000" b="1" dirty="0">
                <a:latin typeface="Times New Roman"/>
                <a:cs typeface="Times New Roman"/>
              </a:rPr>
              <a:t>remember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management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philosophy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level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details </a:t>
            </a:r>
            <a:r>
              <a:rPr sz="2000" b="1" dirty="0">
                <a:latin typeface="Times New Roman"/>
                <a:cs typeface="Times New Roman"/>
              </a:rPr>
              <a:t>may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project</a:t>
            </a:r>
            <a:endParaRPr sz="2000">
              <a:latin typeface="Times New Roman"/>
              <a:cs typeface="Times New Roman"/>
            </a:endParaRPr>
          </a:p>
          <a:p>
            <a:pPr marL="316865" marR="360045" lvl="1" indent="-304800">
              <a:lnSpc>
                <a:spcPct val="100000"/>
              </a:lnSpc>
              <a:buChar char="–"/>
              <a:tabLst>
                <a:tab pos="316865" algn="l"/>
              </a:tabLst>
            </a:pPr>
            <a:r>
              <a:rPr sz="2000" b="1" dirty="0">
                <a:latin typeface="Times New Roman"/>
                <a:cs typeface="Times New Roman"/>
              </a:rPr>
              <a:t>Understand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your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controlling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reporting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requirements. </a:t>
            </a:r>
            <a:r>
              <a:rPr sz="2000" b="1" dirty="0">
                <a:latin typeface="Times New Roman"/>
                <a:cs typeface="Times New Roman"/>
              </a:rPr>
              <a:t>Projects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requirements;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make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you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take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these </a:t>
            </a:r>
            <a:r>
              <a:rPr sz="2000" b="1" dirty="0">
                <a:latin typeface="Times New Roman"/>
                <a:cs typeface="Times New Roman"/>
              </a:rPr>
              <a:t>into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consideration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developing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low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level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details</a:t>
            </a:r>
            <a:endParaRPr sz="2000">
              <a:latin typeface="Times New Roman"/>
              <a:cs typeface="Times New Roman"/>
            </a:endParaRPr>
          </a:p>
          <a:p>
            <a:pPr marL="316865" marR="725805" indent="-304800">
              <a:lnSpc>
                <a:spcPct val="80000"/>
              </a:lnSpc>
              <a:spcBef>
                <a:spcPts val="484"/>
              </a:spcBef>
              <a:tabLst>
                <a:tab pos="1231265" algn="l"/>
              </a:tabLst>
            </a:pPr>
            <a:r>
              <a:rPr sz="2000" b="1" dirty="0">
                <a:latin typeface="Times New Roman"/>
                <a:cs typeface="Times New Roman"/>
              </a:rPr>
              <a:t>4.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Review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refine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WBS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until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client(s)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agree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level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r>
              <a:rPr sz="2000" b="1" dirty="0">
                <a:latin typeface="Times New Roman"/>
                <a:cs typeface="Times New Roman"/>
              </a:rPr>
              <a:t>	project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planning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reporting.</a:t>
            </a:r>
            <a:endParaRPr sz="2000">
              <a:latin typeface="Times New Roman"/>
              <a:cs typeface="Times New Roman"/>
            </a:endParaRPr>
          </a:p>
          <a:p>
            <a:pPr marL="316865" marR="788670" indent="-304800">
              <a:lnSpc>
                <a:spcPct val="80000"/>
              </a:lnSpc>
              <a:spcBef>
                <a:spcPts val="480"/>
              </a:spcBef>
              <a:tabLst>
                <a:tab pos="316865" algn="l"/>
              </a:tabLst>
            </a:pPr>
            <a:r>
              <a:rPr sz="2000" b="1" spc="-50" dirty="0">
                <a:latin typeface="Times New Roman"/>
                <a:cs typeface="Times New Roman"/>
              </a:rPr>
              <a:t>–</a:t>
            </a:r>
            <a:r>
              <a:rPr sz="2000" b="1" dirty="0">
                <a:latin typeface="Times New Roman"/>
                <a:cs typeface="Times New Roman"/>
              </a:rPr>
              <a:t>	Remember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matter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how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detailed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 WBS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are </a:t>
            </a:r>
            <a:r>
              <a:rPr sz="2000" b="1" dirty="0">
                <a:latin typeface="Times New Roman"/>
                <a:cs typeface="Times New Roman"/>
              </a:rPr>
              <a:t>chances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change</a:t>
            </a:r>
            <a:r>
              <a:rPr sz="2000" b="1" spc="-10" dirty="0">
                <a:latin typeface="Times New Roman"/>
                <a:cs typeface="Times New Roman"/>
              </a:rPr>
              <a:t> expected.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7727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1.8</a:t>
            </a:r>
            <a:r>
              <a:rPr dirty="0"/>
              <a:t>	WBS</a:t>
            </a:r>
            <a:r>
              <a:rPr spc="-60" dirty="0"/>
              <a:t> </a:t>
            </a:r>
            <a:r>
              <a:rPr dirty="0"/>
              <a:t>vs.</a:t>
            </a:r>
            <a:r>
              <a:rPr spc="-40" dirty="0"/>
              <a:t> </a:t>
            </a:r>
            <a:r>
              <a:rPr spc="-10" dirty="0"/>
              <a:t>Organizational</a:t>
            </a:r>
            <a:r>
              <a:rPr spc="-55" dirty="0"/>
              <a:t> </a:t>
            </a:r>
            <a:r>
              <a:rPr spc="-10" dirty="0"/>
              <a:t>Chart.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760831"/>
            <a:ext cx="8150859" cy="38303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dirty="0">
                <a:latin typeface="Times New Roman"/>
                <a:cs typeface="Times New Roman"/>
              </a:rPr>
              <a:t>These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two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items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should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not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be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mixed</a:t>
            </a:r>
            <a:r>
              <a:rPr sz="3200" b="1" spc="-25" dirty="0">
                <a:latin typeface="Times New Roman"/>
                <a:cs typeface="Times New Roman"/>
              </a:rPr>
              <a:t> up.</a:t>
            </a:r>
            <a:endParaRPr sz="3200">
              <a:latin typeface="Times New Roman"/>
              <a:cs typeface="Times New Roman"/>
            </a:endParaRPr>
          </a:p>
          <a:p>
            <a:pPr marL="622300" marR="6985" algn="just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latin typeface="Times New Roman"/>
                <a:cs typeface="Times New Roman"/>
              </a:rPr>
              <a:t>WBS</a:t>
            </a:r>
            <a:r>
              <a:rPr sz="3200" b="1" spc="30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defines</a:t>
            </a:r>
            <a:r>
              <a:rPr sz="3200" b="1" spc="30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30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project</a:t>
            </a:r>
            <a:r>
              <a:rPr sz="3200" b="1" spc="30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30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groups</a:t>
            </a:r>
            <a:r>
              <a:rPr sz="3200" b="1" spc="305" dirty="0">
                <a:latin typeface="Times New Roman"/>
                <a:cs typeface="Times New Roman"/>
              </a:rPr>
              <a:t>  </a:t>
            </a:r>
            <a:r>
              <a:rPr sz="3200" b="1" spc="-25" dirty="0">
                <a:latin typeface="Times New Roman"/>
                <a:cs typeface="Times New Roman"/>
              </a:rPr>
              <a:t>its </a:t>
            </a:r>
            <a:r>
              <a:rPr sz="3200" b="1" dirty="0">
                <a:latin typeface="Times New Roman"/>
                <a:cs typeface="Times New Roman"/>
              </a:rPr>
              <a:t>elements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for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better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managing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project.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Times New Roman"/>
              <a:cs typeface="Times New Roman"/>
            </a:endParaRPr>
          </a:p>
          <a:p>
            <a:pPr marL="622300" marR="5080" algn="just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Times New Roman"/>
                <a:cs typeface="Times New Roman"/>
              </a:rPr>
              <a:t>Organizational</a:t>
            </a:r>
            <a:r>
              <a:rPr sz="3200" b="1" spc="780" dirty="0">
                <a:latin typeface="Times New Roman"/>
                <a:cs typeface="Times New Roman"/>
              </a:rPr>
              <a:t>   </a:t>
            </a:r>
            <a:r>
              <a:rPr sz="3200" b="1" dirty="0">
                <a:latin typeface="Times New Roman"/>
                <a:cs typeface="Times New Roman"/>
              </a:rPr>
              <a:t>chart</a:t>
            </a:r>
            <a:r>
              <a:rPr sz="3200" b="1" spc="780" dirty="0">
                <a:latin typeface="Times New Roman"/>
                <a:cs typeface="Times New Roman"/>
              </a:rPr>
              <a:t>   </a:t>
            </a:r>
            <a:r>
              <a:rPr sz="3200" b="1" dirty="0">
                <a:latin typeface="Times New Roman"/>
                <a:cs typeface="Times New Roman"/>
              </a:rPr>
              <a:t>describes</a:t>
            </a:r>
            <a:r>
              <a:rPr sz="3200" b="1" spc="785" dirty="0">
                <a:latin typeface="Times New Roman"/>
                <a:cs typeface="Times New Roman"/>
              </a:rPr>
              <a:t>   </a:t>
            </a:r>
            <a:r>
              <a:rPr sz="3200" b="1" spc="-25" dirty="0">
                <a:latin typeface="Times New Roman"/>
                <a:cs typeface="Times New Roman"/>
              </a:rPr>
              <a:t>the </a:t>
            </a:r>
            <a:r>
              <a:rPr sz="3200" b="1" dirty="0">
                <a:latin typeface="Times New Roman"/>
                <a:cs typeface="Times New Roman"/>
              </a:rPr>
              <a:t>organization</a:t>
            </a:r>
            <a:r>
              <a:rPr sz="3200" b="1" spc="590" dirty="0">
                <a:latin typeface="Times New Roman"/>
                <a:cs typeface="Times New Roman"/>
              </a:rPr>
              <a:t>   </a:t>
            </a:r>
            <a:r>
              <a:rPr sz="3200" b="1" dirty="0">
                <a:latin typeface="Times New Roman"/>
                <a:cs typeface="Times New Roman"/>
              </a:rPr>
              <a:t>or</a:t>
            </a:r>
            <a:r>
              <a:rPr sz="3200" b="1" spc="600" dirty="0">
                <a:latin typeface="Times New Roman"/>
                <a:cs typeface="Times New Roman"/>
              </a:rPr>
              <a:t>   </a:t>
            </a:r>
            <a:r>
              <a:rPr sz="3200" b="1" dirty="0">
                <a:latin typeface="Times New Roman"/>
                <a:cs typeface="Times New Roman"/>
              </a:rPr>
              <a:t>project</a:t>
            </a:r>
            <a:r>
              <a:rPr sz="3200" b="1" spc="600" dirty="0">
                <a:latin typeface="Times New Roman"/>
                <a:cs typeface="Times New Roman"/>
              </a:rPr>
              <a:t>   </a:t>
            </a:r>
            <a:r>
              <a:rPr sz="3200" b="1" dirty="0">
                <a:latin typeface="Times New Roman"/>
                <a:cs typeface="Times New Roman"/>
              </a:rPr>
              <a:t>team</a:t>
            </a:r>
            <a:r>
              <a:rPr sz="3200" b="1" spc="600" dirty="0">
                <a:latin typeface="Times New Roman"/>
                <a:cs typeface="Times New Roman"/>
              </a:rPr>
              <a:t>   </a:t>
            </a:r>
            <a:r>
              <a:rPr sz="3200" b="1" spc="-20" dirty="0">
                <a:latin typeface="Times New Roman"/>
                <a:cs typeface="Times New Roman"/>
              </a:rPr>
              <a:t>that </a:t>
            </a:r>
            <a:r>
              <a:rPr sz="3200" b="1" dirty="0">
                <a:latin typeface="Times New Roman"/>
                <a:cs typeface="Times New Roman"/>
              </a:rPr>
              <a:t>accomplishes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project.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dirty="0"/>
              <a:t>1.</a:t>
            </a:r>
            <a:r>
              <a:rPr spc="-55" dirty="0"/>
              <a:t> </a:t>
            </a:r>
            <a:r>
              <a:rPr spc="-20" dirty="0"/>
              <a:t>WBS.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Project</a:t>
            </a:r>
            <a:r>
              <a:rPr sz="4400" spc="-40" dirty="0"/>
              <a:t> </a:t>
            </a:r>
            <a:r>
              <a:rPr sz="4400" spc="-10" dirty="0"/>
              <a:t>Scheduling.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75156" y="859281"/>
            <a:ext cx="7557770" cy="3098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65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process</a:t>
            </a:r>
            <a:r>
              <a:rPr sz="2800" b="1" spc="66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66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determining</a:t>
            </a:r>
            <a:r>
              <a:rPr sz="2800" b="1" spc="66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when</a:t>
            </a:r>
            <a:r>
              <a:rPr sz="2800" b="1" spc="660" dirty="0">
                <a:latin typeface="Times New Roman"/>
                <a:cs typeface="Times New Roman"/>
              </a:rPr>
              <a:t>  </a:t>
            </a:r>
            <a:r>
              <a:rPr sz="2800" b="1" spc="-10" dirty="0">
                <a:latin typeface="Times New Roman"/>
                <a:cs typeface="Times New Roman"/>
              </a:rPr>
              <a:t>project </a:t>
            </a:r>
            <a:r>
              <a:rPr sz="2800" b="1" dirty="0">
                <a:latin typeface="Times New Roman"/>
                <a:cs typeface="Times New Roman"/>
              </a:rPr>
              <a:t>activities  will</a:t>
            </a:r>
            <a:r>
              <a:rPr sz="2800" b="1" spc="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take</a:t>
            </a:r>
            <a:r>
              <a:rPr sz="2800" b="1" spc="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place</a:t>
            </a:r>
            <a:r>
              <a:rPr sz="2800" b="1" spc="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depending</a:t>
            </a:r>
            <a:r>
              <a:rPr sz="2800" b="1" spc="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on</a:t>
            </a:r>
            <a:r>
              <a:rPr sz="2800" b="1" spc="10" dirty="0">
                <a:latin typeface="Times New Roman"/>
                <a:cs typeface="Times New Roman"/>
              </a:rPr>
              <a:t>  </a:t>
            </a:r>
            <a:r>
              <a:rPr sz="2800" b="1" spc="-10" dirty="0">
                <a:latin typeface="Times New Roman"/>
                <a:cs typeface="Times New Roman"/>
              </a:rPr>
              <a:t>defined </a:t>
            </a:r>
            <a:r>
              <a:rPr sz="2800" b="1" dirty="0">
                <a:latin typeface="Times New Roman"/>
                <a:cs typeface="Times New Roman"/>
              </a:rPr>
              <a:t>durations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precedent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activities.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675"/>
              </a:spcBef>
            </a:pPr>
            <a:r>
              <a:rPr sz="2800" b="1" dirty="0">
                <a:latin typeface="Times New Roman"/>
                <a:cs typeface="Times New Roman"/>
              </a:rPr>
              <a:t>Schedule</a:t>
            </a:r>
            <a:r>
              <a:rPr sz="2800" b="1" spc="15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constraints</a:t>
            </a:r>
            <a:r>
              <a:rPr sz="2800" b="1" spc="160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specify</a:t>
            </a:r>
            <a:r>
              <a:rPr sz="2800" b="1" spc="16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when</a:t>
            </a:r>
            <a:r>
              <a:rPr sz="2800" b="1" spc="155" dirty="0">
                <a:latin typeface="Times New Roman"/>
                <a:cs typeface="Times New Roman"/>
              </a:rPr>
              <a:t>  </a:t>
            </a:r>
            <a:r>
              <a:rPr sz="2800" b="1" dirty="0">
                <a:latin typeface="Times New Roman"/>
                <a:cs typeface="Times New Roman"/>
              </a:rPr>
              <a:t>an</a:t>
            </a:r>
            <a:r>
              <a:rPr sz="2800" b="1" spc="150" dirty="0">
                <a:latin typeface="Times New Roman"/>
                <a:cs typeface="Times New Roman"/>
              </a:rPr>
              <a:t>  </a:t>
            </a:r>
            <a:r>
              <a:rPr sz="2800" b="1" spc="-10" dirty="0">
                <a:latin typeface="Times New Roman"/>
                <a:cs typeface="Times New Roman"/>
              </a:rPr>
              <a:t>activity </a:t>
            </a:r>
            <a:r>
              <a:rPr sz="2800" b="1" dirty="0">
                <a:latin typeface="Times New Roman"/>
                <a:cs typeface="Times New Roman"/>
              </a:rPr>
              <a:t>should</a:t>
            </a:r>
            <a:r>
              <a:rPr sz="2800" b="1" spc="275" dirty="0">
                <a:latin typeface="Times New Roman"/>
                <a:cs typeface="Times New Roman"/>
              </a:rPr>
              <a:t>   </a:t>
            </a:r>
            <a:r>
              <a:rPr sz="2800" b="1" dirty="0">
                <a:latin typeface="Times New Roman"/>
                <a:cs typeface="Times New Roman"/>
              </a:rPr>
              <a:t>start</a:t>
            </a:r>
            <a:r>
              <a:rPr sz="2800" b="1" spc="275" dirty="0">
                <a:latin typeface="Times New Roman"/>
                <a:cs typeface="Times New Roman"/>
              </a:rPr>
              <a:t>   </a:t>
            </a:r>
            <a:r>
              <a:rPr sz="2800" b="1" dirty="0">
                <a:latin typeface="Times New Roman"/>
                <a:cs typeface="Times New Roman"/>
              </a:rPr>
              <a:t>or</a:t>
            </a:r>
            <a:r>
              <a:rPr sz="2800" b="1" spc="270" dirty="0">
                <a:latin typeface="Times New Roman"/>
                <a:cs typeface="Times New Roman"/>
              </a:rPr>
              <a:t>   </a:t>
            </a:r>
            <a:r>
              <a:rPr sz="2800" b="1" dirty="0">
                <a:latin typeface="Times New Roman"/>
                <a:cs typeface="Times New Roman"/>
              </a:rPr>
              <a:t>end</a:t>
            </a:r>
            <a:r>
              <a:rPr sz="2800" b="1" spc="280" dirty="0">
                <a:latin typeface="Times New Roman"/>
                <a:cs typeface="Times New Roman"/>
              </a:rPr>
              <a:t>   </a:t>
            </a:r>
            <a:r>
              <a:rPr sz="2800" b="1" dirty="0">
                <a:latin typeface="Times New Roman"/>
                <a:cs typeface="Times New Roman"/>
              </a:rPr>
              <a:t>based</a:t>
            </a:r>
            <a:r>
              <a:rPr sz="2800" b="1" spc="275" dirty="0">
                <a:latin typeface="Times New Roman"/>
                <a:cs typeface="Times New Roman"/>
              </a:rPr>
              <a:t>   </a:t>
            </a:r>
            <a:r>
              <a:rPr sz="2800" b="1" dirty="0">
                <a:latin typeface="Times New Roman"/>
                <a:cs typeface="Times New Roman"/>
              </a:rPr>
              <a:t>on</a:t>
            </a:r>
            <a:r>
              <a:rPr sz="2800" b="1" spc="275" dirty="0">
                <a:latin typeface="Times New Roman"/>
                <a:cs typeface="Times New Roman"/>
              </a:rPr>
              <a:t>   </a:t>
            </a:r>
            <a:r>
              <a:rPr sz="2800" b="1" spc="-10" dirty="0">
                <a:latin typeface="Times New Roman"/>
                <a:cs typeface="Times New Roman"/>
              </a:rPr>
              <a:t>duration, </a:t>
            </a:r>
            <a:r>
              <a:rPr sz="2800" b="1" dirty="0">
                <a:latin typeface="Times New Roman"/>
                <a:cs typeface="Times New Roman"/>
              </a:rPr>
              <a:t>predecessors,</a:t>
            </a:r>
            <a:r>
              <a:rPr sz="2800" b="1" spc="3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external</a:t>
            </a:r>
            <a:r>
              <a:rPr sz="2800" b="1" spc="3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predecessor</a:t>
            </a:r>
            <a:r>
              <a:rPr sz="2800" b="1" spc="3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relationships, </a:t>
            </a:r>
            <a:r>
              <a:rPr sz="2800" b="1" dirty="0">
                <a:latin typeface="Times New Roman"/>
                <a:cs typeface="Times New Roman"/>
              </a:rPr>
              <a:t>resource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availability,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target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dates.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Project</a:t>
            </a:r>
            <a:r>
              <a:rPr spc="-135" dirty="0"/>
              <a:t> </a:t>
            </a:r>
            <a:r>
              <a:rPr dirty="0"/>
              <a:t>Scheduling</a:t>
            </a:r>
            <a:r>
              <a:rPr spc="-120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spc="-10" dirty="0"/>
              <a:t>Control.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74533"/>
            <a:ext cx="7638415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Two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major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tools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are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used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for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purpose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of </a:t>
            </a:r>
            <a:r>
              <a:rPr sz="3200" b="1" dirty="0">
                <a:latin typeface="Times New Roman"/>
                <a:cs typeface="Times New Roman"/>
              </a:rPr>
              <a:t>project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scheduling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control: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5156" y="2676920"/>
            <a:ext cx="4330065" cy="2392045"/>
          </a:xfrm>
          <a:prstGeom prst="rect">
            <a:avLst/>
          </a:prstGeom>
        </p:spPr>
        <p:txBody>
          <a:bodyPr vert="horz" wrap="square" lIns="0" tIns="278765" rIns="0" bIns="0" rtlCol="0">
            <a:spAutoFit/>
          </a:bodyPr>
          <a:lstStyle/>
          <a:p>
            <a:pPr marL="1097280" indent="-1084580">
              <a:lnSpc>
                <a:spcPct val="100000"/>
              </a:lnSpc>
              <a:spcBef>
                <a:spcPts val="2195"/>
              </a:spcBef>
              <a:buAutoNum type="arabicPeriod"/>
              <a:tabLst>
                <a:tab pos="1097280" algn="l"/>
              </a:tabLst>
            </a:pPr>
            <a:r>
              <a:rPr sz="3200" b="1" dirty="0">
                <a:latin typeface="Times New Roman"/>
                <a:cs typeface="Times New Roman"/>
              </a:rPr>
              <a:t>PERT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&amp;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CPM.</a:t>
            </a:r>
            <a:endParaRPr sz="3200">
              <a:latin typeface="Times New Roman"/>
              <a:cs typeface="Times New Roman"/>
            </a:endParaRPr>
          </a:p>
          <a:p>
            <a:pPr marL="1097280">
              <a:lnSpc>
                <a:spcPct val="100000"/>
              </a:lnSpc>
              <a:spcBef>
                <a:spcPts val="1570"/>
              </a:spcBef>
            </a:pPr>
            <a:r>
              <a:rPr sz="2400" b="1" dirty="0">
                <a:latin typeface="Times New Roman"/>
                <a:cs typeface="Times New Roman"/>
              </a:rPr>
              <a:t>Using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Network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Analysis.</a:t>
            </a:r>
            <a:endParaRPr sz="2400">
              <a:latin typeface="Times New Roman"/>
              <a:cs typeface="Times New Roman"/>
            </a:endParaRPr>
          </a:p>
          <a:p>
            <a:pPr marL="1097280" indent="-1084580">
              <a:lnSpc>
                <a:spcPct val="100000"/>
              </a:lnSpc>
              <a:spcBef>
                <a:spcPts val="930"/>
              </a:spcBef>
              <a:buAutoNum type="arabicPeriod" startAt="2"/>
              <a:tabLst>
                <a:tab pos="1097280" algn="l"/>
              </a:tabLst>
            </a:pPr>
            <a:r>
              <a:rPr sz="3200" b="1" dirty="0">
                <a:latin typeface="Times New Roman"/>
                <a:cs typeface="Times New Roman"/>
              </a:rPr>
              <a:t>Gantt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Charts.</a:t>
            </a:r>
            <a:endParaRPr sz="3200">
              <a:latin typeface="Times New Roman"/>
              <a:cs typeface="Times New Roman"/>
            </a:endParaRPr>
          </a:p>
          <a:p>
            <a:pPr marL="1097280">
              <a:lnSpc>
                <a:spcPct val="100000"/>
              </a:lnSpc>
              <a:spcBef>
                <a:spcPts val="595"/>
              </a:spcBef>
            </a:pPr>
            <a:r>
              <a:rPr sz="2400" b="1" dirty="0">
                <a:latin typeface="Times New Roman"/>
                <a:cs typeface="Times New Roman"/>
              </a:rPr>
              <a:t>Using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Bar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chart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method.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331"/>
            <a:ext cx="83445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2.</a:t>
            </a:r>
            <a:r>
              <a:rPr dirty="0"/>
              <a:t>	Project</a:t>
            </a:r>
            <a:r>
              <a:rPr spc="-95" dirty="0"/>
              <a:t> </a:t>
            </a:r>
            <a:r>
              <a:rPr dirty="0"/>
              <a:t>Networks:</a:t>
            </a:r>
            <a:r>
              <a:rPr spc="-75" dirty="0"/>
              <a:t> </a:t>
            </a:r>
            <a:r>
              <a:rPr dirty="0"/>
              <a:t>PERT</a:t>
            </a:r>
            <a:r>
              <a:rPr spc="-95" dirty="0"/>
              <a:t> </a:t>
            </a:r>
            <a:r>
              <a:rPr dirty="0"/>
              <a:t>&amp;</a:t>
            </a:r>
            <a:r>
              <a:rPr spc="-75" dirty="0"/>
              <a:t> </a:t>
            </a:r>
            <a:r>
              <a:rPr spc="-20" dirty="0"/>
              <a:t>CPM.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787653"/>
            <a:ext cx="8302625" cy="4972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133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Projects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their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activities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represented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 </a:t>
            </a:r>
            <a:r>
              <a:rPr sz="2400" b="1" dirty="0">
                <a:latin typeface="Times New Roman"/>
                <a:cs typeface="Times New Roman"/>
              </a:rPr>
              <a:t>using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network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analysis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techniques.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Two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techniques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mostly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used.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PERT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Program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Evaluation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Review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Technique.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First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came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known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1958.</a:t>
            </a: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25"/>
              </a:spcBef>
            </a:pPr>
            <a:r>
              <a:rPr sz="1800" b="1" dirty="0">
                <a:latin typeface="Times New Roman"/>
                <a:cs typeface="Times New Roman"/>
              </a:rPr>
              <a:t>Was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developed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evaluate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Navy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(Polaris)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submarine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projects.</a:t>
            </a:r>
            <a:endParaRPr sz="1800">
              <a:latin typeface="Times New Roman"/>
              <a:cs typeface="Times New Roman"/>
            </a:endParaRPr>
          </a:p>
          <a:p>
            <a:pPr marL="299085" marR="5080">
              <a:lnSpc>
                <a:spcPct val="80000"/>
              </a:lnSpc>
              <a:spcBef>
                <a:spcPts val="434"/>
              </a:spcBef>
            </a:pPr>
            <a:r>
              <a:rPr sz="1800" b="1" dirty="0">
                <a:latin typeface="Times New Roman"/>
                <a:cs typeface="Times New Roman"/>
              </a:rPr>
              <a:t>This</a:t>
            </a:r>
            <a:r>
              <a:rPr sz="1800" b="1" spc="2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2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was</a:t>
            </a:r>
            <a:r>
              <a:rPr sz="1800" b="1" spc="2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lagging</a:t>
            </a:r>
            <a:r>
              <a:rPr sz="1800" b="1" spc="3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behind</a:t>
            </a:r>
            <a:r>
              <a:rPr sz="1800" b="1" spc="2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schedules</a:t>
            </a:r>
            <a:r>
              <a:rPr sz="1800" b="1" spc="3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due</a:t>
            </a:r>
            <a:r>
              <a:rPr sz="1800" b="1" spc="2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2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complexities</a:t>
            </a:r>
            <a:r>
              <a:rPr sz="1800" b="1" spc="3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2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30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activities involved.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b="1" dirty="0">
                <a:latin typeface="Times New Roman"/>
                <a:cs typeface="Times New Roman"/>
              </a:rPr>
              <a:t>PERT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charts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network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models.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CPM –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Critical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Path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Method.</a:t>
            </a:r>
            <a:endParaRPr sz="2000">
              <a:latin typeface="Times New Roman"/>
              <a:cs typeface="Times New Roman"/>
            </a:endParaRPr>
          </a:p>
          <a:p>
            <a:pPr marL="12700" marR="3003550">
              <a:lnSpc>
                <a:spcPct val="100000"/>
              </a:lnSpc>
              <a:spcBef>
                <a:spcPts val="10"/>
              </a:spcBef>
            </a:pPr>
            <a:r>
              <a:rPr sz="1800" b="1" dirty="0">
                <a:latin typeface="Times New Roman"/>
                <a:cs typeface="Times New Roman"/>
              </a:rPr>
              <a:t>Used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find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out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critical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activities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10" dirty="0">
                <a:latin typeface="Times New Roman"/>
                <a:cs typeface="Times New Roman"/>
              </a:rPr>
              <a:t> project. </a:t>
            </a:r>
            <a:r>
              <a:rPr sz="1800" b="1" dirty="0">
                <a:latin typeface="Times New Roman"/>
                <a:cs typeface="Times New Roman"/>
              </a:rPr>
              <a:t>Introduced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1957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by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DuPont.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Independent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PERT.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55"/>
              </a:lnSpc>
            </a:pPr>
            <a:r>
              <a:rPr sz="1800" b="1" dirty="0">
                <a:latin typeface="Times New Roman"/>
                <a:cs typeface="Times New Roman"/>
              </a:rPr>
              <a:t>Later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both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PERT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CPM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were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merged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into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each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other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one</a:t>
            </a:r>
            <a:r>
              <a:rPr sz="1800" b="1" spc="-10" dirty="0">
                <a:latin typeface="Times New Roman"/>
                <a:cs typeface="Times New Roman"/>
              </a:rPr>
              <a:t> technique.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</a:pPr>
            <a:r>
              <a:rPr sz="2000" b="1" dirty="0">
                <a:latin typeface="Times New Roman"/>
                <a:cs typeface="Times New Roman"/>
              </a:rPr>
              <a:t>Load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following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file.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u="sng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Times New Roman"/>
                <a:cs typeface="Times New Roman"/>
                <a:hlinkClick r:id="rId2"/>
              </a:rPr>
              <a:t>SPM4a_CPM_AND_PERT.ppt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476999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0999"/>
                </a:lnTo>
                <a:lnTo>
                  <a:pt x="9144000" y="380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6494170"/>
            <a:ext cx="9944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2.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40" dirty="0">
                <a:latin typeface="Times New Roman"/>
                <a:cs typeface="Times New Roman"/>
              </a:rPr>
              <a:t>PERT.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700" y="3258311"/>
            <a:ext cx="38100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2209800"/>
            <a:ext cx="4800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CC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1299</Words>
  <Application>Microsoft Office PowerPoint</Application>
  <PresentationFormat>On-screen Show (4:3)</PresentationFormat>
  <Paragraphs>140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Times New Roman</vt:lpstr>
      <vt:lpstr>Office Theme</vt:lpstr>
      <vt:lpstr>S.P.M WORK BREAKDOWN STRUCTURE.</vt:lpstr>
      <vt:lpstr>CONTENTS…..</vt:lpstr>
      <vt:lpstr>Work VS Effort</vt:lpstr>
      <vt:lpstr>1. WBS: Work Breakdown Structure.</vt:lpstr>
      <vt:lpstr>1.1 WBS History.</vt:lpstr>
      <vt:lpstr>WBS - Keywords.</vt:lpstr>
      <vt:lpstr>1.2 WBS: What, when and why.</vt:lpstr>
      <vt:lpstr>1.3 WBS: How does it help the PM?</vt:lpstr>
      <vt:lpstr>1.4 WBS Types/styles.</vt:lpstr>
      <vt:lpstr>1.5 WBS Contents.</vt:lpstr>
      <vt:lpstr>1.5 WBS Contents.</vt:lpstr>
      <vt:lpstr>1.6 WBS: Work packages.</vt:lpstr>
      <vt:lpstr>GENERAL FORM OF WBS</vt:lpstr>
      <vt:lpstr>Example #1 – SIMPLE WBS.</vt:lpstr>
      <vt:lpstr>Example #2. – NETWORKING PROJECT WBS</vt:lpstr>
      <vt:lpstr>WBS Example #3.</vt:lpstr>
      <vt:lpstr>WBS Example #4.</vt:lpstr>
      <vt:lpstr>TODAY’s ACTIVITY.</vt:lpstr>
      <vt:lpstr>1.7 WBS – How To Prepare.</vt:lpstr>
      <vt:lpstr>1.7 WBS – How To Prepare? (cont’d).</vt:lpstr>
      <vt:lpstr>1.8 WBS vs. Organizational Chart.</vt:lpstr>
      <vt:lpstr>Project Scheduling.</vt:lpstr>
      <vt:lpstr>Project Scheduling And Control.</vt:lpstr>
      <vt:lpstr>2. Project Networks: PERT &amp; CPM.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SPM_LECTURE1</dc:title>
  <dc:subject>SOFTWARE PROJECT MANAGMENT</dc:subject>
  <dc:creator>MASROOR@USA</dc:creator>
  <cp:lastModifiedBy>Muhammad Kashif</cp:lastModifiedBy>
  <cp:revision>1</cp:revision>
  <dcterms:created xsi:type="dcterms:W3CDTF">2024-04-19T09:47:22Z</dcterms:created>
  <dcterms:modified xsi:type="dcterms:W3CDTF">2024-04-19T09:50:15Z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2017-12-28T00:00:00Z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2024-04-19T00:00:00Z</vt:filetime>
  </property>
  <property fmtid="{D5CDD505-2E9C-101B-9397-08002B2CF9AE}" pid="5" name="Producer">
    <vt:lpwstr>Microsoft® PowerPoint® 2013</vt:lpwstr>
  </property>
</Properties>
</file>