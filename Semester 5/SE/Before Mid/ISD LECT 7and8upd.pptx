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</p:sldMasterIdLst>
  <p:notesMasterIdLst>
    <p:notesMasterId r:id="rId35"/>
  </p:notesMasterIdLst>
  <p:sldIdLst>
    <p:sldId id="31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5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E05C8-19FA-46BF-AA86-0E6F940F6698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21D77-1954-4CF4-B53D-ECAFABAC23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27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64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51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48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6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0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8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79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37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4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98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9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74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85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2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37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26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08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51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05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305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15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12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1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32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964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829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4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68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47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01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62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76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45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82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7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17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53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27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87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5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94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43343F5B-246D-4F37-9175-C152DFACA66B}" type="datetimeFigureOut">
              <a:rPr lang="en-GB" smtClean="0"/>
              <a:t>19/04/2024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3B8F8A4-A9E9-4D9F-8AA4-57B6F1DE96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94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Introduction to Software Engineering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211" y="3905711"/>
            <a:ext cx="9144000" cy="1619326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1"/>
                </a:solidFill>
              </a:rPr>
              <a:t>Muhammad Kashif</a:t>
            </a:r>
            <a:endParaRPr lang="en-GB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CSSE3113</a:t>
            </a:r>
          </a:p>
        </p:txBody>
      </p:sp>
    </p:spTree>
    <p:extLst>
      <p:ext uri="{BB962C8B-B14F-4D97-AF65-F5344CB8AC3E}">
        <p14:creationId xmlns:p14="http://schemas.microsoft.com/office/powerpoint/2010/main" val="317786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The Requirements Process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</a:t>
            </a:r>
            <a:r>
              <a:rPr lang="en-GB" b="1" i="1" dirty="0"/>
              <a:t>requirement</a:t>
            </a:r>
            <a:r>
              <a:rPr lang="en-GB" dirty="0"/>
              <a:t> is an expression of desired behaviour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Requirements focus on the customer needs, not on the solution or implementation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designate </a:t>
            </a:r>
            <a:r>
              <a:rPr lang="en-GB" i="1" dirty="0"/>
              <a:t>what</a:t>
            </a:r>
            <a:r>
              <a:rPr lang="en-GB" dirty="0"/>
              <a:t> behaviour, without saying </a:t>
            </a:r>
            <a:r>
              <a:rPr lang="en-GB" i="1" dirty="0"/>
              <a:t>how</a:t>
            </a:r>
            <a:r>
              <a:rPr lang="en-GB" dirty="0"/>
              <a:t> that behaviour will be realized</a:t>
            </a:r>
          </a:p>
        </p:txBody>
      </p:sp>
    </p:spTree>
    <p:extLst>
      <p:ext uri="{BB962C8B-B14F-4D97-AF65-F5344CB8AC3E}">
        <p14:creationId xmlns:p14="http://schemas.microsoft.com/office/powerpoint/2010/main" val="313991491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The Requirements Process</a:t>
            </a:r>
            <a:br>
              <a:rPr lang="en-GB" dirty="0"/>
            </a:br>
            <a:r>
              <a:rPr lang="en-GB" sz="2800" dirty="0"/>
              <a:t>Sidebar: Why Are Requirements Important?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Top factors that caused project to fail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Incomplete requirements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Lack of user involvement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Unrealistic expectations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Lack of executive support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Changing requirements and specifications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Lack of planning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System no longer needed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Some part of the requirements process is involved in all of the causes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Requirements error can be expensive if not detected early</a:t>
            </a:r>
          </a:p>
        </p:txBody>
      </p:sp>
    </p:spTree>
    <p:extLst>
      <p:ext uri="{BB962C8B-B14F-4D97-AF65-F5344CB8AC3E}">
        <p14:creationId xmlns:p14="http://schemas.microsoft.com/office/powerpoint/2010/main" val="232723520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The Requirements Process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Performed by the req. analyst or system analyst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The final outcome is a Software Requirements Specification (SRS) document</a:t>
            </a:r>
          </a:p>
        </p:txBody>
      </p:sp>
      <p:pic>
        <p:nvPicPr>
          <p:cNvPr id="8196" name="Picture 2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1" y="2876550"/>
            <a:ext cx="6005513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581400" y="6336268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Process for Capturing 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713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 Requirements Elicitation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Customers do not always understand what their needs and problems are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It is important to discuss the requirements with everyone who has a stake in the system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Come up with agreement on what the requirements are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If we cannot agree on what the requirements are, then the project is doomed to fail</a:t>
            </a:r>
          </a:p>
        </p:txBody>
      </p:sp>
    </p:spTree>
    <p:extLst>
      <p:ext uri="{BB962C8B-B14F-4D97-AF65-F5344CB8AC3E}">
        <p14:creationId xmlns:p14="http://schemas.microsoft.com/office/powerpoint/2010/main" val="17032668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 Requirements Elicitation</a:t>
            </a:r>
            <a:endParaRPr lang="en-GB" sz="2800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Different Stakeholders are: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Clients</a:t>
            </a:r>
            <a:r>
              <a:rPr lang="en-GB" sz="2200" dirty="0"/>
              <a:t>: pay for the software to be developed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Customers</a:t>
            </a:r>
            <a:r>
              <a:rPr lang="en-GB" sz="2200" dirty="0"/>
              <a:t>: buy the software after it is developed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Users</a:t>
            </a:r>
            <a:r>
              <a:rPr lang="en-GB" sz="2200" dirty="0"/>
              <a:t>: use the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Domain experts</a:t>
            </a:r>
            <a:r>
              <a:rPr lang="en-GB" sz="2200" dirty="0"/>
              <a:t>: familiar with the problem that the software must automate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Market Researchers</a:t>
            </a:r>
            <a:r>
              <a:rPr lang="en-GB" sz="2200" dirty="0"/>
              <a:t>: conduct surveys to determine future trends and potential customers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Lawyers or auditors</a:t>
            </a:r>
            <a:r>
              <a:rPr lang="en-GB" sz="2200" dirty="0"/>
              <a:t>: familiar with government, safety, or legal requirements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b="1" dirty="0"/>
              <a:t>Software engineers</a:t>
            </a:r>
            <a:r>
              <a:rPr lang="en-GB" sz="2200" dirty="0"/>
              <a:t> or other technology experts</a:t>
            </a:r>
          </a:p>
        </p:txBody>
      </p:sp>
    </p:spTree>
    <p:extLst>
      <p:ext uri="{BB962C8B-B14F-4D97-AF65-F5344CB8AC3E}">
        <p14:creationId xmlns:p14="http://schemas.microsoft.com/office/powerpoint/2010/main" val="4533817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Requirements Elicitation</a:t>
            </a:r>
            <a:br>
              <a:rPr lang="en-GB" dirty="0"/>
            </a:br>
            <a:r>
              <a:rPr lang="en-GB" sz="2400" dirty="0"/>
              <a:t>Sidebar: Using Viewpoints to Manage Inconsistency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No need to resolve inconsistencies early in the requirements process (Easterbrook and </a:t>
            </a:r>
            <a:r>
              <a:rPr lang="en-GB" sz="2400" dirty="0" err="1"/>
              <a:t>Nuseibah</a:t>
            </a:r>
            <a:r>
              <a:rPr lang="en-GB" sz="2400" dirty="0"/>
              <a:t>, 1996)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Stakeholders' views documented and maintained as separate Viewpoints through the software development process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requirements analyst defines consistency rules that should apply between Viewpoints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Viewpoints are analyzed to see if they conform to the consistency requirements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Inconsistencies are highlighted but not addressed until there is sufficient  information to make informed decision</a:t>
            </a:r>
          </a:p>
        </p:txBody>
      </p:sp>
    </p:spTree>
    <p:extLst>
      <p:ext uri="{BB962C8B-B14F-4D97-AF65-F5344CB8AC3E}">
        <p14:creationId xmlns:p14="http://schemas.microsoft.com/office/powerpoint/2010/main" val="12967483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Requirements Elicitation</a:t>
            </a:r>
            <a:endParaRPr lang="en-GB" sz="28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Means to Elicit Requirements: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Interviewing stake holders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Reviewing available documentations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Observing the current system (if one exists)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Apprenticing with users to learn about user's task in more details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Interviewing user or stakeholders in groups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Using domain specific strategies, such as Joint Application Design, or PIECES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Brainstorming with current and potential users</a:t>
            </a:r>
          </a:p>
        </p:txBody>
      </p:sp>
    </p:spTree>
    <p:extLst>
      <p:ext uri="{BB962C8B-B14F-4D97-AF65-F5344CB8AC3E}">
        <p14:creationId xmlns:p14="http://schemas.microsoft.com/office/powerpoint/2010/main" val="15147262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Requirements Elicitation</a:t>
            </a:r>
            <a:endParaRPr lang="en-GB" sz="2800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/>
              <a:t>The </a:t>
            </a:r>
            <a:r>
              <a:rPr lang="en-GB" sz="2400" dirty="0" err="1"/>
              <a:t>Volere</a:t>
            </a:r>
            <a:r>
              <a:rPr lang="en-GB" sz="2400" dirty="0"/>
              <a:t> requirements process model suggests some additional sources for requirements</a:t>
            </a: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7162" y="2841626"/>
            <a:ext cx="5710238" cy="378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96079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Types of Requirements</a:t>
            </a:r>
            <a:endParaRPr lang="en-GB" sz="2800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Functional requirement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Describes: interaction between the system and its environment, how should the system behave given certain stimuli, required behaviour in terms of required activities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Example: For a system of printing pay cheques the functional requirements must answer the following: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When are pay cheques issued?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What input is necessary for a pay cheque to be printed?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Quality requirement</a:t>
            </a:r>
            <a:r>
              <a:rPr lang="en-GB" dirty="0"/>
              <a:t> or </a:t>
            </a:r>
            <a:r>
              <a:rPr lang="en-GB" b="1" dirty="0"/>
              <a:t>non-functional requirement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Describes: some quality characteristic that the software must posses, a restriction on the system that limits our choices for constructing a solution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Constraints could be:</a:t>
            </a:r>
          </a:p>
          <a:p>
            <a:pPr lvl="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Design constraint</a:t>
            </a:r>
            <a:r>
              <a:rPr lang="en-GB" dirty="0"/>
              <a:t>: a design decision such as choice of platform or interface components</a:t>
            </a:r>
          </a:p>
          <a:p>
            <a:pPr lvl="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Process constraint</a:t>
            </a:r>
            <a:r>
              <a:rPr lang="en-GB" dirty="0"/>
              <a:t>: a restriction on the techniques or resources that can be used to build the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Example: queries to the system must be answered within 3 seconds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sp>
        <p:nvSpPr>
          <p:cNvPr id="7" name="Flowchart: Document 6"/>
          <p:cNvSpPr/>
          <p:nvPr/>
        </p:nvSpPr>
        <p:spPr>
          <a:xfrm>
            <a:off x="4572000" y="3810000"/>
            <a:ext cx="5562600" cy="2514600"/>
          </a:xfrm>
          <a:prstGeom prst="flowChartDocumen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Both types of requirements are elicited from the customer in a formal, careful way.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9015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Types of Requirements</a:t>
            </a:r>
            <a:endParaRPr lang="en-GB" sz="2800" dirty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Two kinds of Requirement Documents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Requirements definition</a:t>
            </a:r>
            <a:r>
              <a:rPr lang="en-GB" dirty="0"/>
              <a:t>: a complete listing of everything the customer wants to achieve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Describing the entities in the environment where the system will be installed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Requirements specification</a:t>
            </a:r>
            <a:r>
              <a:rPr lang="en-GB" dirty="0"/>
              <a:t>: restates the requirements as a specification of how the proposed system shall behave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Primarily used by our technical team</a:t>
            </a:r>
          </a:p>
        </p:txBody>
      </p:sp>
    </p:spTree>
    <p:extLst>
      <p:ext uri="{BB962C8B-B14F-4D97-AF65-F5344CB8AC3E}">
        <p14:creationId xmlns:p14="http://schemas.microsoft.com/office/powerpoint/2010/main" val="237387134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Prioritizing Requirements</a:t>
            </a:r>
            <a:endParaRPr lang="en-GB" sz="2800" dirty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Different stakeholder has different set of requirements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potential conflicting ideas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Need to prioritize requirements to resolve conflicts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Prioritization might separate requirements into three categories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essential</a:t>
            </a:r>
            <a:r>
              <a:rPr lang="en-GB" dirty="0"/>
              <a:t>: absolutely must be met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desirable</a:t>
            </a:r>
            <a:r>
              <a:rPr lang="en-GB" dirty="0"/>
              <a:t>: highly desirable but not necessary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optional</a:t>
            </a:r>
            <a:r>
              <a:rPr lang="en-GB" dirty="0"/>
              <a:t>: possible but could be eliminated</a:t>
            </a:r>
          </a:p>
        </p:txBody>
      </p:sp>
    </p:spTree>
    <p:extLst>
      <p:ext uri="{BB962C8B-B14F-4D97-AF65-F5344CB8AC3E}">
        <p14:creationId xmlns:p14="http://schemas.microsoft.com/office/powerpoint/2010/main" val="304681252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689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Characteristics of Requirements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Correct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Consistent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Unambiguous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Complete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Feasible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Relevant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Testable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Traceable</a:t>
            </a:r>
          </a:p>
        </p:txBody>
      </p:sp>
    </p:spTree>
    <p:extLst>
      <p:ext uri="{BB962C8B-B14F-4D97-AF65-F5344CB8AC3E}">
        <p14:creationId xmlns:p14="http://schemas.microsoft.com/office/powerpoint/2010/main" val="33186937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Testable Requirements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Testable/Measurable Requirement: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Objective description of the requirement’s meanings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All possible entities and activities can be examined and classified as Meet Requirements and Do Not Meet Requirements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Testable requirements are helpful in making good design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Requirements that are not testable are likely to be ambiguous, incomplete and incorrect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49845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Testable Requirements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Robertson and Robertson suggest 3 ways to help make requirements testable: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Specify a quantitative description for each adverb and adjective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Replace pronouns with specific names of entities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Make sure that every noun is defined in exactly one place in the requirements document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491887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Testable Requirements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Some examples: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Not Testable: Water quality information must be accessible immediately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Testable: Water quality information must be retrieved within five seconds of request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Not Testable: The system should handle a large number of users at a time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Testable: The system should handle 5000 users at a time</a:t>
            </a:r>
          </a:p>
          <a:p>
            <a:pPr lvl="1"/>
            <a:r>
              <a:rPr lang="en-US" dirty="0"/>
              <a:t>Not Testable: User should press the Save button when writing text in the system. This prevents it from being lost.</a:t>
            </a:r>
          </a:p>
          <a:p>
            <a:pPr lvl="1"/>
            <a:r>
              <a:rPr lang="en-US" dirty="0"/>
              <a:t>Testable: User should press the Save button when writing a note in the system. Pressing the Save button prevents the text from being lost.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01201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Expressing Requirements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requirement deals with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objects or entities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state they can be in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functions that are performed to change states or object characteristics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It is important to have standard notations for modelling, documenting, and communicating decisions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Modelling helps us to understand requirements thoroughly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Holes in the models reveal unknown or ambiguous behaviour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Multiple, conflicting outputs to the same input reveal inconsistencies in the requirements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64982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Expressing Requirements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Dynamic Descriptions of a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Decision Tables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State Diagrams (</a:t>
            </a:r>
            <a:r>
              <a:rPr lang="en-GB" dirty="0" err="1"/>
              <a:t>Statecharts</a:t>
            </a:r>
            <a:r>
              <a:rPr lang="en-GB" dirty="0"/>
              <a:t>)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Fence Diagrams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Event Tables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Petri Nets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Event Traces (Message Sequence Charts)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ea typeface="+mn-ea"/>
              </a:rPr>
              <a:t>Static Descriptions of a System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Object Models (ER Diagrams, Abstract class diagrams)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ea typeface="+mn-ea"/>
              </a:rPr>
              <a:t>Other Techniques to Express Requirements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/>
              <a:t>Data Flow Diagrams (DFD)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err="1"/>
              <a:t>Usecase</a:t>
            </a:r>
            <a:r>
              <a:rPr lang="en-GB" dirty="0"/>
              <a:t> Diagrams</a:t>
            </a:r>
          </a:p>
        </p:txBody>
      </p:sp>
    </p:spTree>
    <p:extLst>
      <p:ext uri="{BB962C8B-B14F-4D97-AF65-F5344CB8AC3E}">
        <p14:creationId xmlns:p14="http://schemas.microsoft.com/office/powerpoint/2010/main" val="214066177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Decision Tables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It is a tabular representation of a functional specification that maps events and conditions to appropriate reponses or action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The specification is formal because the inputs (events and conditions) and outputs (actions) may be expressed in natural language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If there is </a:t>
            </a:r>
            <a:r>
              <a:rPr lang="en-GB" i="1"/>
              <a:t>n</a:t>
            </a:r>
            <a:r>
              <a:rPr lang="en-GB"/>
              <a:t> input conditions, there are 2</a:t>
            </a:r>
            <a:r>
              <a:rPr lang="en-GB" i="1" baseline="33000"/>
              <a:t>n</a:t>
            </a:r>
            <a:r>
              <a:rPr lang="en-GB"/>
              <a:t> possible combination of input conditions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Combinations map to the same set of result can be combined into a single column</a:t>
            </a:r>
          </a:p>
        </p:txBody>
      </p:sp>
    </p:spTree>
    <p:extLst>
      <p:ext uri="{BB962C8B-B14F-4D97-AF65-F5344CB8AC3E}">
        <p14:creationId xmlns:p14="http://schemas.microsoft.com/office/powerpoint/2010/main" val="202014421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Decision Tables (Contd.)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Decision table for library functions </a:t>
            </a:r>
            <a:r>
              <a:rPr lang="en-GB">
                <a:latin typeface="Courier New" pitchFamily="49" charset="0"/>
              </a:rPr>
              <a:t>borrow,</a:t>
            </a:r>
            <a:r>
              <a:rPr lang="en-GB"/>
              <a:t> </a:t>
            </a:r>
            <a:r>
              <a:rPr lang="en-GB">
                <a:latin typeface="Courier New" pitchFamily="49" charset="0"/>
              </a:rPr>
              <a:t>return, reserve,</a:t>
            </a:r>
            <a:r>
              <a:rPr lang="en-GB"/>
              <a:t> and </a:t>
            </a:r>
            <a:r>
              <a:rPr lang="en-GB">
                <a:latin typeface="Courier New" pitchFamily="49" charset="0"/>
              </a:rPr>
              <a:t>unreserve</a:t>
            </a:r>
          </a:p>
        </p:txBody>
      </p:sp>
      <p:pic>
        <p:nvPicPr>
          <p:cNvPr id="27652" name="Picture 3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1" y="2438401"/>
            <a:ext cx="6638925" cy="36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793958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A graphical description of all dialog between the system and its environment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Node (</a:t>
            </a:r>
            <a:r>
              <a:rPr lang="en-GB" i="1"/>
              <a:t>state</a:t>
            </a:r>
            <a:r>
              <a:rPr lang="en-GB"/>
              <a:t>) represents a stable set of conditions that exists between event occurences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Edge (</a:t>
            </a:r>
            <a:r>
              <a:rPr lang="en-GB" i="1"/>
              <a:t>transition</a:t>
            </a:r>
            <a:r>
              <a:rPr lang="en-GB"/>
              <a:t>) represents  a change in behavior or condition due to the occurrence of an event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Useful both for specifying dynamic behavior and for describing how behavior should change in response to the history of events that have already occurred</a:t>
            </a:r>
          </a:p>
        </p:txBody>
      </p:sp>
    </p:spTree>
    <p:extLst>
      <p:ext uri="{BB962C8B-B14F-4D97-AF65-F5344CB8AC3E}">
        <p14:creationId xmlns:p14="http://schemas.microsoft.com/office/powerpoint/2010/main" val="196773564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 (Contd.)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Finite state machine model of the tunstile problem</a:t>
            </a:r>
          </a:p>
        </p:txBody>
      </p:sp>
      <p:pic>
        <p:nvPicPr>
          <p:cNvPr id="34820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1" y="2286001"/>
            <a:ext cx="6348413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736796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 (Contd.)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/>
              <a:t>A path</a:t>
            </a:r>
            <a:r>
              <a:rPr lang="en-GB"/>
              <a:t>: starting from the machine's initial state and following transitions from state to state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A trace of observable events in the environment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/>
              <a:t>Deterministic state machine: </a:t>
            </a:r>
            <a:r>
              <a:rPr lang="en-GB"/>
              <a:t>for every state and event there is a unique response</a:t>
            </a:r>
          </a:p>
        </p:txBody>
      </p:sp>
      <p:sp>
        <p:nvSpPr>
          <p:cNvPr id="35844" name="AutoShape 3"/>
          <p:cNvSpPr>
            <a:spLocks noChangeArrowheads="1"/>
          </p:cNvSpPr>
          <p:nvPr/>
        </p:nvSpPr>
        <p:spPr bwMode="auto">
          <a:xfrm>
            <a:off x="4672013" y="2205038"/>
            <a:ext cx="889000" cy="374650"/>
          </a:xfrm>
          <a:prstGeom prst="roundRect">
            <a:avLst>
              <a:gd name="adj" fmla="val 421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2254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 (Contd.)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Ways of thinking about State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Equivalence classes of possible future </a:t>
            </a:r>
            <a:r>
              <a:rPr lang="en-GB" dirty="0" err="1"/>
              <a:t>behavior</a:t>
            </a:r>
            <a:endParaRPr lang="en-GB" dirty="0"/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Periods of time between consecutive event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Named control points in an object's evolution 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Partition of an object's </a:t>
            </a:r>
            <a:r>
              <a:rPr lang="en-GB" dirty="0" err="1"/>
              <a:t>behavior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35871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514601"/>
            <a:ext cx="61849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Diagrams: UML Notation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8818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State Diagrams: UML </a:t>
            </a:r>
            <a:r>
              <a:rPr lang="en-GB" dirty="0" err="1"/>
              <a:t>Statechart</a:t>
            </a:r>
            <a:endParaRPr lang="en-GB" dirty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UML </a:t>
            </a:r>
            <a:r>
              <a:rPr lang="en-GB" dirty="0" err="1"/>
              <a:t>statechart</a:t>
            </a:r>
            <a:r>
              <a:rPr lang="en-GB" dirty="0"/>
              <a:t> diagram depicts the dynamic behaviour of the objects in a UML class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UML class diagram has no information about how the entities behave, how the behaviours change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UML model is a collection of concurrently executing </a:t>
            </a:r>
            <a:r>
              <a:rPr lang="en-GB" dirty="0" err="1"/>
              <a:t>statecharts</a:t>
            </a:r>
            <a:endParaRPr lang="en-GB" dirty="0"/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UML </a:t>
            </a:r>
            <a:r>
              <a:rPr lang="en-GB" dirty="0" err="1"/>
              <a:t>statechart</a:t>
            </a:r>
            <a:r>
              <a:rPr lang="en-GB" dirty="0"/>
              <a:t> diagram have a rich syntax, including state hierarchy, concurrency, and inter-machine communication </a:t>
            </a:r>
          </a:p>
        </p:txBody>
      </p:sp>
    </p:spTree>
    <p:extLst>
      <p:ext uri="{BB962C8B-B14F-4D97-AF65-F5344CB8AC3E}">
        <p14:creationId xmlns:p14="http://schemas.microsoft.com/office/powerpoint/2010/main" val="86361736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UML </a:t>
            </a:r>
            <a:r>
              <a:rPr lang="en-GB" dirty="0" err="1"/>
              <a:t>Statechart</a:t>
            </a:r>
            <a:r>
              <a:rPr lang="en-GB" dirty="0"/>
              <a:t> Diagram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/>
              <a:t>State hierarchy</a:t>
            </a:r>
            <a:r>
              <a:rPr lang="en-GB"/>
              <a:t> is used to unclutter diagrams by collecting into superstate those states with common transitions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A </a:t>
            </a:r>
            <a:r>
              <a:rPr lang="en-GB" b="1"/>
              <a:t>superstate</a:t>
            </a:r>
            <a:r>
              <a:rPr lang="en-GB"/>
              <a:t> can actually comprise multiple concurrent submachines, separated by dashed line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The submachines are said to operate </a:t>
            </a:r>
            <a:r>
              <a:rPr lang="en-GB" i="1"/>
              <a:t>concurrently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Students can recall the activity of reducing a DFA, or converting a DFA to a RE during Automata Course</a:t>
            </a:r>
          </a:p>
        </p:txBody>
      </p:sp>
    </p:spTree>
    <p:extLst>
      <p:ext uri="{BB962C8B-B14F-4D97-AF65-F5344CB8AC3E}">
        <p14:creationId xmlns:p14="http://schemas.microsoft.com/office/powerpoint/2010/main" val="397207835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UML </a:t>
            </a:r>
            <a:r>
              <a:rPr lang="en-GB" dirty="0" err="1"/>
              <a:t>Statechart</a:t>
            </a:r>
            <a:r>
              <a:rPr lang="en-GB" dirty="0"/>
              <a:t> Diagram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/>
              <a:t>The UML statechart diagram for the </a:t>
            </a:r>
            <a:r>
              <a:rPr lang="en-GB" sz="2600">
                <a:latin typeface="Courier New" pitchFamily="49" charset="0"/>
              </a:rPr>
              <a:t>Publication</a:t>
            </a:r>
            <a:r>
              <a:rPr lang="en-GB" sz="2600"/>
              <a:t> class from the Library class model</a:t>
            </a:r>
          </a:p>
        </p:txBody>
      </p:sp>
      <p:pic>
        <p:nvPicPr>
          <p:cNvPr id="39940" name="Picture 4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901" y="0"/>
            <a:ext cx="10160111" cy="6966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792967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UML </a:t>
            </a:r>
            <a:r>
              <a:rPr lang="en-GB" dirty="0" err="1"/>
              <a:t>Statechart</a:t>
            </a:r>
            <a:r>
              <a:rPr lang="en-GB" dirty="0"/>
              <a:t> Diagram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An equivalent </a:t>
            </a:r>
            <a:r>
              <a:rPr lang="en-GB" sz="2000" dirty="0" err="1"/>
              <a:t>statechart</a:t>
            </a:r>
            <a:r>
              <a:rPr lang="en-GB" sz="2000" dirty="0"/>
              <a:t> for </a:t>
            </a:r>
            <a:r>
              <a:rPr lang="en-GB" sz="2000" dirty="0">
                <a:latin typeface="Courier New" pitchFamily="49" charset="0"/>
              </a:rPr>
              <a:t>Publication</a:t>
            </a:r>
            <a:r>
              <a:rPr lang="en-GB" sz="2000" dirty="0"/>
              <a:t> class that does not make use of state hierarchy or concurrency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 dirty="0"/>
              <a:t>comparatively messy and </a:t>
            </a:r>
            <a:r>
              <a:rPr lang="en-GB" sz="1800" dirty="0" err="1"/>
              <a:t>and</a:t>
            </a:r>
            <a:r>
              <a:rPr lang="en-GB" sz="1800" dirty="0"/>
              <a:t> repetitive</a:t>
            </a:r>
          </a:p>
        </p:txBody>
      </p:sp>
      <p:pic>
        <p:nvPicPr>
          <p:cNvPr id="40964" name="Picture 6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4435" y="3035019"/>
            <a:ext cx="5181600" cy="375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08175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UML </a:t>
            </a:r>
            <a:r>
              <a:rPr lang="en-GB" dirty="0" err="1"/>
              <a:t>Statechart</a:t>
            </a:r>
            <a:r>
              <a:rPr lang="en-GB" dirty="0"/>
              <a:t> Diagram Example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 dirty="0"/>
              <a:t>The UML state diagram for </a:t>
            </a:r>
            <a:r>
              <a:rPr lang="en-GB" sz="1800" dirty="0">
                <a:latin typeface="Courier New" pitchFamily="49" charset="0"/>
              </a:rPr>
              <a:t>Hotel Reservation</a:t>
            </a:r>
            <a:endParaRPr lang="en-GB" sz="1800" dirty="0"/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1" y="1752600"/>
            <a:ext cx="5472113" cy="408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035371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Fence Diagram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1" y="1524000"/>
            <a:ext cx="5229225" cy="44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793559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Special THANK FOR THE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Mr.</a:t>
            </a:r>
            <a:r>
              <a:rPr lang="en-GB" dirty="0"/>
              <a:t> </a:t>
            </a:r>
            <a:r>
              <a:rPr lang="en-GB" dirty="0" err="1"/>
              <a:t>Haroon</a:t>
            </a:r>
            <a:r>
              <a:rPr lang="en-GB" dirty="0"/>
              <a:t> Abdul </a:t>
            </a:r>
            <a:r>
              <a:rPr lang="en-GB" dirty="0" err="1"/>
              <a:t>Waheed</a:t>
            </a:r>
            <a:endParaRPr lang="en-GB" dirty="0"/>
          </a:p>
          <a:p>
            <a:r>
              <a:rPr lang="en-GB" dirty="0" err="1"/>
              <a:t>Prof.</a:t>
            </a:r>
            <a:r>
              <a:rPr lang="en-GB" dirty="0"/>
              <a:t> </a:t>
            </a:r>
            <a:r>
              <a:rPr lang="en-GB" dirty="0" err="1"/>
              <a:t>Zeeshan</a:t>
            </a:r>
            <a:r>
              <a:rPr lang="en-GB" dirty="0"/>
              <a:t> Ali </a:t>
            </a:r>
            <a:r>
              <a:rPr lang="en-GB" dirty="0" err="1"/>
              <a:t>Rana</a:t>
            </a:r>
            <a:endParaRPr lang="en-GB" dirty="0"/>
          </a:p>
          <a:p>
            <a:r>
              <a:rPr lang="en-US" dirty="0" err="1"/>
              <a:t>Pfleeger’s</a:t>
            </a:r>
            <a:r>
              <a:rPr lang="en-US" dirty="0"/>
              <a:t> Book slides from UCF</a:t>
            </a:r>
          </a:p>
          <a:p>
            <a:r>
              <a:rPr lang="en-US" dirty="0"/>
              <a:t>Software Fundamentals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3363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10228</TotalTime>
  <Words>1467</Words>
  <Application>Microsoft Office PowerPoint</Application>
  <PresentationFormat>Widescreen</PresentationFormat>
  <Paragraphs>179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Corbel</vt:lpstr>
      <vt:lpstr>Courier New</vt:lpstr>
      <vt:lpstr>Wingdings</vt:lpstr>
      <vt:lpstr>Banded</vt:lpstr>
      <vt:lpstr>Introduction to Software Engineering</vt:lpstr>
      <vt:lpstr>The Requirements Process</vt:lpstr>
      <vt:lpstr>The Requirements Process Sidebar: Why Are Requirements Important?</vt:lpstr>
      <vt:lpstr>The Requirements Process</vt:lpstr>
      <vt:lpstr> Requirements Elicitation</vt:lpstr>
      <vt:lpstr> Requirements Elicitation</vt:lpstr>
      <vt:lpstr>Requirements Elicitation Sidebar: Using Viewpoints to Manage Inconsistency</vt:lpstr>
      <vt:lpstr>Requirements Elicitation</vt:lpstr>
      <vt:lpstr>Requirements Elicitation</vt:lpstr>
      <vt:lpstr>Types of Requirements</vt:lpstr>
      <vt:lpstr>Types of Requirements</vt:lpstr>
      <vt:lpstr>Prioritizing Requirements</vt:lpstr>
      <vt:lpstr>Lecture</vt:lpstr>
      <vt:lpstr>Characteristics of Requirements</vt:lpstr>
      <vt:lpstr>Testable Requirements</vt:lpstr>
      <vt:lpstr>Testable Requirements</vt:lpstr>
      <vt:lpstr>Testable Requirements</vt:lpstr>
      <vt:lpstr>Expressing Requirements</vt:lpstr>
      <vt:lpstr>Expressing Requirements</vt:lpstr>
      <vt:lpstr>Decision Tables</vt:lpstr>
      <vt:lpstr>Decision Tables (Contd.)</vt:lpstr>
      <vt:lpstr>State Diagrams</vt:lpstr>
      <vt:lpstr>State Diagrams (Contd.)</vt:lpstr>
      <vt:lpstr>State Diagrams (Contd.)</vt:lpstr>
      <vt:lpstr>State Diagrams (Contd.)</vt:lpstr>
      <vt:lpstr>State Diagrams: UML Notation</vt:lpstr>
      <vt:lpstr>State Diagrams: UML Statechart</vt:lpstr>
      <vt:lpstr>UML Statechart Diagram</vt:lpstr>
      <vt:lpstr>UML Statechart Diagram</vt:lpstr>
      <vt:lpstr>UML Statechart Diagram</vt:lpstr>
      <vt:lpstr>UML Statechart Diagram Example</vt:lpstr>
      <vt:lpstr>Fence Diagram</vt:lpstr>
      <vt:lpstr>Special THANK FOR THE 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Windows User</dc:creator>
  <cp:lastModifiedBy>Muhammad Kashif</cp:lastModifiedBy>
  <cp:revision>27</cp:revision>
  <dcterms:created xsi:type="dcterms:W3CDTF">2015-04-05T21:16:02Z</dcterms:created>
  <dcterms:modified xsi:type="dcterms:W3CDTF">2024-04-26T09:46:43Z</dcterms:modified>
</cp:coreProperties>
</file>