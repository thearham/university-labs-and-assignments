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5"/>
  </p:notesMasterIdLst>
  <p:handoutMasterIdLst>
    <p:handoutMasterId r:id="rId46"/>
  </p:handout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400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8" r:id="rId41"/>
    <p:sldId id="295" r:id="rId42"/>
    <p:sldId id="296" r:id="rId43"/>
    <p:sldId id="297" r:id="rId4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5" d="100"/>
          <a:sy n="55" d="100"/>
        </p:scale>
        <p:origin x="2880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handoutMaster" Target="handoutMasters/handout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EE57FE-F8A8-44EF-A37C-6FFF63A4A2DE}" type="datetimeFigureOut">
              <a:rPr lang="en-GB" smtClean="0"/>
              <a:t>27/03/2024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790F40-F762-4F7E-9B79-FC46FFE32BA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180833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72E015-4319-44FF-89D3-75D4CD185629}" type="datetimeFigureOut">
              <a:rPr lang="en-GB" smtClean="0"/>
              <a:t>27/03/2024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9D8E65-9486-497A-AE4C-8914702BA90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855379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683" name="Notes Placeholder 2"/>
          <p:cNvSpPr txBox="1"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7049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683" name="Notes Placeholder 2"/>
          <p:cNvSpPr txBox="1"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28442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683" name="Notes Placeholder 2"/>
          <p:cNvSpPr txBox="1"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3341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683" name="Notes Placeholder 2"/>
          <p:cNvSpPr txBox="1"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8662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683" name="Notes Placeholder 2"/>
          <p:cNvSpPr txBox="1"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1567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683" name="Notes Placeholder 2"/>
          <p:cNvSpPr txBox="1"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0370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683" name="Notes Placeholder 2"/>
          <p:cNvSpPr txBox="1"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8700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683" name="Notes Placeholder 2"/>
          <p:cNvSpPr txBox="1"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9886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683" name="Notes Placeholder 2"/>
          <p:cNvSpPr txBox="1"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93164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683" name="Notes Placeholder 2"/>
          <p:cNvSpPr txBox="1"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01994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683" name="Notes Placeholder 2"/>
          <p:cNvSpPr txBox="1"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469124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683" name="Notes Placeholder 2"/>
          <p:cNvSpPr txBox="1"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77288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683" name="Notes Placeholder 2"/>
          <p:cNvSpPr txBox="1"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20445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683" name="Notes Placeholder 2"/>
          <p:cNvSpPr txBox="1"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66051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683" name="Notes Placeholder 2"/>
          <p:cNvSpPr txBox="1"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055846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683" name="Notes Placeholder 2"/>
          <p:cNvSpPr txBox="1"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881940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683" name="Notes Placeholder 2"/>
          <p:cNvSpPr txBox="1"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84991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683" name="Notes Placeholder 2"/>
          <p:cNvSpPr txBox="1"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59433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683" name="Notes Placeholder 2"/>
          <p:cNvSpPr txBox="1"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97366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683" name="Notes Placeholder 2"/>
          <p:cNvSpPr txBox="1"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658816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683" name="Notes Placeholder 2"/>
          <p:cNvSpPr txBox="1"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74341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683" name="Notes Placeholder 2"/>
          <p:cNvSpPr txBox="1"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282657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683" name="Notes Placeholder 2"/>
          <p:cNvSpPr txBox="1"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89780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683" name="Notes Placeholder 2"/>
          <p:cNvSpPr txBox="1"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25993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683" name="Notes Placeholder 2"/>
          <p:cNvSpPr txBox="1"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333397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683" name="Notes Placeholder 2"/>
          <p:cNvSpPr txBox="1"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257224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683" name="Notes Placeholder 2"/>
          <p:cNvSpPr txBox="1"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19077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683" name="Notes Placeholder 2"/>
          <p:cNvSpPr txBox="1"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42995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683" name="Notes Placeholder 2"/>
          <p:cNvSpPr txBox="1"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4931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683" name="Notes Placeholder 2"/>
          <p:cNvSpPr txBox="1"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23559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683" name="Notes Placeholder 2"/>
          <p:cNvSpPr txBox="1"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48980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683" name="Notes Placeholder 2"/>
          <p:cNvSpPr txBox="1"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17929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683" name="Notes Placeholder 2"/>
          <p:cNvSpPr txBox="1"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91081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683" name="Notes Placeholder 2"/>
          <p:cNvSpPr txBox="1"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13338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683" name="Notes Placeholder 2"/>
          <p:cNvSpPr txBox="1"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85871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683" name="Notes Placeholder 2"/>
          <p:cNvSpPr txBox="1"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94531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683" name="Notes Placeholder 2"/>
          <p:cNvSpPr txBox="1"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17944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683" name="Notes Placeholder 2"/>
          <p:cNvSpPr txBox="1"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156493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683" name="Notes Placeholder 2"/>
          <p:cNvSpPr txBox="1"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3859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93105" y="802301"/>
            <a:ext cx="8561747" cy="1849460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93105" y="2854918"/>
            <a:ext cx="8561747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3BF71-38B7-8642-BFCE-EDAE9BD0CBAF}" type="datetimeFigureOut">
              <a:rPr lang="en-US" dirty="0"/>
              <a:t>3/27/2024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93106" y="329309"/>
            <a:ext cx="4897311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5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2334637" y="798973"/>
            <a:ext cx="0" cy="2544756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>
            <a:lvl1pPr>
              <a:defRPr sz="3200"/>
            </a:lvl1pPr>
            <a:lvl2pPr>
              <a:defRPr sz="2800"/>
            </a:lvl2pPr>
            <a:lvl3pPr>
              <a:defRPr sz="3600"/>
            </a:lvl3pPr>
            <a:lvl4pPr>
              <a:defRPr sz="3200"/>
            </a:lvl4pPr>
            <a:lvl5pPr>
              <a:defRPr sz="28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81CDE-9BE7-C544-8ACB-7077DFC4270F}" type="datetimeFigureOut">
              <a:rPr lang="en-US" dirty="0"/>
              <a:t>3/27/2024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1371687" y="798973"/>
            <a:ext cx="0" cy="1067168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4814" y="1756130"/>
            <a:ext cx="8562580" cy="634373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34697" y="2631153"/>
            <a:ext cx="8549991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BA285-9698-1B45-8319-D90A8C63F150}" type="datetimeFigureOut">
              <a:rPr lang="en-US" dirty="0"/>
              <a:t>3/27/2024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1371687" y="798975"/>
            <a:ext cx="0" cy="2845107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4696" y="804891"/>
            <a:ext cx="9520157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34695" y="2010878"/>
            <a:ext cx="4608576" cy="343814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54793" y="2017343"/>
            <a:ext cx="4604131" cy="344152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86CD42-43FF-B740-998F-DCC3802C4CE3}" type="datetimeFigureOut">
              <a:rPr lang="en-US" dirty="0"/>
              <a:t>3/27/2024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371687" y="798973"/>
            <a:ext cx="0" cy="1067168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4696" y="804165"/>
            <a:ext cx="9520157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34695" y="2019551"/>
            <a:ext cx="460857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34695" y="2824271"/>
            <a:ext cx="4608576" cy="264445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54791" y="2023005"/>
            <a:ext cx="4608576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54792" y="2821491"/>
            <a:ext cx="4608576" cy="263737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A0FFBD-2EE4-8547-BBAE-A1AC91C8D77E}" type="datetimeFigureOut">
              <a:rPr lang="en-US" dirty="0"/>
              <a:t>3/27/2024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1" name="Straight Connector 10"/>
          <p:cNvCxnSpPr/>
          <p:nvPr/>
        </p:nvCxnSpPr>
        <p:spPr>
          <a:xfrm>
            <a:off x="1371687" y="798973"/>
            <a:ext cx="0" cy="1067168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A2352-D7AC-F242-9256-A4477BCBF354}" type="datetimeFigureOut">
              <a:rPr lang="en-US" dirty="0"/>
              <a:t>3/27/2024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1371687" y="798973"/>
            <a:ext cx="0" cy="1067168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CFC6A-9AE6-404D-9FDD-168B477B9C90}" type="datetimeFigureOut">
              <a:rPr lang="en-US" dirty="0"/>
              <a:t>3/27/2024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4643" y="798973"/>
            <a:ext cx="3183128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1" cy="4658826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34696" y="3205493"/>
            <a:ext cx="3184989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FCDFD-B4CF-A241-8D71-E814B10BEAF4}" type="datetimeFigureOut">
              <a:rPr lang="en-US" dirty="0"/>
              <a:t>3/27/2024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371687" y="798973"/>
            <a:ext cx="0" cy="2247117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8" y="482172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chemeClr val="bg2">
                    <a:lumMod val="10000"/>
                  </a:schemeClr>
                </a:gs>
                <a:gs pos="100000">
                  <a:schemeClr val="bg2">
                    <a:lumMod val="10000"/>
                  </a:schemeClr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 prstMaterial="matte">
              <a:bevelT w="133350" h="50800" prst="divo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5695" y="1129513"/>
            <a:ext cx="5447840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4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34696" y="3145992"/>
            <a:ext cx="5440037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534695" y="5469858"/>
            <a:ext cx="5440039" cy="320123"/>
          </a:xfrm>
        </p:spPr>
        <p:txBody>
          <a:bodyPr/>
          <a:lstStyle>
            <a:lvl1pPr algn="l">
              <a:defRPr/>
            </a:lvl1pPr>
          </a:lstStyle>
          <a:p>
            <a:fld id="{26A7B589-FD4B-7E46-869A-CBADC5FC564E}" type="datetimeFigureOut">
              <a:rPr lang="en-US" dirty="0"/>
              <a:t>3/27/2024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534911" y="318642"/>
            <a:ext cx="5453475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71687" y="798973"/>
            <a:ext cx="0" cy="2161124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025CB-9D18-264E-A945-2D020344C9DA}" type="datetimeFigureOut">
              <a:rPr lang="en-US" dirty="0"/>
              <a:t>3/27/2024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1371687" y="798973"/>
            <a:ext cx="0" cy="1067168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883865"/>
            <a:ext cx="1615743" cy="45749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34695" y="883865"/>
            <a:ext cx="7738807" cy="457499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EFB6C-7E96-8F41-8872-189CA1C59F84}" type="datetimeFigureOut">
              <a:rPr lang="en-US" dirty="0"/>
              <a:t>3/27/2024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H="1">
            <a:off x="9439111" y="719272"/>
            <a:ext cx="1615743" cy="0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2015734"/>
            <a:ext cx="12192000" cy="4118829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/>
          <a:srcRect t="2769" b="-2769"/>
          <a:stretch/>
        </p:blipFill>
        <p:spPr>
          <a:xfrm>
            <a:off x="0" y="6135624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34697" y="804521"/>
            <a:ext cx="9520159" cy="54299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34695" y="1489335"/>
            <a:ext cx="9520159" cy="42452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9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D8A92E-5FF9-8143-81B3-CCB531513398}" type="datetimeFigureOut">
              <a:rPr lang="en-US" dirty="0"/>
              <a:t>3/27/2024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34697" y="329309"/>
            <a:ext cx="5855719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1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2" name="Straight Connector 11"/>
          <p:cNvCxnSpPr/>
          <p:nvPr/>
        </p:nvCxnSpPr>
        <p:spPr>
          <a:xfrm>
            <a:off x="0" y="6141705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4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3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40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3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3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Introduction to Software Engineering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Muhammad </a:t>
            </a:r>
            <a:r>
              <a:rPr lang="en-GB" dirty="0" err="1"/>
              <a:t>kashif</a:t>
            </a:r>
            <a:endParaRPr lang="en-GB" dirty="0"/>
          </a:p>
          <a:p>
            <a:r>
              <a:rPr lang="en-US" dirty="0"/>
              <a:t>CSSE3113</a:t>
            </a:r>
          </a:p>
        </p:txBody>
      </p:sp>
    </p:spTree>
    <p:extLst>
      <p:ext uri="{BB962C8B-B14F-4D97-AF65-F5344CB8AC3E}">
        <p14:creationId xmlns:p14="http://schemas.microsoft.com/office/powerpoint/2010/main" val="24871221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GB"/>
              <a:t>What Do We Mean by a Process? </a:t>
            </a:r>
            <a:endParaRPr lang="en-US" sz="2800" dirty="0"/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eaLnBrk="1" hangingPunct="1"/>
            <a:r>
              <a:rPr lang="en-GB"/>
              <a:t>Is a series of steps involving activities, constraints, and resources to produce an intended output</a:t>
            </a:r>
          </a:p>
          <a:p>
            <a:pPr lvl="1"/>
            <a:r>
              <a:rPr lang="en-GB"/>
              <a:t>Prepare for exams</a:t>
            </a:r>
          </a:p>
          <a:p>
            <a:pPr lvl="1"/>
            <a:r>
              <a:rPr lang="en-GB"/>
              <a:t>Conduct a software competition</a:t>
            </a:r>
          </a:p>
          <a:p>
            <a:pPr lvl="1"/>
            <a:r>
              <a:rPr lang="en-GB"/>
              <a:t>Organize a trip</a:t>
            </a:r>
          </a:p>
          <a:p>
            <a:pPr lvl="1"/>
            <a:r>
              <a:rPr lang="en-GB"/>
              <a:t>Write a term project report </a:t>
            </a:r>
          </a:p>
          <a:p>
            <a:pPr eaLnBrk="1" hangingPunct="1"/>
            <a:r>
              <a:rPr lang="en-GB"/>
              <a:t>Involves a set of tools and techniques</a:t>
            </a:r>
          </a:p>
          <a:p>
            <a:pPr lvl="1"/>
            <a:r>
              <a:rPr lang="en-GB"/>
              <a:t>Block diagrams</a:t>
            </a:r>
          </a:p>
          <a:p>
            <a:pPr lvl="1"/>
            <a:r>
              <a:rPr lang="en-GB"/>
              <a:t>Notations</a:t>
            </a:r>
          </a:p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444917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22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22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0"/>
                                        <p:tgtEl>
                                          <p:spTgt spid="225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0"/>
                                        <p:tgtEl>
                                          <p:spTgt spid="225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225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1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GB"/>
              <a:t>How is a Process Useful? </a:t>
            </a:r>
            <a:endParaRPr lang="en-US" sz="2800" dirty="0"/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/>
              <a:t>Impose consistency and structure on a set of activities</a:t>
            </a:r>
          </a:p>
          <a:p>
            <a: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/>
              <a:t>Guide us to understand, control, examine, and improve the activities</a:t>
            </a:r>
          </a:p>
          <a:p>
            <a: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/>
              <a:t>Enable us to capture our experiences and pass them along</a:t>
            </a:r>
          </a:p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9044244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GB" dirty="0"/>
              <a:t>Characteristics of a Process</a:t>
            </a:r>
            <a:endParaRPr lang="en-US" sz="2800" dirty="0"/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800" dirty="0"/>
              <a:t>Prescribes all major process activities</a:t>
            </a:r>
          </a:p>
          <a:p>
            <a: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800" dirty="0"/>
              <a:t>Uses resources, subject to set of constraints (such as schedule)</a:t>
            </a:r>
          </a:p>
          <a:p>
            <a: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800" dirty="0"/>
              <a:t>Produces intermediate and final products</a:t>
            </a:r>
          </a:p>
          <a:p>
            <a: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800" dirty="0"/>
              <a:t>May be composed of sub-processes with hierarchy or links</a:t>
            </a:r>
          </a:p>
          <a:p>
            <a: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800" dirty="0"/>
              <a:t>Each process activity has entry and exit criteria</a:t>
            </a:r>
          </a:p>
          <a:p>
            <a: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800" dirty="0"/>
              <a:t>Activities are organized in sequence, so timing is clear</a:t>
            </a:r>
          </a:p>
          <a:p>
            <a: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800" dirty="0"/>
              <a:t>Each process guiding principles, including goals of each activity</a:t>
            </a:r>
          </a:p>
          <a:p>
            <a: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800" dirty="0"/>
              <a:t>Constraints may apply to an activity, resource or product</a:t>
            </a:r>
          </a:p>
        </p:txBody>
      </p:sp>
    </p:spTree>
    <p:extLst>
      <p:ext uri="{BB962C8B-B14F-4D97-AF65-F5344CB8AC3E}">
        <p14:creationId xmlns:p14="http://schemas.microsoft.com/office/powerpoint/2010/main" val="4018770103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GB" dirty="0"/>
              <a:t>Characteristics of a Process</a:t>
            </a:r>
            <a:endParaRPr lang="en-US" sz="2800" dirty="0"/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800" dirty="0"/>
              <a:t>Prescribes all major process activities</a:t>
            </a:r>
          </a:p>
          <a:p>
            <a: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800" dirty="0"/>
              <a:t>Uses resources, subject to set of constraints (such as schedule)</a:t>
            </a:r>
          </a:p>
          <a:p>
            <a: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800" dirty="0"/>
              <a:t>Produces intermediate and final products</a:t>
            </a:r>
          </a:p>
          <a:p>
            <a: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800" dirty="0"/>
              <a:t>May be composed of sub-processes with hierarchy or links</a:t>
            </a:r>
          </a:p>
          <a:p>
            <a: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800" dirty="0"/>
              <a:t>Each process activity has entry and exit criteria</a:t>
            </a:r>
          </a:p>
          <a:p>
            <a: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800" dirty="0"/>
              <a:t>Activities are organized in sequence, so timing is clear</a:t>
            </a:r>
          </a:p>
          <a:p>
            <a: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800" dirty="0"/>
              <a:t>Each process guiding principles, including goals of each activity</a:t>
            </a:r>
          </a:p>
          <a:p>
            <a: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800" dirty="0"/>
              <a:t>Constraints may apply to an activity, resource or product</a:t>
            </a:r>
          </a:p>
        </p:txBody>
      </p:sp>
    </p:spTree>
    <p:extLst>
      <p:ext uri="{BB962C8B-B14F-4D97-AF65-F5344CB8AC3E}">
        <p14:creationId xmlns:p14="http://schemas.microsoft.com/office/powerpoint/2010/main" val="3713821570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GB" dirty="0"/>
              <a:t>Software Lifecycle</a:t>
            </a:r>
            <a:endParaRPr lang="en-US" sz="2800" dirty="0"/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90000"/>
              </a:lnSpc>
            </a:pPr>
            <a:r>
              <a:rPr lang="en-US" dirty="0"/>
              <a:t>When a process involves building a software (product), the process may be referred to as software (product) lifecycle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Requirements analysis and definition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System (architecture) design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Program (detailed/procedural) design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Writing programs (coding/implementation)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Testing: unit, integration, system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System delivery (deployment)</a:t>
            </a:r>
          </a:p>
          <a:p>
            <a:pPr lvl="1">
              <a:lnSpc>
                <a:spcPct val="90000"/>
              </a:lnSpc>
            </a:pPr>
            <a:endParaRPr lang="en-US" dirty="0"/>
          </a:p>
          <a:p>
            <a:pPr lvl="1">
              <a:lnSpc>
                <a:spcPct val="90000"/>
              </a:lnSpc>
            </a:pPr>
            <a:r>
              <a:rPr lang="en-US" dirty="0"/>
              <a:t>Maintenance </a:t>
            </a:r>
          </a:p>
        </p:txBody>
      </p:sp>
      <p:sp>
        <p:nvSpPr>
          <p:cNvPr id="4" name="Line 5"/>
          <p:cNvSpPr>
            <a:spLocks noChangeShapeType="1"/>
          </p:cNvSpPr>
          <p:nvPr/>
        </p:nvSpPr>
        <p:spPr bwMode="auto">
          <a:xfrm>
            <a:off x="2438400" y="5562600"/>
            <a:ext cx="7467600" cy="0"/>
          </a:xfrm>
          <a:prstGeom prst="line">
            <a:avLst/>
          </a:prstGeom>
          <a:noFill/>
          <a:ln w="28575">
            <a:solidFill>
              <a:srgbClr val="FF0000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445587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GB" dirty="0"/>
              <a:t>What is a Process Model?</a:t>
            </a:r>
            <a:endParaRPr lang="en-US" sz="2800" dirty="0"/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800" dirty="0"/>
              <a:t>Description of a process, evolved overtime, in a certain format</a:t>
            </a:r>
          </a:p>
          <a:p>
            <a:pPr lvl="1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May use text, pictures, or a combination</a:t>
            </a:r>
          </a:p>
          <a:p>
            <a:pPr lvl="1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Contains key process features</a:t>
            </a:r>
          </a:p>
        </p:txBody>
      </p:sp>
    </p:spTree>
    <p:extLst>
      <p:ext uri="{BB962C8B-B14F-4D97-AF65-F5344CB8AC3E}">
        <p14:creationId xmlns:p14="http://schemas.microsoft.com/office/powerpoint/2010/main" val="1482190774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GB" dirty="0"/>
              <a:t>Why is a Process Model Needed?</a:t>
            </a:r>
            <a:endParaRPr lang="en-US" sz="2800" dirty="0"/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800" dirty="0"/>
              <a:t>To form a common understanding</a:t>
            </a:r>
          </a:p>
          <a:p>
            <a: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800" dirty="0"/>
              <a:t>To find inconsistencies, redundancies, omissions</a:t>
            </a:r>
          </a:p>
          <a:p>
            <a: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800" dirty="0"/>
              <a:t>To find and evaluate appropriate activities for reaching process goals</a:t>
            </a:r>
          </a:p>
          <a:p>
            <a: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800" dirty="0"/>
              <a:t>To tailor a general process for a particular situation in which it will be used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74613001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GB" dirty="0"/>
              <a:t>What is a Software Process Model?</a:t>
            </a:r>
            <a:endParaRPr lang="en-US" sz="2800" dirty="0"/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800" dirty="0"/>
              <a:t>Models that prescribe how should development of software progress</a:t>
            </a:r>
          </a:p>
          <a:p>
            <a: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800" dirty="0"/>
              <a:t>Models that describe how is software developed in actuality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8711541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GB" dirty="0"/>
              <a:t>Software Development Process Models</a:t>
            </a:r>
            <a:endParaRPr lang="en-US" sz="2800" dirty="0"/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spcBef>
                <a:spcPts val="80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800" dirty="0"/>
              <a:t>Waterfall model</a:t>
            </a:r>
          </a:p>
          <a:p>
            <a:pPr>
              <a:spcBef>
                <a:spcPts val="80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800" dirty="0"/>
              <a:t>V model</a:t>
            </a:r>
          </a:p>
          <a:p>
            <a:pPr>
              <a:spcBef>
                <a:spcPts val="80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800" dirty="0"/>
              <a:t>Prototyping model</a:t>
            </a:r>
          </a:p>
          <a:p>
            <a:pPr>
              <a:spcBef>
                <a:spcPts val="80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800" dirty="0">
                <a:solidFill>
                  <a:srgbClr val="FFC000"/>
                </a:solidFill>
              </a:rPr>
              <a:t>Operational specification</a:t>
            </a:r>
          </a:p>
          <a:p>
            <a:pPr>
              <a:spcBef>
                <a:spcPts val="80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800" dirty="0">
                <a:solidFill>
                  <a:srgbClr val="FFC000"/>
                </a:solidFill>
              </a:rPr>
              <a:t>Transformational model</a:t>
            </a:r>
          </a:p>
          <a:p>
            <a:pPr>
              <a:spcBef>
                <a:spcPts val="80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800" dirty="0"/>
              <a:t>Phased development:  increments and iteration</a:t>
            </a:r>
          </a:p>
          <a:p>
            <a:pPr>
              <a:spcBef>
                <a:spcPts val="80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800" dirty="0"/>
              <a:t>Spiral model</a:t>
            </a:r>
          </a:p>
          <a:p>
            <a:pPr>
              <a:spcBef>
                <a:spcPts val="80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800" dirty="0"/>
              <a:t>Unified process</a:t>
            </a:r>
          </a:p>
          <a:p>
            <a:pPr>
              <a:spcBef>
                <a:spcPts val="80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800" dirty="0"/>
              <a:t>Agile methods</a:t>
            </a:r>
          </a:p>
        </p:txBody>
      </p:sp>
    </p:spTree>
    <p:extLst>
      <p:ext uri="{BB962C8B-B14F-4D97-AF65-F5344CB8AC3E}">
        <p14:creationId xmlns:p14="http://schemas.microsoft.com/office/powerpoint/2010/main" val="1738432866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GB" dirty="0"/>
              <a:t>Waterfall Model</a:t>
            </a:r>
            <a:endParaRPr lang="en-US" sz="2800" dirty="0"/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One of the first process development models proposed</a:t>
            </a:r>
          </a:p>
          <a:p>
            <a: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Works for well understood problems with minimal or no changes in the requirements </a:t>
            </a:r>
          </a:p>
          <a:p>
            <a: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Simple and easy to explain to customers</a:t>
            </a:r>
          </a:p>
          <a:p>
            <a: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It presents </a:t>
            </a:r>
          </a:p>
          <a:p>
            <a:pPr lvl="1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a very high-level view of the development process</a:t>
            </a:r>
          </a:p>
          <a:p>
            <a:pPr lvl="1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sequence of process activities </a:t>
            </a:r>
          </a:p>
          <a:p>
            <a: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Each major phase is marked by milestones and deliverables (artefacts)</a:t>
            </a:r>
          </a:p>
        </p:txBody>
      </p:sp>
    </p:spTree>
    <p:extLst>
      <p:ext uri="{BB962C8B-B14F-4D97-AF65-F5344CB8AC3E}">
        <p14:creationId xmlns:p14="http://schemas.microsoft.com/office/powerpoint/2010/main" val="944452394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GB" dirty="0"/>
              <a:t>Waterfall Model (Contd.)</a:t>
            </a:r>
            <a:endParaRPr lang="en-US" sz="2800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Picture 1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00400" y="1981200"/>
            <a:ext cx="6781800" cy="4775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407460568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GB" dirty="0"/>
              <a:t>Waterfall Model (Contd.)</a:t>
            </a:r>
            <a:endParaRPr lang="en-US" sz="2800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" name="Picture 1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029200" y="2846388"/>
            <a:ext cx="5334000" cy="3630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1981200" y="2438400"/>
            <a:ext cx="8229600" cy="388620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marL="274320" indent="-274320">
              <a:spcBef>
                <a:spcPct val="20000"/>
              </a:spcBef>
              <a:buClr>
                <a:schemeClr val="accent3"/>
              </a:buClr>
              <a:buSzPct val="95000"/>
              <a:buFont typeface="Wingdings 2"/>
              <a:buChar char="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600" dirty="0"/>
              <a:t>Uncontrolled Software Development Process</a:t>
            </a:r>
          </a:p>
          <a:p>
            <a:pPr marL="274320" indent="-274320">
              <a:spcBef>
                <a:spcPct val="20000"/>
              </a:spcBef>
              <a:buClr>
                <a:schemeClr val="accent3"/>
              </a:buClr>
              <a:buSzPct val="95000"/>
              <a:buFont typeface="Wingdings 2"/>
              <a:buChar char="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600" dirty="0"/>
              <a:t>No Iterations in WF</a:t>
            </a:r>
          </a:p>
        </p:txBody>
      </p:sp>
    </p:spTree>
    <p:extLst>
      <p:ext uri="{BB962C8B-B14F-4D97-AF65-F5344CB8AC3E}">
        <p14:creationId xmlns:p14="http://schemas.microsoft.com/office/powerpoint/2010/main" val="3515071295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GB" dirty="0"/>
              <a:t>Waterfall Model (Contd.)</a:t>
            </a:r>
            <a:endParaRPr lang="en-US" sz="2800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1981200" y="2438400"/>
            <a:ext cx="8229600" cy="3886200"/>
          </a:xfrm>
          <a:prstGeom prst="rect">
            <a:avLst/>
          </a:prstGeom>
        </p:spPr>
        <p:txBody>
          <a:bodyPr vert="horz">
            <a:normAutofit fontScale="92500" lnSpcReduction="20000"/>
          </a:bodyPr>
          <a:lstStyle/>
          <a:p>
            <a:pPr marL="274320" indent="-274320">
              <a:spcBef>
                <a:spcPct val="20000"/>
              </a:spcBef>
              <a:buClr>
                <a:schemeClr val="accent3"/>
              </a:buClr>
              <a:buSzPct val="95000"/>
              <a:buFont typeface="Wingdings 2"/>
              <a:buChar char="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800" dirty="0"/>
              <a:t>Provides no guidance how to handle changes to products and activities during development (assumes requirements can be frozen)</a:t>
            </a:r>
          </a:p>
          <a:p>
            <a:pPr marL="274320" indent="-274320">
              <a:spcBef>
                <a:spcPct val="20000"/>
              </a:spcBef>
              <a:buClr>
                <a:schemeClr val="accent3"/>
              </a:buClr>
              <a:buSzPct val="95000"/>
              <a:buFont typeface="Wingdings 2"/>
              <a:buChar char="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800" dirty="0"/>
              <a:t>Views software development as manufacturing process rather than as creative process</a:t>
            </a:r>
          </a:p>
          <a:p>
            <a:pPr marL="274320" indent="-274320">
              <a:spcBef>
                <a:spcPct val="20000"/>
              </a:spcBef>
              <a:buClr>
                <a:schemeClr val="accent3"/>
              </a:buClr>
              <a:buSzPct val="95000"/>
              <a:buFont typeface="Wingdings 2"/>
              <a:buChar char="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800" dirty="0"/>
              <a:t>There is no iterative activities that lead to creating a final product</a:t>
            </a:r>
          </a:p>
          <a:p>
            <a:pPr marL="274320" indent="-274320">
              <a:spcBef>
                <a:spcPct val="20000"/>
              </a:spcBef>
              <a:buClr>
                <a:schemeClr val="accent3"/>
              </a:buClr>
              <a:buSzPct val="95000"/>
              <a:buFont typeface="Wingdings 2"/>
              <a:buChar char="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800" dirty="0"/>
              <a:t>Long wait before a final product</a:t>
            </a:r>
          </a:p>
          <a:p>
            <a:pPr marL="274320" indent="-274320">
              <a:spcBef>
                <a:spcPct val="20000"/>
              </a:spcBef>
              <a:buClr>
                <a:schemeClr val="accent3"/>
              </a:buClr>
              <a:buSzPct val="95000"/>
              <a:buFont typeface="Wingdings 2"/>
              <a:buChar char="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800" dirty="0"/>
              <a:t>Generates lots of documentation</a:t>
            </a:r>
          </a:p>
          <a:p>
            <a:pPr marL="274320" indent="-274320">
              <a:spcBef>
                <a:spcPct val="20000"/>
              </a:spcBef>
              <a:buClr>
                <a:schemeClr val="accent3"/>
              </a:buClr>
              <a:buSzPct val="95000"/>
              <a:buFont typeface="Wingdings 2"/>
              <a:buChar char="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800" dirty="0"/>
              <a:t>Suitable for large projects</a:t>
            </a:r>
          </a:p>
          <a:p>
            <a:pPr marL="731520" lvl="1" indent="-274320">
              <a:spcBef>
                <a:spcPct val="20000"/>
              </a:spcBef>
              <a:buClr>
                <a:schemeClr val="accent3"/>
              </a:buClr>
              <a:buSzPct val="95000"/>
              <a:buFont typeface="Wingdings 2"/>
              <a:buChar char="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sz="2600" dirty="0"/>
          </a:p>
        </p:txBody>
      </p:sp>
    </p:spTree>
    <p:extLst>
      <p:ext uri="{BB962C8B-B14F-4D97-AF65-F5344CB8AC3E}">
        <p14:creationId xmlns:p14="http://schemas.microsoft.com/office/powerpoint/2010/main" val="1630459441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GB" dirty="0"/>
              <a:t>Waterfall Model with Prototyping</a:t>
            </a:r>
            <a:endParaRPr lang="en-US" sz="2800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1981200" y="2438400"/>
            <a:ext cx="8229600" cy="388620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marL="274320" indent="-274320">
              <a:spcBef>
                <a:spcPct val="20000"/>
              </a:spcBef>
              <a:buClr>
                <a:schemeClr val="accent3"/>
              </a:buClr>
              <a:buSzPct val="95000"/>
              <a:buFont typeface="Wingdings 2"/>
              <a:buChar char="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800" dirty="0"/>
              <a:t>A prototype is a partially developed product</a:t>
            </a:r>
          </a:p>
          <a:p>
            <a:pPr marL="274320" indent="-274320">
              <a:spcBef>
                <a:spcPct val="20000"/>
              </a:spcBef>
              <a:buClr>
                <a:schemeClr val="accent3"/>
              </a:buClr>
              <a:buSzPct val="95000"/>
              <a:buFont typeface="Wingdings 2"/>
              <a:buChar char="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800" dirty="0"/>
              <a:t>Prototyping helps</a:t>
            </a:r>
          </a:p>
          <a:p>
            <a:pPr marL="640080" lvl="1" indent="-246888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Char char="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400" dirty="0"/>
              <a:t>developers assess alternative design strategies (design prototype)</a:t>
            </a:r>
          </a:p>
          <a:p>
            <a:pPr marL="640080" lvl="1" indent="-246888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Char char="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400" dirty="0"/>
              <a:t>users understand what the system will be like (user interface prototype)</a:t>
            </a:r>
          </a:p>
          <a:p>
            <a:pPr marL="274320" indent="-274320">
              <a:spcBef>
                <a:spcPct val="20000"/>
              </a:spcBef>
              <a:buClr>
                <a:schemeClr val="accent3"/>
              </a:buClr>
              <a:buSzPct val="95000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endParaRPr lang="en-GB" sz="2800" dirty="0"/>
          </a:p>
          <a:p>
            <a:pPr marL="731520" lvl="1" indent="-274320">
              <a:spcBef>
                <a:spcPct val="20000"/>
              </a:spcBef>
              <a:buClr>
                <a:schemeClr val="accent3"/>
              </a:buClr>
              <a:buSzPct val="95000"/>
              <a:buFont typeface="Wingdings 2"/>
              <a:buChar char="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sz="2600" dirty="0"/>
          </a:p>
        </p:txBody>
      </p:sp>
    </p:spTree>
    <p:extLst>
      <p:ext uri="{BB962C8B-B14F-4D97-AF65-F5344CB8AC3E}">
        <p14:creationId xmlns:p14="http://schemas.microsoft.com/office/powerpoint/2010/main" val="3600200883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 is a Good Software Product?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838200" y="2347952"/>
            <a:ext cx="3554506" cy="3828865"/>
          </a:xfrm>
        </p:spPr>
        <p:txBody>
          <a:bodyPr/>
          <a:lstStyle/>
          <a:p>
            <a:r>
              <a:rPr lang="en-US" dirty="0"/>
              <a:t>McCall’s Quality Model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F40D995-F4EC-4842-B30B-78F92B7A3572}"/>
              </a:ext>
            </a:extLst>
          </p:cNvPr>
          <p:cNvSpPr/>
          <p:nvPr/>
        </p:nvSpPr>
        <p:spPr>
          <a:xfrm>
            <a:off x="4512242" y="1494586"/>
            <a:ext cx="1893456" cy="29181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Correctness</a:t>
            </a:r>
            <a:endParaRPr kumimoji="0" lang="en-PK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BCD106F-00F3-4D40-979B-38D56ADE9E3B}"/>
              </a:ext>
            </a:extLst>
          </p:cNvPr>
          <p:cNvSpPr/>
          <p:nvPr/>
        </p:nvSpPr>
        <p:spPr>
          <a:xfrm>
            <a:off x="4512240" y="1921342"/>
            <a:ext cx="1893456" cy="29181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Reliability</a:t>
            </a:r>
            <a:endParaRPr kumimoji="0" lang="en-PK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AE4BA49-A7AF-4D24-A264-3DDC70913741}"/>
              </a:ext>
            </a:extLst>
          </p:cNvPr>
          <p:cNvSpPr/>
          <p:nvPr/>
        </p:nvSpPr>
        <p:spPr>
          <a:xfrm>
            <a:off x="4512240" y="2347953"/>
            <a:ext cx="1893456" cy="29181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Efficiency</a:t>
            </a:r>
            <a:endParaRPr kumimoji="0" lang="en-PK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5E2BF53-A04F-4342-BF9B-C0D103CD7611}"/>
              </a:ext>
            </a:extLst>
          </p:cNvPr>
          <p:cNvSpPr/>
          <p:nvPr/>
        </p:nvSpPr>
        <p:spPr>
          <a:xfrm>
            <a:off x="4512240" y="2772262"/>
            <a:ext cx="1893456" cy="29181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Integrity</a:t>
            </a:r>
            <a:endParaRPr kumimoji="0" lang="en-PK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75AE193-9610-48FF-AF80-44A26FAFCBD6}"/>
              </a:ext>
            </a:extLst>
          </p:cNvPr>
          <p:cNvSpPr/>
          <p:nvPr/>
        </p:nvSpPr>
        <p:spPr>
          <a:xfrm>
            <a:off x="4512240" y="3170865"/>
            <a:ext cx="1893456" cy="29181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Usability</a:t>
            </a:r>
            <a:endParaRPr kumimoji="0" lang="en-PK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CA6FF22-AADA-44F4-BF61-D177F5ADAB5B}"/>
              </a:ext>
            </a:extLst>
          </p:cNvPr>
          <p:cNvSpPr/>
          <p:nvPr/>
        </p:nvSpPr>
        <p:spPr>
          <a:xfrm>
            <a:off x="4512238" y="3597621"/>
            <a:ext cx="1893456" cy="29181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Maintainability</a:t>
            </a:r>
            <a:endParaRPr kumimoji="0" lang="en-PK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ECEB6E7-EC5A-4F8C-A243-65D7BA143E76}"/>
              </a:ext>
            </a:extLst>
          </p:cNvPr>
          <p:cNvSpPr/>
          <p:nvPr/>
        </p:nvSpPr>
        <p:spPr>
          <a:xfrm>
            <a:off x="4512238" y="4024232"/>
            <a:ext cx="1893456" cy="29181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Testability</a:t>
            </a:r>
            <a:endParaRPr kumimoji="0" lang="en-PK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13F2AB8-7DB1-4BE0-B048-04F2C0E88775}"/>
              </a:ext>
            </a:extLst>
          </p:cNvPr>
          <p:cNvSpPr/>
          <p:nvPr/>
        </p:nvSpPr>
        <p:spPr>
          <a:xfrm>
            <a:off x="4512238" y="4448541"/>
            <a:ext cx="1893456" cy="29181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Flexibility</a:t>
            </a:r>
            <a:endParaRPr kumimoji="0" lang="en-PK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91BFFA5-3D8E-4D6C-9E64-5AE9EF68F63D}"/>
              </a:ext>
            </a:extLst>
          </p:cNvPr>
          <p:cNvSpPr/>
          <p:nvPr/>
        </p:nvSpPr>
        <p:spPr>
          <a:xfrm>
            <a:off x="4512238" y="4870357"/>
            <a:ext cx="1893456" cy="29181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Portability</a:t>
            </a:r>
            <a:endParaRPr kumimoji="0" lang="en-PK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47C4D2D-24AC-448F-B527-A7DE819C6BC6}"/>
              </a:ext>
            </a:extLst>
          </p:cNvPr>
          <p:cNvSpPr/>
          <p:nvPr/>
        </p:nvSpPr>
        <p:spPr>
          <a:xfrm>
            <a:off x="4512236" y="5297113"/>
            <a:ext cx="1893456" cy="29181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Reusability</a:t>
            </a:r>
            <a:endParaRPr kumimoji="0" lang="en-PK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0E0B316-291E-4D8A-9CD9-92E7FFFEA97C}"/>
              </a:ext>
            </a:extLst>
          </p:cNvPr>
          <p:cNvSpPr/>
          <p:nvPr/>
        </p:nvSpPr>
        <p:spPr>
          <a:xfrm>
            <a:off x="4512236" y="5723724"/>
            <a:ext cx="1893456" cy="29181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Interoperability</a:t>
            </a:r>
            <a:endParaRPr kumimoji="0" lang="en-PK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A6E11ED-3DB0-4904-9170-3CC1A9A2BA6D}"/>
              </a:ext>
            </a:extLst>
          </p:cNvPr>
          <p:cNvSpPr/>
          <p:nvPr/>
        </p:nvSpPr>
        <p:spPr>
          <a:xfrm>
            <a:off x="9155548" y="840509"/>
            <a:ext cx="2731656" cy="1881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Traceability</a:t>
            </a:r>
            <a:endParaRPr kumimoji="0" lang="en-PK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6BBD9B2-7A34-4CBB-93B6-7EF90AB4C62E}"/>
              </a:ext>
            </a:extLst>
          </p:cNvPr>
          <p:cNvSpPr/>
          <p:nvPr/>
        </p:nvSpPr>
        <p:spPr>
          <a:xfrm>
            <a:off x="9155548" y="1092654"/>
            <a:ext cx="2731656" cy="1881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Completeness</a:t>
            </a:r>
            <a:endParaRPr kumimoji="0" lang="en-PK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B13FB7B-E768-4AB7-85F9-8FF92C4406F5}"/>
              </a:ext>
            </a:extLst>
          </p:cNvPr>
          <p:cNvSpPr/>
          <p:nvPr/>
        </p:nvSpPr>
        <p:spPr>
          <a:xfrm>
            <a:off x="9155548" y="1346069"/>
            <a:ext cx="2731656" cy="1881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Consistency</a:t>
            </a:r>
            <a:endParaRPr kumimoji="0" lang="en-PK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49D622C-E14F-440C-8B30-88DC4367E798}"/>
              </a:ext>
            </a:extLst>
          </p:cNvPr>
          <p:cNvSpPr/>
          <p:nvPr/>
        </p:nvSpPr>
        <p:spPr>
          <a:xfrm>
            <a:off x="9155548" y="1598214"/>
            <a:ext cx="2731656" cy="1881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Accuracy</a:t>
            </a:r>
            <a:endParaRPr kumimoji="0" lang="en-PK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9DEF309-B05E-4711-B7A5-691E44A79162}"/>
              </a:ext>
            </a:extLst>
          </p:cNvPr>
          <p:cNvSpPr/>
          <p:nvPr/>
        </p:nvSpPr>
        <p:spPr>
          <a:xfrm>
            <a:off x="9155548" y="1850359"/>
            <a:ext cx="2731656" cy="1881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Error Tolerance</a:t>
            </a:r>
            <a:endParaRPr kumimoji="0" lang="en-PK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67FED78-97AB-4AF2-8633-31ABE5E69D6D}"/>
              </a:ext>
            </a:extLst>
          </p:cNvPr>
          <p:cNvSpPr/>
          <p:nvPr/>
        </p:nvSpPr>
        <p:spPr>
          <a:xfrm>
            <a:off x="9155548" y="2102504"/>
            <a:ext cx="2731656" cy="1881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Execution Efficiency</a:t>
            </a:r>
            <a:endParaRPr kumimoji="0" lang="en-PK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5F5BB86-2A24-4BE7-8245-F1CF535A8CDC}"/>
              </a:ext>
            </a:extLst>
          </p:cNvPr>
          <p:cNvSpPr/>
          <p:nvPr/>
        </p:nvSpPr>
        <p:spPr>
          <a:xfrm>
            <a:off x="9155548" y="2355919"/>
            <a:ext cx="2731656" cy="1881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Storage Efficiency</a:t>
            </a:r>
            <a:endParaRPr kumimoji="0" lang="en-PK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EED59E4-14BB-4BF1-BD84-DD27602851FA}"/>
              </a:ext>
            </a:extLst>
          </p:cNvPr>
          <p:cNvSpPr/>
          <p:nvPr/>
        </p:nvSpPr>
        <p:spPr>
          <a:xfrm>
            <a:off x="9155548" y="2608064"/>
            <a:ext cx="2731656" cy="1881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Access Control</a:t>
            </a:r>
            <a:endParaRPr kumimoji="0" lang="en-PK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971709F-D32E-4AF5-B6D8-203FB0DC6DB8}"/>
              </a:ext>
            </a:extLst>
          </p:cNvPr>
          <p:cNvSpPr/>
          <p:nvPr/>
        </p:nvSpPr>
        <p:spPr>
          <a:xfrm>
            <a:off x="9155548" y="2860621"/>
            <a:ext cx="2731656" cy="1881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Access Audit</a:t>
            </a:r>
            <a:endParaRPr kumimoji="0" lang="en-PK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974B085-7C15-4CD6-9F88-80B9B5EAC8CC}"/>
              </a:ext>
            </a:extLst>
          </p:cNvPr>
          <p:cNvSpPr/>
          <p:nvPr/>
        </p:nvSpPr>
        <p:spPr>
          <a:xfrm>
            <a:off x="9155548" y="3112766"/>
            <a:ext cx="2731656" cy="1881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Operability</a:t>
            </a:r>
            <a:endParaRPr kumimoji="0" lang="en-PK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54742CF-A3EB-41B5-B683-0C4F2FEAC755}"/>
              </a:ext>
            </a:extLst>
          </p:cNvPr>
          <p:cNvSpPr/>
          <p:nvPr/>
        </p:nvSpPr>
        <p:spPr>
          <a:xfrm>
            <a:off x="9155548" y="3366181"/>
            <a:ext cx="2731656" cy="1881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Training</a:t>
            </a:r>
            <a:endParaRPr kumimoji="0" lang="en-PK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607BFD1-83E8-4936-9B2D-B752DCBEF4AF}"/>
              </a:ext>
            </a:extLst>
          </p:cNvPr>
          <p:cNvSpPr/>
          <p:nvPr/>
        </p:nvSpPr>
        <p:spPr>
          <a:xfrm>
            <a:off x="9155548" y="3618326"/>
            <a:ext cx="2731656" cy="1881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Communicativeness</a:t>
            </a:r>
            <a:endParaRPr kumimoji="0" lang="en-PK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0B58B35-E36B-41DA-8B4C-D78F253B873D}"/>
              </a:ext>
            </a:extLst>
          </p:cNvPr>
          <p:cNvSpPr/>
          <p:nvPr/>
        </p:nvSpPr>
        <p:spPr>
          <a:xfrm>
            <a:off x="9155548" y="3870471"/>
            <a:ext cx="2731656" cy="1881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Simplicity</a:t>
            </a:r>
            <a:endParaRPr kumimoji="0" lang="en-PK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FDCF2AE-082D-408D-AD09-000FFB4784D6}"/>
              </a:ext>
            </a:extLst>
          </p:cNvPr>
          <p:cNvSpPr/>
          <p:nvPr/>
        </p:nvSpPr>
        <p:spPr>
          <a:xfrm>
            <a:off x="9155548" y="4122616"/>
            <a:ext cx="2731656" cy="1881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Conciseness</a:t>
            </a:r>
            <a:endParaRPr kumimoji="0" lang="en-PK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C315338-330C-4C72-8B27-1EA0F120CB9E}"/>
              </a:ext>
            </a:extLst>
          </p:cNvPr>
          <p:cNvSpPr/>
          <p:nvPr/>
        </p:nvSpPr>
        <p:spPr>
          <a:xfrm>
            <a:off x="9155548" y="4376031"/>
            <a:ext cx="2731656" cy="1881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Instrumentation</a:t>
            </a:r>
            <a:endParaRPr kumimoji="0" lang="en-PK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51D766D-843F-4FFD-87E0-C98F63DD5F65}"/>
              </a:ext>
            </a:extLst>
          </p:cNvPr>
          <p:cNvSpPr/>
          <p:nvPr/>
        </p:nvSpPr>
        <p:spPr>
          <a:xfrm>
            <a:off x="9155548" y="4628176"/>
            <a:ext cx="2731656" cy="1881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Self-descriptiveness</a:t>
            </a:r>
            <a:endParaRPr kumimoji="0" lang="en-PK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FFDD3E7-A074-4919-AD2D-4C26AB5B30FB}"/>
              </a:ext>
            </a:extLst>
          </p:cNvPr>
          <p:cNvSpPr/>
          <p:nvPr/>
        </p:nvSpPr>
        <p:spPr>
          <a:xfrm>
            <a:off x="9155548" y="4880321"/>
            <a:ext cx="2731656" cy="1881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Expandability</a:t>
            </a:r>
            <a:endParaRPr kumimoji="0" lang="en-PK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C866E34-39A8-4416-84E2-B1199B389823}"/>
              </a:ext>
            </a:extLst>
          </p:cNvPr>
          <p:cNvSpPr/>
          <p:nvPr/>
        </p:nvSpPr>
        <p:spPr>
          <a:xfrm>
            <a:off x="9155548" y="5132466"/>
            <a:ext cx="2731656" cy="1881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Generality</a:t>
            </a:r>
            <a:endParaRPr kumimoji="0" lang="en-PK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0763F49-376D-4177-9790-A85CD07748E8}"/>
              </a:ext>
            </a:extLst>
          </p:cNvPr>
          <p:cNvSpPr/>
          <p:nvPr/>
        </p:nvSpPr>
        <p:spPr>
          <a:xfrm>
            <a:off x="9155548" y="5385881"/>
            <a:ext cx="2731656" cy="1881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Modularity</a:t>
            </a:r>
            <a:endParaRPr kumimoji="0" lang="en-PK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13100A03-295C-4C55-BFB1-82890EF7F308}"/>
              </a:ext>
            </a:extLst>
          </p:cNvPr>
          <p:cNvSpPr/>
          <p:nvPr/>
        </p:nvSpPr>
        <p:spPr>
          <a:xfrm>
            <a:off x="9155548" y="5638026"/>
            <a:ext cx="2731656" cy="1881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Software System Independence</a:t>
            </a:r>
            <a:endParaRPr kumimoji="0" lang="en-PK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224B819-B9C3-41C1-B5A7-173CBD35BD5B}"/>
              </a:ext>
            </a:extLst>
          </p:cNvPr>
          <p:cNvSpPr/>
          <p:nvPr/>
        </p:nvSpPr>
        <p:spPr>
          <a:xfrm>
            <a:off x="9155548" y="5890171"/>
            <a:ext cx="2731656" cy="1881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Machine Independence</a:t>
            </a:r>
            <a:endParaRPr kumimoji="0" lang="en-PK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F681CF82-8089-4AD7-8FF4-131B86266AB4}"/>
              </a:ext>
            </a:extLst>
          </p:cNvPr>
          <p:cNvSpPr/>
          <p:nvPr/>
        </p:nvSpPr>
        <p:spPr>
          <a:xfrm>
            <a:off x="9155548" y="6142316"/>
            <a:ext cx="2731656" cy="1881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Communications Commonality</a:t>
            </a:r>
            <a:endParaRPr kumimoji="0" lang="en-PK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A028AF5F-A9EE-420A-B4E3-624867133507}"/>
              </a:ext>
            </a:extLst>
          </p:cNvPr>
          <p:cNvSpPr/>
          <p:nvPr/>
        </p:nvSpPr>
        <p:spPr>
          <a:xfrm>
            <a:off x="9155548" y="6395731"/>
            <a:ext cx="2731656" cy="1881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Data Commonality</a:t>
            </a:r>
            <a:endParaRPr kumimoji="0" lang="en-PK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616D2DCA-28B0-4631-9CC0-722B985A9A84}"/>
              </a:ext>
            </a:extLst>
          </p:cNvPr>
          <p:cNvCxnSpPr>
            <a:stCxn id="22" idx="1"/>
            <a:endCxn id="2" idx="3"/>
          </p:cNvCxnSpPr>
          <p:nvPr/>
        </p:nvCxnSpPr>
        <p:spPr>
          <a:xfrm flipH="1">
            <a:off x="6405698" y="934605"/>
            <a:ext cx="2749850" cy="7058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55813C35-0B1A-4C56-951D-5C8E9AA8C0CD}"/>
              </a:ext>
            </a:extLst>
          </p:cNvPr>
          <p:cNvCxnSpPr>
            <a:stCxn id="24" idx="1"/>
            <a:endCxn id="2" idx="3"/>
          </p:cNvCxnSpPr>
          <p:nvPr/>
        </p:nvCxnSpPr>
        <p:spPr>
          <a:xfrm flipH="1">
            <a:off x="6405698" y="1186750"/>
            <a:ext cx="2749850" cy="4537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8A7D709E-5B42-4982-9722-07903B03576B}"/>
              </a:ext>
            </a:extLst>
          </p:cNvPr>
          <p:cNvCxnSpPr>
            <a:stCxn id="25" idx="1"/>
            <a:endCxn id="2" idx="3"/>
          </p:cNvCxnSpPr>
          <p:nvPr/>
        </p:nvCxnSpPr>
        <p:spPr>
          <a:xfrm flipH="1">
            <a:off x="6405698" y="1440165"/>
            <a:ext cx="2749850" cy="2003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E52C1797-51D4-4943-8C5B-88312F112EF3}"/>
              </a:ext>
            </a:extLst>
          </p:cNvPr>
          <p:cNvCxnSpPr>
            <a:stCxn id="25" idx="1"/>
            <a:endCxn id="7" idx="3"/>
          </p:cNvCxnSpPr>
          <p:nvPr/>
        </p:nvCxnSpPr>
        <p:spPr>
          <a:xfrm flipH="1">
            <a:off x="6405696" y="1440165"/>
            <a:ext cx="2749852" cy="6270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6CCDCB47-E661-4FA2-908A-02C320F8A222}"/>
              </a:ext>
            </a:extLst>
          </p:cNvPr>
          <p:cNvCxnSpPr>
            <a:stCxn id="26" idx="1"/>
            <a:endCxn id="7" idx="3"/>
          </p:cNvCxnSpPr>
          <p:nvPr/>
        </p:nvCxnSpPr>
        <p:spPr>
          <a:xfrm flipH="1">
            <a:off x="6405696" y="1692310"/>
            <a:ext cx="2749852" cy="3749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36541EE0-5C7E-4198-81C5-8975DF11E014}"/>
              </a:ext>
            </a:extLst>
          </p:cNvPr>
          <p:cNvCxnSpPr>
            <a:stCxn id="27" idx="1"/>
            <a:endCxn id="7" idx="3"/>
          </p:cNvCxnSpPr>
          <p:nvPr/>
        </p:nvCxnSpPr>
        <p:spPr>
          <a:xfrm flipH="1">
            <a:off x="6405696" y="1944455"/>
            <a:ext cx="2749852" cy="1227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CEA764A5-8514-4DFC-93B8-112AEA948A6C}"/>
              </a:ext>
            </a:extLst>
          </p:cNvPr>
          <p:cNvCxnSpPr>
            <a:stCxn id="28" idx="1"/>
            <a:endCxn id="8" idx="3"/>
          </p:cNvCxnSpPr>
          <p:nvPr/>
        </p:nvCxnSpPr>
        <p:spPr>
          <a:xfrm flipH="1">
            <a:off x="6405696" y="2196600"/>
            <a:ext cx="2749852" cy="2972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2E106C76-C718-42C8-BFBF-9F7498622C69}"/>
              </a:ext>
            </a:extLst>
          </p:cNvPr>
          <p:cNvCxnSpPr>
            <a:stCxn id="29" idx="1"/>
            <a:endCxn id="8" idx="3"/>
          </p:cNvCxnSpPr>
          <p:nvPr/>
        </p:nvCxnSpPr>
        <p:spPr>
          <a:xfrm flipH="1">
            <a:off x="6405696" y="2450015"/>
            <a:ext cx="2749852" cy="438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8106A31B-A34C-4A46-91E0-21A97A673C9B}"/>
              </a:ext>
            </a:extLst>
          </p:cNvPr>
          <p:cNvCxnSpPr>
            <a:stCxn id="30" idx="1"/>
            <a:endCxn id="9" idx="3"/>
          </p:cNvCxnSpPr>
          <p:nvPr/>
        </p:nvCxnSpPr>
        <p:spPr>
          <a:xfrm flipH="1">
            <a:off x="6405696" y="2702160"/>
            <a:ext cx="2749852" cy="2160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84D4A8F3-2CF2-4F8D-A11B-B85414A6D3A1}"/>
              </a:ext>
            </a:extLst>
          </p:cNvPr>
          <p:cNvCxnSpPr>
            <a:stCxn id="31" idx="1"/>
            <a:endCxn id="9" idx="3"/>
          </p:cNvCxnSpPr>
          <p:nvPr/>
        </p:nvCxnSpPr>
        <p:spPr>
          <a:xfrm flipH="1" flipV="1">
            <a:off x="6405696" y="2918172"/>
            <a:ext cx="2749852" cy="365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6F3AD9F2-6D90-4EF8-991C-81A47D1E5369}"/>
              </a:ext>
            </a:extLst>
          </p:cNvPr>
          <p:cNvCxnSpPr>
            <a:stCxn id="32" idx="1"/>
            <a:endCxn id="14" idx="3"/>
          </p:cNvCxnSpPr>
          <p:nvPr/>
        </p:nvCxnSpPr>
        <p:spPr>
          <a:xfrm flipH="1">
            <a:off x="6405696" y="3206862"/>
            <a:ext cx="2749852" cy="1099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C593A4E5-034F-42C2-9B6F-3939743CE0FC}"/>
              </a:ext>
            </a:extLst>
          </p:cNvPr>
          <p:cNvCxnSpPr>
            <a:stCxn id="33" idx="1"/>
            <a:endCxn id="14" idx="3"/>
          </p:cNvCxnSpPr>
          <p:nvPr/>
        </p:nvCxnSpPr>
        <p:spPr>
          <a:xfrm flipH="1" flipV="1">
            <a:off x="6405696" y="3316775"/>
            <a:ext cx="2749852" cy="14350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A685DD73-2269-47D4-9838-09050A2DEFF8}"/>
              </a:ext>
            </a:extLst>
          </p:cNvPr>
          <p:cNvCxnSpPr>
            <a:stCxn id="34" idx="1"/>
            <a:endCxn id="14" idx="3"/>
          </p:cNvCxnSpPr>
          <p:nvPr/>
        </p:nvCxnSpPr>
        <p:spPr>
          <a:xfrm flipH="1" flipV="1">
            <a:off x="6405696" y="3316775"/>
            <a:ext cx="2749852" cy="3956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3867FA86-C2E9-49CF-B352-B82C0347CBB6}"/>
              </a:ext>
            </a:extLst>
          </p:cNvPr>
          <p:cNvCxnSpPr>
            <a:stCxn id="35" idx="1"/>
            <a:endCxn id="15" idx="3"/>
          </p:cNvCxnSpPr>
          <p:nvPr/>
        </p:nvCxnSpPr>
        <p:spPr>
          <a:xfrm flipH="1" flipV="1">
            <a:off x="6405694" y="3743531"/>
            <a:ext cx="2749854" cy="2210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C27F8340-4019-45B6-9087-9D6EC83CDA13}"/>
              </a:ext>
            </a:extLst>
          </p:cNvPr>
          <p:cNvCxnSpPr>
            <a:stCxn id="35" idx="1"/>
            <a:endCxn id="16" idx="3"/>
          </p:cNvCxnSpPr>
          <p:nvPr/>
        </p:nvCxnSpPr>
        <p:spPr>
          <a:xfrm flipH="1">
            <a:off x="6405694" y="3964567"/>
            <a:ext cx="2749854" cy="2055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2CB5C4F8-0BC9-4381-B08A-11A54B995C55}"/>
              </a:ext>
            </a:extLst>
          </p:cNvPr>
          <p:cNvCxnSpPr>
            <a:stCxn id="35" idx="1"/>
            <a:endCxn id="17" idx="3"/>
          </p:cNvCxnSpPr>
          <p:nvPr/>
        </p:nvCxnSpPr>
        <p:spPr>
          <a:xfrm flipH="1">
            <a:off x="6405694" y="3964567"/>
            <a:ext cx="2749854" cy="6298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B9872E06-E111-46D5-A52D-C8ACB2865CCB}"/>
              </a:ext>
            </a:extLst>
          </p:cNvPr>
          <p:cNvCxnSpPr>
            <a:stCxn id="35" idx="1"/>
            <a:endCxn id="18" idx="3"/>
          </p:cNvCxnSpPr>
          <p:nvPr/>
        </p:nvCxnSpPr>
        <p:spPr>
          <a:xfrm flipH="1">
            <a:off x="6405694" y="3964567"/>
            <a:ext cx="2749854" cy="10517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BA2F99B4-25F8-40E5-96DF-9EF174635235}"/>
              </a:ext>
            </a:extLst>
          </p:cNvPr>
          <p:cNvCxnSpPr>
            <a:stCxn id="35" idx="1"/>
            <a:endCxn id="19" idx="3"/>
          </p:cNvCxnSpPr>
          <p:nvPr/>
        </p:nvCxnSpPr>
        <p:spPr>
          <a:xfrm flipH="1">
            <a:off x="6405692" y="3964567"/>
            <a:ext cx="2749856" cy="14784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500C6668-5226-4E77-A10D-A4E26BCD518E}"/>
              </a:ext>
            </a:extLst>
          </p:cNvPr>
          <p:cNvCxnSpPr>
            <a:stCxn id="36" idx="1"/>
            <a:endCxn id="15" idx="3"/>
          </p:cNvCxnSpPr>
          <p:nvPr/>
        </p:nvCxnSpPr>
        <p:spPr>
          <a:xfrm flipH="1" flipV="1">
            <a:off x="6405694" y="3743531"/>
            <a:ext cx="2749854" cy="4731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7273B353-A770-4B10-A9CC-3ABAFD1EF09D}"/>
              </a:ext>
            </a:extLst>
          </p:cNvPr>
          <p:cNvCxnSpPr>
            <a:stCxn id="37" idx="1"/>
            <a:endCxn id="16" idx="3"/>
          </p:cNvCxnSpPr>
          <p:nvPr/>
        </p:nvCxnSpPr>
        <p:spPr>
          <a:xfrm flipH="1" flipV="1">
            <a:off x="6405694" y="4170142"/>
            <a:ext cx="2749854" cy="2999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A50E9EB5-5B70-4FF8-971D-BEBBC767A720}"/>
              </a:ext>
            </a:extLst>
          </p:cNvPr>
          <p:cNvCxnSpPr>
            <a:stCxn id="38" idx="1"/>
            <a:endCxn id="15" idx="3"/>
          </p:cNvCxnSpPr>
          <p:nvPr/>
        </p:nvCxnSpPr>
        <p:spPr>
          <a:xfrm flipH="1" flipV="1">
            <a:off x="6405694" y="3743531"/>
            <a:ext cx="2749854" cy="9787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11862034-A81B-442F-A95C-AB6D703DC625}"/>
              </a:ext>
            </a:extLst>
          </p:cNvPr>
          <p:cNvCxnSpPr>
            <a:stCxn id="38" idx="1"/>
            <a:endCxn id="16" idx="3"/>
          </p:cNvCxnSpPr>
          <p:nvPr/>
        </p:nvCxnSpPr>
        <p:spPr>
          <a:xfrm flipH="1" flipV="1">
            <a:off x="6405694" y="4170142"/>
            <a:ext cx="2749854" cy="5521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16685EF9-9C6A-489F-95E0-485486CDEE23}"/>
              </a:ext>
            </a:extLst>
          </p:cNvPr>
          <p:cNvCxnSpPr>
            <a:stCxn id="39" idx="1"/>
            <a:endCxn id="17" idx="3"/>
          </p:cNvCxnSpPr>
          <p:nvPr/>
        </p:nvCxnSpPr>
        <p:spPr>
          <a:xfrm flipH="1" flipV="1">
            <a:off x="6405694" y="4594451"/>
            <a:ext cx="2749854" cy="3799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8EB29AC1-167C-47DE-B885-B8BA0665C515}"/>
              </a:ext>
            </a:extLst>
          </p:cNvPr>
          <p:cNvCxnSpPr>
            <a:stCxn id="40" idx="1"/>
            <a:endCxn id="17" idx="3"/>
          </p:cNvCxnSpPr>
          <p:nvPr/>
        </p:nvCxnSpPr>
        <p:spPr>
          <a:xfrm flipH="1" flipV="1">
            <a:off x="6405694" y="4594451"/>
            <a:ext cx="2749854" cy="6321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1AB06066-4ADC-472A-A30E-31755C931AAD}"/>
              </a:ext>
            </a:extLst>
          </p:cNvPr>
          <p:cNvCxnSpPr>
            <a:stCxn id="40" idx="1"/>
            <a:endCxn id="19" idx="3"/>
          </p:cNvCxnSpPr>
          <p:nvPr/>
        </p:nvCxnSpPr>
        <p:spPr>
          <a:xfrm flipH="1">
            <a:off x="6405692" y="5226562"/>
            <a:ext cx="2749856" cy="2164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3110E087-3AD5-4A6B-9670-70DD123EAAD2}"/>
              </a:ext>
            </a:extLst>
          </p:cNvPr>
          <p:cNvCxnSpPr>
            <a:stCxn id="41" idx="1"/>
            <a:endCxn id="15" idx="3"/>
          </p:cNvCxnSpPr>
          <p:nvPr/>
        </p:nvCxnSpPr>
        <p:spPr>
          <a:xfrm flipH="1" flipV="1">
            <a:off x="6405694" y="3743531"/>
            <a:ext cx="2749854" cy="1736446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B5552C59-21C4-40D8-B084-893585D75FB1}"/>
              </a:ext>
            </a:extLst>
          </p:cNvPr>
          <p:cNvCxnSpPr>
            <a:stCxn id="41" idx="1"/>
            <a:endCxn id="16" idx="3"/>
          </p:cNvCxnSpPr>
          <p:nvPr/>
        </p:nvCxnSpPr>
        <p:spPr>
          <a:xfrm flipH="1" flipV="1">
            <a:off x="6405694" y="4170142"/>
            <a:ext cx="2749854" cy="1309835"/>
          </a:xfrm>
          <a:prstGeom prst="straightConnector1">
            <a:avLst/>
          </a:prstGeom>
          <a:ln w="127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BA616EE9-A81D-4081-8465-8A26C3D96EAF}"/>
              </a:ext>
            </a:extLst>
          </p:cNvPr>
          <p:cNvCxnSpPr>
            <a:stCxn id="41" idx="1"/>
            <a:endCxn id="17" idx="3"/>
          </p:cNvCxnSpPr>
          <p:nvPr/>
        </p:nvCxnSpPr>
        <p:spPr>
          <a:xfrm flipH="1" flipV="1">
            <a:off x="6405694" y="4594451"/>
            <a:ext cx="2749854" cy="885526"/>
          </a:xfrm>
          <a:prstGeom prst="straightConnector1">
            <a:avLst/>
          </a:prstGeom>
          <a:ln w="127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5D78D8B1-A663-4846-A32F-66A6826830C4}"/>
              </a:ext>
            </a:extLst>
          </p:cNvPr>
          <p:cNvCxnSpPr>
            <a:cxnSpLocks/>
            <a:stCxn id="41" idx="1"/>
            <a:endCxn id="19" idx="3"/>
          </p:cNvCxnSpPr>
          <p:nvPr/>
        </p:nvCxnSpPr>
        <p:spPr>
          <a:xfrm flipH="1" flipV="1">
            <a:off x="6405692" y="5443023"/>
            <a:ext cx="2749856" cy="36954"/>
          </a:xfrm>
          <a:prstGeom prst="straightConnector1">
            <a:avLst/>
          </a:prstGeom>
          <a:ln w="127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A0BC2107-3ABC-4745-B0B9-8003691A34A2}"/>
              </a:ext>
            </a:extLst>
          </p:cNvPr>
          <p:cNvCxnSpPr>
            <a:stCxn id="41" idx="1"/>
            <a:endCxn id="20" idx="3"/>
          </p:cNvCxnSpPr>
          <p:nvPr/>
        </p:nvCxnSpPr>
        <p:spPr>
          <a:xfrm flipH="1">
            <a:off x="6405692" y="5479977"/>
            <a:ext cx="2749856" cy="389657"/>
          </a:xfrm>
          <a:prstGeom prst="straightConnector1">
            <a:avLst/>
          </a:prstGeom>
          <a:ln w="127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B601E207-B8F7-4F18-A49D-3F88B6539088}"/>
              </a:ext>
            </a:extLst>
          </p:cNvPr>
          <p:cNvCxnSpPr>
            <a:stCxn id="42" idx="1"/>
            <a:endCxn id="18" idx="3"/>
          </p:cNvCxnSpPr>
          <p:nvPr/>
        </p:nvCxnSpPr>
        <p:spPr>
          <a:xfrm flipH="1" flipV="1">
            <a:off x="6405694" y="5016267"/>
            <a:ext cx="2749854" cy="71585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0CC8F9A5-785E-43C5-9581-95263DADCC41}"/>
              </a:ext>
            </a:extLst>
          </p:cNvPr>
          <p:cNvCxnSpPr>
            <a:cxnSpLocks/>
            <a:stCxn id="42" idx="1"/>
            <a:endCxn id="19" idx="3"/>
          </p:cNvCxnSpPr>
          <p:nvPr/>
        </p:nvCxnSpPr>
        <p:spPr>
          <a:xfrm flipH="1" flipV="1">
            <a:off x="6405692" y="5443023"/>
            <a:ext cx="2749856" cy="28909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CD2B748A-EF8F-4AD8-A643-C4E3B35E81FC}"/>
              </a:ext>
            </a:extLst>
          </p:cNvPr>
          <p:cNvCxnSpPr>
            <a:stCxn id="43" idx="1"/>
            <a:endCxn id="18" idx="3"/>
          </p:cNvCxnSpPr>
          <p:nvPr/>
        </p:nvCxnSpPr>
        <p:spPr>
          <a:xfrm flipH="1" flipV="1">
            <a:off x="6405694" y="5016267"/>
            <a:ext cx="2749854" cy="968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811FD6F3-91BA-4B1F-BA66-4E36275FD5FC}"/>
              </a:ext>
            </a:extLst>
          </p:cNvPr>
          <p:cNvCxnSpPr>
            <a:stCxn id="43" idx="1"/>
            <a:endCxn id="19" idx="3"/>
          </p:cNvCxnSpPr>
          <p:nvPr/>
        </p:nvCxnSpPr>
        <p:spPr>
          <a:xfrm flipH="1" flipV="1">
            <a:off x="6405692" y="5443023"/>
            <a:ext cx="2749856" cy="5412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B6C3CB82-C834-4A59-86DE-6B749C4DD21A}"/>
              </a:ext>
            </a:extLst>
          </p:cNvPr>
          <p:cNvCxnSpPr>
            <a:stCxn id="44" idx="1"/>
            <a:endCxn id="20" idx="3"/>
          </p:cNvCxnSpPr>
          <p:nvPr/>
        </p:nvCxnSpPr>
        <p:spPr>
          <a:xfrm flipH="1" flipV="1">
            <a:off x="6405692" y="5869634"/>
            <a:ext cx="2749856" cy="3667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id="{97349579-17AE-4C64-B48E-9EF1C729A44C}"/>
              </a:ext>
            </a:extLst>
          </p:cNvPr>
          <p:cNvCxnSpPr>
            <a:stCxn id="45" idx="1"/>
            <a:endCxn id="20" idx="3"/>
          </p:cNvCxnSpPr>
          <p:nvPr/>
        </p:nvCxnSpPr>
        <p:spPr>
          <a:xfrm flipH="1" flipV="1">
            <a:off x="6405692" y="5869634"/>
            <a:ext cx="2749856" cy="6201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6319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 animBg="1"/>
      <p:bldP spid="8" grpId="0" animBg="1"/>
      <p:bldP spid="9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2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GB" dirty="0"/>
              <a:t>Waterfall Model with Prototyping</a:t>
            </a:r>
            <a:endParaRPr lang="en-US" sz="2800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" name="Picture 1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810000" y="2133600"/>
            <a:ext cx="6172200" cy="4370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557709802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GB" dirty="0"/>
              <a:t>V Model</a:t>
            </a:r>
            <a:endParaRPr lang="en-US" sz="2800" dirty="0"/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A variant of the waterfall model</a:t>
            </a:r>
          </a:p>
          <a:p>
            <a: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Uses unit and integration testing to verify procedural design</a:t>
            </a:r>
          </a:p>
          <a:p>
            <a: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Uses system testing to verify architectural (system) design</a:t>
            </a:r>
          </a:p>
          <a:p>
            <a: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Uses acceptance testing to validate the requirements</a:t>
            </a:r>
          </a:p>
          <a:p>
            <a: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If problems are found during verification and validation, the left side of the V can be re-executed before testing on the right side is re-enacted</a:t>
            </a:r>
          </a:p>
        </p:txBody>
      </p:sp>
    </p:spTree>
    <p:extLst>
      <p:ext uri="{BB962C8B-B14F-4D97-AF65-F5344CB8AC3E}">
        <p14:creationId xmlns:p14="http://schemas.microsoft.com/office/powerpoint/2010/main" val="1144192478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GB" dirty="0"/>
              <a:t>V Model (Contd.)</a:t>
            </a:r>
            <a:endParaRPr lang="en-US" sz="2800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Picture 1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152776" y="2036762"/>
            <a:ext cx="7210425" cy="4668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108727791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GB" dirty="0"/>
              <a:t>Prototyping Model</a:t>
            </a:r>
            <a:endParaRPr lang="en-US" sz="2800" dirty="0"/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Allows repeated investigation of the requirements or design</a:t>
            </a:r>
          </a:p>
          <a:p>
            <a: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Reduces risk and uncertainty in the development</a:t>
            </a:r>
          </a:p>
        </p:txBody>
      </p:sp>
      <p:pic>
        <p:nvPicPr>
          <p:cNvPr id="4" name="Picture 1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343400" y="3808412"/>
            <a:ext cx="6096000" cy="2973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329367886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GB" dirty="0"/>
              <a:t>Prototyping Model (Contd.)</a:t>
            </a:r>
            <a:endParaRPr lang="en-US" sz="2800" dirty="0"/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Types:</a:t>
            </a:r>
          </a:p>
          <a:p>
            <a:pPr lvl="1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Evolutionary </a:t>
            </a:r>
          </a:p>
          <a:p>
            <a:pPr lvl="1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Throwaway</a:t>
            </a:r>
          </a:p>
          <a:p>
            <a: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Features</a:t>
            </a:r>
          </a:p>
          <a:p>
            <a:pPr lvl="1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User involvement?</a:t>
            </a:r>
          </a:p>
          <a:p>
            <a:pPr lvl="1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Smaller projects?</a:t>
            </a:r>
          </a:p>
          <a:p>
            <a:pPr lvl="1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dirty="0"/>
          </a:p>
          <a:p>
            <a:pPr lvl="1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85438654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GB" dirty="0"/>
              <a:t>Phased Development</a:t>
            </a:r>
            <a:endParaRPr lang="en-US" sz="2800" dirty="0"/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Cycle time</a:t>
            </a:r>
          </a:p>
          <a:p>
            <a:pPr lvl="1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Time between when requirements document was written and when the system was delivered</a:t>
            </a:r>
          </a:p>
          <a:p>
            <a: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Shorter cycle time</a:t>
            </a:r>
          </a:p>
          <a:p>
            <a: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Decomposed system</a:t>
            </a:r>
          </a:p>
          <a:p>
            <a:pPr lvl="1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System delivered in pieces</a:t>
            </a:r>
          </a:p>
          <a:p>
            <a:pPr lvl="2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enables customers to have some functionality while the rest is being developed</a:t>
            </a:r>
          </a:p>
          <a:p>
            <a: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Two systems functioning in parallel</a:t>
            </a:r>
          </a:p>
          <a:p>
            <a:pPr lvl="1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the production system (release </a:t>
            </a:r>
            <a:r>
              <a:rPr lang="en-GB" i="1" dirty="0"/>
              <a:t>n</a:t>
            </a:r>
            <a:r>
              <a:rPr lang="en-GB" dirty="0"/>
              <a:t>): currently being used</a:t>
            </a:r>
          </a:p>
          <a:p>
            <a:pPr lvl="1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the development system (release </a:t>
            </a:r>
            <a:r>
              <a:rPr lang="en-GB" i="1" dirty="0"/>
              <a:t>n+1</a:t>
            </a:r>
            <a:r>
              <a:rPr lang="en-GB" dirty="0"/>
              <a:t>): the next version</a:t>
            </a:r>
          </a:p>
          <a:p>
            <a:pPr lvl="1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dirty="0"/>
          </a:p>
          <a:p>
            <a:pPr lvl="1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14877489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GB" dirty="0"/>
              <a:t>Phased Development (Contd.)</a:t>
            </a:r>
            <a:endParaRPr lang="en-US" sz="2800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Picture 1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990850" y="2101850"/>
            <a:ext cx="7372350" cy="4603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005081308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GB" dirty="0"/>
              <a:t>Phased Development (Contd.)</a:t>
            </a:r>
            <a:endParaRPr lang="en-US" sz="2800" dirty="0"/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800" b="1" dirty="0"/>
              <a:t>Incremental development:</a:t>
            </a:r>
            <a:r>
              <a:rPr lang="en-GB" sz="2800" dirty="0"/>
              <a:t> starts with small functional subsystem and adds functionality with each new release</a:t>
            </a:r>
          </a:p>
          <a:p>
            <a: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800" b="1" dirty="0"/>
              <a:t>Iterative development</a:t>
            </a:r>
            <a:r>
              <a:rPr lang="en-GB" sz="2800" dirty="0"/>
              <a:t>: starts with full system, then changes functionality of each subsystem with each new release</a:t>
            </a:r>
          </a:p>
          <a:p>
            <a:pPr lvl="1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dirty="0"/>
          </a:p>
          <a:p>
            <a:pPr lvl="1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dirty="0"/>
          </a:p>
        </p:txBody>
      </p:sp>
      <p:pic>
        <p:nvPicPr>
          <p:cNvPr id="4" name="Picture 1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562601" y="4038600"/>
            <a:ext cx="4983263" cy="266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289145219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GB" dirty="0"/>
              <a:t>Phased Development (Contd.)</a:t>
            </a:r>
            <a:endParaRPr lang="en-US" sz="2800" dirty="0"/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800" dirty="0"/>
              <a:t>Training on early release</a:t>
            </a:r>
          </a:p>
          <a:p>
            <a: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800" dirty="0"/>
              <a:t>Responsive developers</a:t>
            </a:r>
          </a:p>
          <a:p>
            <a: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800" dirty="0"/>
              <a:t>Markets  for early functionality</a:t>
            </a:r>
          </a:p>
          <a:p>
            <a: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800" dirty="0"/>
              <a:t>Quick and Global fixing on unanticipated problems</a:t>
            </a:r>
          </a:p>
          <a:p>
            <a: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Ability to work on different areas of expertise with different releases</a:t>
            </a:r>
          </a:p>
          <a:p>
            <a:pPr lvl="1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43872107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Lecture 5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98711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GB" dirty="0"/>
              <a:t>Spiral Model</a:t>
            </a:r>
            <a:endParaRPr lang="en-US" sz="2800" dirty="0"/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Suggested by Boehm (1988)</a:t>
            </a:r>
          </a:p>
          <a:p>
            <a: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Combines development activities with risk management to minimize and control risks</a:t>
            </a:r>
          </a:p>
          <a:p>
            <a: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The model is presented as a spiral in which each iteration is represented by a circuit around four major activities</a:t>
            </a:r>
          </a:p>
          <a:p>
            <a:pPr lvl="1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Plan</a:t>
            </a:r>
          </a:p>
          <a:p>
            <a:pPr lvl="1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Determine goals, alternatives and constraints</a:t>
            </a:r>
          </a:p>
          <a:p>
            <a:pPr lvl="1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Evaluate alternatives and risks</a:t>
            </a:r>
          </a:p>
          <a:p>
            <a:pPr lvl="1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Develop and test</a:t>
            </a:r>
          </a:p>
        </p:txBody>
      </p:sp>
    </p:spTree>
    <p:extLst>
      <p:ext uri="{BB962C8B-B14F-4D97-AF65-F5344CB8AC3E}">
        <p14:creationId xmlns:p14="http://schemas.microsoft.com/office/powerpoint/2010/main" val="1441298475"/>
      </p:ext>
    </p:extLst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GB" dirty="0"/>
              <a:t>Spiral Model (Contd.)</a:t>
            </a:r>
            <a:endParaRPr lang="en-US" sz="2800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114800" y="2133601"/>
            <a:ext cx="5943600" cy="451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38557042"/>
      </p:ext>
    </p:extLst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GB" dirty="0"/>
              <a:t>Unified Process Model</a:t>
            </a:r>
            <a:endParaRPr lang="en-US" sz="2800" dirty="0"/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Object-oriented system development methodology (system development </a:t>
            </a:r>
            <a:r>
              <a:rPr lang="en-US" i="1" dirty="0"/>
              <a:t>process)</a:t>
            </a:r>
          </a:p>
          <a:p>
            <a:r>
              <a:rPr lang="en-US" dirty="0"/>
              <a:t> Offered by Rational/IBM, UP developed by </a:t>
            </a:r>
            <a:r>
              <a:rPr lang="en-US" dirty="0" err="1"/>
              <a:t>Booch</a:t>
            </a:r>
            <a:r>
              <a:rPr lang="en-US" dirty="0"/>
              <a:t>, </a:t>
            </a:r>
            <a:r>
              <a:rPr lang="en-US" dirty="0" err="1"/>
              <a:t>Rumbaugh</a:t>
            </a:r>
            <a:r>
              <a:rPr lang="en-US" dirty="0"/>
              <a:t>, and Jacobson</a:t>
            </a:r>
          </a:p>
          <a:p>
            <a:r>
              <a:rPr lang="en-US" dirty="0"/>
              <a:t> UP should be tailored to organizational and project needs</a:t>
            </a:r>
          </a:p>
          <a:p>
            <a:r>
              <a:rPr lang="en-US" dirty="0"/>
              <a:t> Highly iterative life cycle</a:t>
            </a:r>
          </a:p>
          <a:p>
            <a:r>
              <a:rPr lang="en-US" dirty="0"/>
              <a:t> Project will be use-case driven and modeled using UML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33733450"/>
      </p:ext>
    </p:extLst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GB" dirty="0"/>
              <a:t>Unified Process Model (Contd.)</a:t>
            </a:r>
            <a:endParaRPr lang="en-US" sz="2800" dirty="0"/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UP life cycle:</a:t>
            </a:r>
          </a:p>
          <a:p>
            <a:pPr lvl="1"/>
            <a:r>
              <a:rPr lang="en-US" dirty="0"/>
              <a:t>Includes four phases which consist of iterations</a:t>
            </a:r>
          </a:p>
          <a:p>
            <a:pPr lvl="1"/>
            <a:r>
              <a:rPr lang="en-US" dirty="0"/>
              <a:t>Iterations are “mini-projects”</a:t>
            </a:r>
          </a:p>
          <a:p>
            <a:r>
              <a:rPr lang="en-US" dirty="0"/>
              <a:t> Four Phases:</a:t>
            </a:r>
          </a:p>
          <a:p>
            <a:pPr lvl="1"/>
            <a:r>
              <a:rPr lang="en-US" dirty="0"/>
              <a:t>Inception – develop and refine system vision</a:t>
            </a:r>
          </a:p>
          <a:p>
            <a:pPr lvl="1"/>
            <a:r>
              <a:rPr lang="en-US" dirty="0"/>
              <a:t>Elaboration – define requirements and design and implement core architecture</a:t>
            </a:r>
          </a:p>
          <a:p>
            <a:pPr lvl="1"/>
            <a:r>
              <a:rPr lang="en-US" dirty="0"/>
              <a:t>Construction – continue design and implementation of routine, less risky parts</a:t>
            </a:r>
          </a:p>
          <a:p>
            <a:pPr lvl="1"/>
            <a:r>
              <a:rPr lang="en-US" dirty="0"/>
              <a:t>Transition – move the system into operational mode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02442639"/>
      </p:ext>
    </p:extLst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GB" dirty="0"/>
              <a:t>Unified Process Model (Contd.)</a:t>
            </a:r>
            <a:endParaRPr lang="en-US" sz="2800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619500" y="2019300"/>
            <a:ext cx="6896100" cy="2171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/>
          <p:nvPr/>
        </p:nvSpPr>
        <p:spPr>
          <a:xfrm>
            <a:off x="1905000" y="6260068"/>
            <a:ext cx="82296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Images’ Source:</a:t>
            </a:r>
            <a:r>
              <a:rPr lang="en-US" dirty="0"/>
              <a:t> Systems Analysis and Design in a Changing World, 4th Edition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619750" y="2362200"/>
            <a:ext cx="609600" cy="228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981950" y="2362200"/>
            <a:ext cx="609600" cy="228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590801" y="3581401"/>
            <a:ext cx="6619875" cy="2676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00783847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GB" dirty="0"/>
              <a:t>Unified Process Model (Contd.)</a:t>
            </a:r>
            <a:endParaRPr lang="en-US" sz="2800" dirty="0"/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Related development activities are called disciplines</a:t>
            </a:r>
          </a:p>
          <a:p>
            <a:pPr lvl="1"/>
            <a:r>
              <a:rPr lang="en-US" dirty="0"/>
              <a:t>UP disciplines:</a:t>
            </a:r>
          </a:p>
          <a:p>
            <a:pPr>
              <a:buNone/>
            </a:pPr>
            <a:r>
              <a:rPr lang="en-US" sz="2000" dirty="0"/>
              <a:t>	 	</a:t>
            </a:r>
            <a:r>
              <a:rPr lang="en-US" sz="2400" dirty="0"/>
              <a:t>Business modeling, requirements,  design, 	implementation, testing, deployment, project 	management, configuration and change 	management, and environment</a:t>
            </a:r>
          </a:p>
          <a:p>
            <a:r>
              <a:rPr lang="en-US" dirty="0"/>
              <a:t> Each iteration includes activities from all disciplines</a:t>
            </a:r>
          </a:p>
          <a:p>
            <a:r>
              <a:rPr lang="en-US" dirty="0"/>
              <a:t> Activities in each discipline produce </a:t>
            </a:r>
            <a:r>
              <a:rPr lang="en-US" dirty="0" err="1"/>
              <a:t>artefacts</a:t>
            </a:r>
            <a:r>
              <a:rPr lang="en-US" dirty="0"/>
              <a:t> – </a:t>
            </a:r>
            <a:r>
              <a:rPr lang="fr-FR" dirty="0" err="1"/>
              <a:t>models</a:t>
            </a:r>
            <a:r>
              <a:rPr lang="fr-FR" dirty="0"/>
              <a:t>, documents, source code, and </a:t>
            </a:r>
            <a:r>
              <a:rPr lang="en-US" dirty="0"/>
              <a:t>executables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51657113"/>
      </p:ext>
    </p:extLst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GB" dirty="0"/>
              <a:t>Unified Process Model (Contd.)</a:t>
            </a:r>
            <a:endParaRPr lang="en-US" sz="2800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629026" y="2057400"/>
            <a:ext cx="6657975" cy="4705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/>
          <p:nvPr/>
        </p:nvSpPr>
        <p:spPr>
          <a:xfrm>
            <a:off x="-2286000" y="5285602"/>
            <a:ext cx="8001000" cy="276999"/>
          </a:xfrm>
          <a:prstGeom prst="rect">
            <a:avLst/>
          </a:prstGeom>
          <a:scene3d>
            <a:camera prst="orthographicFront">
              <a:rot lat="0" lon="0" rev="16200000"/>
            </a:camera>
            <a:lightRig rig="threePt" dir="t"/>
          </a:scene3d>
        </p:spPr>
        <p:txBody>
          <a:bodyPr wrap="square">
            <a:spAutoFit/>
          </a:bodyPr>
          <a:lstStyle/>
          <a:p>
            <a:r>
              <a:rPr lang="en-US" sz="1200" b="1" dirty="0"/>
              <a:t>Image Source:</a:t>
            </a:r>
            <a:r>
              <a:rPr lang="en-US" sz="1200" dirty="0"/>
              <a:t> Systems Analysis and Design in a Changing World, 4th Edition</a:t>
            </a:r>
          </a:p>
        </p:txBody>
      </p:sp>
    </p:spTree>
    <p:extLst>
      <p:ext uri="{BB962C8B-B14F-4D97-AF65-F5344CB8AC3E}">
        <p14:creationId xmlns:p14="http://schemas.microsoft.com/office/powerpoint/2010/main" val="3867106952"/>
      </p:ext>
    </p:extLst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GB" dirty="0"/>
              <a:t>Agile Methods</a:t>
            </a:r>
            <a:endParaRPr lang="en-US" sz="2800" dirty="0"/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Emphasis on flexibility in producing software quickly and capably in rapidly changing environment</a:t>
            </a:r>
          </a:p>
          <a:p>
            <a: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Agile manifesto</a:t>
            </a:r>
          </a:p>
          <a:p>
            <a:pPr lvl="1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Concentrate on responding to change rather than on creating a plan and then following it (</a:t>
            </a:r>
            <a:r>
              <a:rPr lang="en-GB" i="1" dirty="0" err="1"/>
              <a:t>chaordic</a:t>
            </a:r>
            <a:r>
              <a:rPr lang="en-GB" dirty="0"/>
              <a:t>)</a:t>
            </a:r>
          </a:p>
          <a:p>
            <a:pPr lvl="1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Value individuals and interactions over process and tools</a:t>
            </a:r>
          </a:p>
          <a:p>
            <a:pPr lvl="1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Prefer to invest time in producing working software rather than in producing comprehensive documentation</a:t>
            </a:r>
          </a:p>
          <a:p>
            <a:pPr lvl="1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Focus on customer collaboration rather than contract negotiation</a:t>
            </a:r>
          </a:p>
        </p:txBody>
      </p:sp>
    </p:spTree>
    <p:extLst>
      <p:ext uri="{BB962C8B-B14F-4D97-AF65-F5344CB8AC3E}">
        <p14:creationId xmlns:p14="http://schemas.microsoft.com/office/powerpoint/2010/main" val="433094429"/>
      </p:ext>
    </p:extLst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GB" dirty="0"/>
              <a:t>Agile Methods</a:t>
            </a:r>
            <a:endParaRPr lang="en-US" sz="2800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828800" y="2362200"/>
            <a:ext cx="4248150" cy="302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248400" y="1352550"/>
            <a:ext cx="4267200" cy="535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131637451"/>
      </p:ext>
    </p:extLst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GB" dirty="0"/>
              <a:t>Agile Methods (Contd.)</a:t>
            </a:r>
            <a:endParaRPr lang="en-US" sz="2800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95625" y="2438400"/>
            <a:ext cx="6000750" cy="236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428126906"/>
      </p:ext>
    </p:extLst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GB" dirty="0"/>
              <a:t>Agile Methods (Contd.)</a:t>
            </a:r>
            <a:endParaRPr lang="en-US" sz="2800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895476" y="3124200"/>
            <a:ext cx="5953125" cy="3238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1981200" y="2438400"/>
            <a:ext cx="8229600" cy="60960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marL="274320" indent="-274320">
              <a:spcBef>
                <a:spcPct val="20000"/>
              </a:spcBef>
              <a:buClr>
                <a:schemeClr val="accent3"/>
              </a:buClr>
              <a:buSzPct val="95000"/>
              <a:buFont typeface="Wingdings 2"/>
              <a:buChar char="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600" dirty="0"/>
              <a:t>Extreme Programming (XP)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1752600" y="609600"/>
            <a:ext cx="8229600" cy="6115050"/>
            <a:chOff x="228600" y="609600"/>
            <a:chExt cx="8229600" cy="6115050"/>
          </a:xfrm>
        </p:grpSpPr>
        <p:pic>
          <p:nvPicPr>
            <p:cNvPr id="6147" name="Picture 3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228600" y="609600"/>
              <a:ext cx="6257925" cy="61150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7" name="TextBox 6"/>
            <p:cNvSpPr txBox="1"/>
            <p:nvPr/>
          </p:nvSpPr>
          <p:spPr>
            <a:xfrm>
              <a:off x="6781800" y="2819400"/>
              <a:ext cx="1676400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XP Development Approach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7437054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GB" dirty="0"/>
              <a:t>Agile Methods (Contd.)</a:t>
            </a:r>
            <a:endParaRPr lang="en-US" sz="2800" dirty="0"/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Scrum:</a:t>
            </a:r>
          </a:p>
          <a:p>
            <a:pPr lvl="1"/>
            <a:r>
              <a:rPr lang="en-US" dirty="0"/>
              <a:t>A quick, adaptive, and self-organizing development methodology</a:t>
            </a:r>
          </a:p>
          <a:p>
            <a:pPr lvl="1"/>
            <a:r>
              <a:rPr lang="en-US" dirty="0"/>
              <a:t>Responds to a current situation as rapidly and positively as possible</a:t>
            </a:r>
          </a:p>
        </p:txBody>
      </p:sp>
    </p:spTree>
    <p:extLst>
      <p:ext uri="{BB962C8B-B14F-4D97-AF65-F5344CB8AC3E}">
        <p14:creationId xmlns:p14="http://schemas.microsoft.com/office/powerpoint/2010/main" val="1193154871"/>
      </p:ext>
    </p:extLst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GB" dirty="0"/>
              <a:t>Agile Methods (Contd.)</a:t>
            </a:r>
            <a:endParaRPr lang="en-US" sz="2800" dirty="0"/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Scrum Philosophy</a:t>
            </a:r>
          </a:p>
          <a:p>
            <a:pPr lvl="1"/>
            <a:r>
              <a:rPr lang="en-US" dirty="0"/>
              <a:t>Responsive to a highly changing, dynamic environment</a:t>
            </a:r>
          </a:p>
          <a:p>
            <a:pPr lvl="1"/>
            <a:r>
              <a:rPr lang="en-US" dirty="0"/>
              <a:t>Focuses primarily on the team level</a:t>
            </a:r>
          </a:p>
          <a:p>
            <a:pPr lvl="2"/>
            <a:r>
              <a:rPr lang="en-US" dirty="0"/>
              <a:t>Team exerts total control over its own organization and work processes</a:t>
            </a:r>
          </a:p>
          <a:p>
            <a:pPr lvl="1"/>
            <a:r>
              <a:rPr lang="en-US" dirty="0"/>
              <a:t>Uses a product backlog as the basic control mechanism</a:t>
            </a:r>
          </a:p>
          <a:p>
            <a:pPr lvl="2"/>
            <a:r>
              <a:rPr lang="en-US" dirty="0"/>
              <a:t>The product backlog includes user functions (such as use cases), features (such as security), and technology (such as platforms). </a:t>
            </a:r>
          </a:p>
        </p:txBody>
      </p:sp>
    </p:spTree>
    <p:extLst>
      <p:ext uri="{BB962C8B-B14F-4D97-AF65-F5344CB8AC3E}">
        <p14:creationId xmlns:p14="http://schemas.microsoft.com/office/powerpoint/2010/main" val="2195871006"/>
      </p:ext>
    </p:extLst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GB" dirty="0"/>
              <a:t>Agile Methods (Contd.)</a:t>
            </a:r>
            <a:endParaRPr lang="en-US" sz="2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8E8494A-4FC4-4D4C-B170-1B7DED9833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4697" y="1426267"/>
            <a:ext cx="10225825" cy="384566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1777B66-FF32-4511-9CCC-9F139919F49C}"/>
              </a:ext>
            </a:extLst>
          </p:cNvPr>
          <p:cNvSpPr txBox="1"/>
          <p:nvPr/>
        </p:nvSpPr>
        <p:spPr>
          <a:xfrm>
            <a:off x="1359088" y="5185363"/>
            <a:ext cx="991770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 defTabSz="914400"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sz="2000" dirty="0"/>
              <a:t>The product backlog list is continually being prioritized, and only a few of the high-priority items are worked on at a time, according to the current needs of the project and its sponsor.</a:t>
            </a:r>
            <a:endParaRPr lang="en-PK" sz="2000" dirty="0"/>
          </a:p>
        </p:txBody>
      </p:sp>
    </p:spTree>
    <p:extLst>
      <p:ext uri="{BB962C8B-B14F-4D97-AF65-F5344CB8AC3E}">
        <p14:creationId xmlns:p14="http://schemas.microsoft.com/office/powerpoint/2010/main" val="624019591"/>
      </p:ext>
    </p:extLst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GB" dirty="0"/>
              <a:t>Agile Methods (Contd.)</a:t>
            </a:r>
            <a:endParaRPr lang="en-US" sz="2800" dirty="0"/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Scrum Organization</a:t>
            </a:r>
          </a:p>
          <a:p>
            <a:pPr lvl="1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sz="2700" dirty="0"/>
              <a:t>Product owner </a:t>
            </a:r>
          </a:p>
          <a:p>
            <a:pPr lvl="2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dirty="0"/>
              <a:t>The client stakeholder for whom a system is being built</a:t>
            </a:r>
          </a:p>
          <a:p>
            <a:pPr lvl="2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dirty="0"/>
              <a:t>Maintains the product backlog list</a:t>
            </a:r>
          </a:p>
          <a:p>
            <a:pPr lvl="1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sz="2700" dirty="0"/>
              <a:t>Scrum master</a:t>
            </a:r>
          </a:p>
          <a:p>
            <a:pPr lvl="2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dirty="0"/>
              <a:t>Person in charge of a Scrum project</a:t>
            </a:r>
          </a:p>
          <a:p>
            <a:pPr lvl="1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sz="2700" dirty="0"/>
              <a:t>Scrum team or teams</a:t>
            </a:r>
          </a:p>
          <a:p>
            <a:pPr lvl="2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dirty="0"/>
              <a:t>Small group of developers</a:t>
            </a:r>
          </a:p>
          <a:p>
            <a:pPr lvl="2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dirty="0"/>
              <a:t>Set their own goals and distribute work among themselves</a:t>
            </a:r>
          </a:p>
        </p:txBody>
      </p:sp>
    </p:spTree>
    <p:extLst>
      <p:ext uri="{BB962C8B-B14F-4D97-AF65-F5344CB8AC3E}">
        <p14:creationId xmlns:p14="http://schemas.microsoft.com/office/powerpoint/2010/main" val="1844450084"/>
      </p:ext>
    </p:extLst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GB" dirty="0"/>
              <a:t>Agile Methods (Contd.)</a:t>
            </a:r>
            <a:endParaRPr lang="en-US" sz="2800" dirty="0"/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Scrum Practices</a:t>
            </a:r>
          </a:p>
          <a:p>
            <a:pPr lvl="1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dirty="0"/>
              <a:t>Sprint</a:t>
            </a:r>
          </a:p>
          <a:p>
            <a:pPr lvl="2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dirty="0"/>
              <a:t>The basic work process in Scrum</a:t>
            </a:r>
          </a:p>
          <a:p>
            <a:pPr lvl="2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dirty="0"/>
              <a:t>A time-controlled mini-project</a:t>
            </a:r>
          </a:p>
          <a:p>
            <a:pPr lvl="2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dirty="0"/>
              <a:t>Firm 30-day time box with a specific goal or deliverable</a:t>
            </a:r>
          </a:p>
          <a:p>
            <a: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dirty="0"/>
              <a:t> Parts of a sprint</a:t>
            </a:r>
          </a:p>
          <a:p>
            <a:pPr lvl="1"/>
            <a:r>
              <a:rPr lang="en-US" dirty="0"/>
              <a:t>Begins with a one-day planning session </a:t>
            </a:r>
          </a:p>
          <a:p>
            <a:pPr lvl="1"/>
            <a:r>
              <a:rPr lang="en-US" dirty="0"/>
              <a:t>A short daily Scrum meeting to report progress</a:t>
            </a:r>
          </a:p>
          <a:p>
            <a:pPr lvl="1"/>
            <a:r>
              <a:rPr lang="en-US" dirty="0"/>
              <a:t>Ends with a final half-day review</a:t>
            </a:r>
          </a:p>
        </p:txBody>
      </p:sp>
    </p:spTree>
    <p:extLst>
      <p:ext uri="{BB962C8B-B14F-4D97-AF65-F5344CB8AC3E}">
        <p14:creationId xmlns:p14="http://schemas.microsoft.com/office/powerpoint/2010/main" val="66262678"/>
      </p:ext>
    </p:extLst>
  </p:cSld>
  <p:clrMapOvr>
    <a:masterClrMapping/>
  </p:clrMapOvr>
  <p:transition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/>
              <a:t>Special THANK FOR THE MATERIALS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err="1"/>
              <a:t>Mr.</a:t>
            </a:r>
            <a:r>
              <a:rPr lang="en-GB" dirty="0"/>
              <a:t> </a:t>
            </a:r>
            <a:r>
              <a:rPr lang="en-GB" dirty="0" err="1"/>
              <a:t>Haroon</a:t>
            </a:r>
            <a:r>
              <a:rPr lang="en-GB" dirty="0"/>
              <a:t> Abdul </a:t>
            </a:r>
            <a:r>
              <a:rPr lang="en-GB" dirty="0" err="1"/>
              <a:t>Waheed</a:t>
            </a:r>
            <a:endParaRPr lang="en-GB" dirty="0"/>
          </a:p>
          <a:p>
            <a:r>
              <a:rPr lang="en-GB" dirty="0" err="1"/>
              <a:t>Prof.</a:t>
            </a:r>
            <a:r>
              <a:rPr lang="en-GB" dirty="0"/>
              <a:t> </a:t>
            </a:r>
            <a:r>
              <a:rPr lang="en-GB" dirty="0" err="1"/>
              <a:t>Zeeshan</a:t>
            </a:r>
            <a:r>
              <a:rPr lang="en-GB" dirty="0"/>
              <a:t> Ali </a:t>
            </a:r>
            <a:r>
              <a:rPr lang="en-GB" dirty="0" err="1"/>
              <a:t>Rana</a:t>
            </a:r>
            <a:endParaRPr lang="en-GB" dirty="0"/>
          </a:p>
          <a:p>
            <a:r>
              <a:rPr lang="en-US" dirty="0" err="1"/>
              <a:t>Pfleeger’s</a:t>
            </a:r>
            <a:r>
              <a:rPr lang="en-US" dirty="0"/>
              <a:t> Book slides from UCF</a:t>
            </a:r>
          </a:p>
          <a:p>
            <a:r>
              <a:rPr lang="en-US" dirty="0"/>
              <a:t>Software Fundamentals 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59336364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EDEBE7"/>
      </a:lt2>
      <a:accent1>
        <a:srgbClr val="5FA534"/>
      </a:accent1>
      <a:accent2>
        <a:srgbClr val="DCAB34"/>
      </a:accent2>
      <a:accent3>
        <a:srgbClr val="D26D23"/>
      </a:accent3>
      <a:accent4>
        <a:srgbClr val="972323"/>
      </a:accent4>
      <a:accent5>
        <a:srgbClr val="236797"/>
      </a:accent5>
      <a:accent6>
        <a:srgbClr val="2FB6C6"/>
      </a:accent6>
      <a:hlink>
        <a:srgbClr val="8FC639"/>
      </a:hlink>
      <a:folHlink>
        <a:srgbClr val="E7C272"/>
      </a:folHlink>
    </a:clrScheme>
    <a:fontScheme name="Gallery">
      <a:majorFont>
        <a:latin typeface="Palatino Linotype" panose="020405020505050303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alatino Linotype" panose="020405020505050303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AC464412-510E-4F2B-8947-A0DDBD02899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270</TotalTime>
  <Words>1526</Words>
  <Application>Microsoft Office PowerPoint</Application>
  <PresentationFormat>Widescreen</PresentationFormat>
  <Paragraphs>249</Paragraphs>
  <Slides>43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8" baseType="lpstr">
      <vt:lpstr>Arial</vt:lpstr>
      <vt:lpstr>Calibri</vt:lpstr>
      <vt:lpstr>Palatino Linotype</vt:lpstr>
      <vt:lpstr>Wingdings 2</vt:lpstr>
      <vt:lpstr>Gallery</vt:lpstr>
      <vt:lpstr>Introduction to Software Engineering</vt:lpstr>
      <vt:lpstr>What Do We Mean by a Process? </vt:lpstr>
      <vt:lpstr>How is a Process Useful? </vt:lpstr>
      <vt:lpstr>Characteristics of a Process</vt:lpstr>
      <vt:lpstr>Characteristics of a Process</vt:lpstr>
      <vt:lpstr>Software Lifecycle</vt:lpstr>
      <vt:lpstr>What is a Process Model?</vt:lpstr>
      <vt:lpstr>Why is a Process Model Needed?</vt:lpstr>
      <vt:lpstr>What is a Software Process Model?</vt:lpstr>
      <vt:lpstr>Software Development Process Models</vt:lpstr>
      <vt:lpstr>Waterfall Model</vt:lpstr>
      <vt:lpstr>Waterfall Model (Contd.)</vt:lpstr>
      <vt:lpstr>Waterfall Model (Contd.)</vt:lpstr>
      <vt:lpstr>Waterfall Model (Contd.)</vt:lpstr>
      <vt:lpstr>Waterfall Model with Prototyping</vt:lpstr>
      <vt:lpstr>What is a Good Software Product?</vt:lpstr>
      <vt:lpstr>Waterfall Model with Prototyping</vt:lpstr>
      <vt:lpstr>V Model</vt:lpstr>
      <vt:lpstr>V Model (Contd.)</vt:lpstr>
      <vt:lpstr>Prototyping Model</vt:lpstr>
      <vt:lpstr>Prototyping Model (Contd.)</vt:lpstr>
      <vt:lpstr>Phased Development</vt:lpstr>
      <vt:lpstr>Phased Development (Contd.)</vt:lpstr>
      <vt:lpstr>Phased Development (Contd.)</vt:lpstr>
      <vt:lpstr>Phased Development (Contd.)</vt:lpstr>
      <vt:lpstr>Lecture 5</vt:lpstr>
      <vt:lpstr>Spiral Model</vt:lpstr>
      <vt:lpstr>Spiral Model (Contd.)</vt:lpstr>
      <vt:lpstr>Unified Process Model</vt:lpstr>
      <vt:lpstr>Unified Process Model (Contd.)</vt:lpstr>
      <vt:lpstr>Unified Process Model (Contd.)</vt:lpstr>
      <vt:lpstr>Unified Process Model (Contd.)</vt:lpstr>
      <vt:lpstr>Unified Process Model (Contd.)</vt:lpstr>
      <vt:lpstr>Agile Methods</vt:lpstr>
      <vt:lpstr>Agile Methods</vt:lpstr>
      <vt:lpstr>Agile Methods (Contd.)</vt:lpstr>
      <vt:lpstr>Agile Methods (Contd.)</vt:lpstr>
      <vt:lpstr>Agile Methods (Contd.)</vt:lpstr>
      <vt:lpstr>Agile Methods (Contd.)</vt:lpstr>
      <vt:lpstr>Agile Methods (Contd.)</vt:lpstr>
      <vt:lpstr>Agile Methods (Contd.)</vt:lpstr>
      <vt:lpstr>Agile Methods (Contd.)</vt:lpstr>
      <vt:lpstr>Special THANK FOR THE MATERIALS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Software Engineering</dc:title>
  <dc:creator>haroonaw</dc:creator>
  <cp:lastModifiedBy>Muhammad Kashif</cp:lastModifiedBy>
  <cp:revision>15</cp:revision>
  <dcterms:created xsi:type="dcterms:W3CDTF">2017-04-12T08:55:27Z</dcterms:created>
  <dcterms:modified xsi:type="dcterms:W3CDTF">2024-03-28T07:16:39Z</dcterms:modified>
</cp:coreProperties>
</file>