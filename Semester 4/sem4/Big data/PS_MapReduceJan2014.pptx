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8" r:id="rId13"/>
    <p:sldId id="274" r:id="rId14"/>
    <p:sldId id="269" r:id="rId15"/>
    <p:sldId id="270" r:id="rId16"/>
    <p:sldId id="277" r:id="rId17"/>
    <p:sldId id="271" r:id="rId18"/>
    <p:sldId id="272" r:id="rId19"/>
    <p:sldId id="273" r:id="rId20"/>
    <p:sldId id="275" r:id="rId21"/>
    <p:sldId id="276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58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0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FC0D7-BF13-4858-A463-35DE309118DF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F1E10-E6AF-4CE3-930B-D4292B3CFC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77037B-C278-4F7E-BDDC-1D877EA08BB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73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9F9B282-209E-41E7-BAE9-147D4B5CDEC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C4C37A4-B1B8-4605-BF35-E3AE3D966092}" type="datetimeFigureOut">
              <a:rPr lang="en-US" smtClean="0"/>
              <a:t>1/20/2014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59BAA5CA-921C-41BB-9A7C-D0BF25EF7C2B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loudera.com/hadoop-training-basic" TargetMode="External"/><Relationship Id="rId2" Type="http://schemas.openxmlformats.org/officeDocument/2006/relationships/hyperlink" Target="http://beowulf.csail.mit.edu/18.337-2012/MapReduce-book-final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adoop.apache.org/core/docs/current/mapred_tutorial.html" TargetMode="External"/><Relationship Id="rId4" Type="http://schemas.openxmlformats.org/officeDocument/2006/relationships/hyperlink" Target="http://hadoop.apache.org/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B. Ramamurthy</a:t>
            </a:r>
          </a:p>
          <a:p>
            <a:r>
              <a:rPr lang="en-US" dirty="0" smtClean="0"/>
              <a:t>This is work is supported by NSF grant NSF-DUE-TUES-0920335 (Phase 2) &amp;</a:t>
            </a:r>
          </a:p>
          <a:p>
            <a:r>
              <a:rPr lang="en-US" dirty="0" smtClean="0"/>
              <a:t>NSF-ACI-1041280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Problem-solving using MapReduce/</a:t>
            </a:r>
            <a:r>
              <a:rPr lang="en-US" dirty="0" err="1" smtClean="0"/>
              <a:t>Hadoop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6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Topics for Discussion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Problem solving approaches for big-data</a:t>
            </a:r>
          </a:p>
          <a:p>
            <a:r>
              <a:rPr lang="en-US" dirty="0" smtClean="0"/>
              <a:t>Origins of MR/</a:t>
            </a:r>
            <a:r>
              <a:rPr lang="en-US" dirty="0" err="1" smtClean="0"/>
              <a:t>Hadoop</a:t>
            </a:r>
            <a:endParaRPr lang="en-US" dirty="0" smtClean="0"/>
          </a:p>
          <a:p>
            <a:r>
              <a:rPr lang="en-US" dirty="0" smtClean="0"/>
              <a:t>Algorithms, data structures and infrastructures</a:t>
            </a:r>
          </a:p>
          <a:p>
            <a:r>
              <a:rPr lang="en-US" dirty="0" smtClean="0"/>
              <a:t>Hello “</a:t>
            </a:r>
            <a:r>
              <a:rPr lang="en-US" dirty="0" err="1" smtClean="0"/>
              <a:t>Wordcount</a:t>
            </a:r>
            <a:r>
              <a:rPr lang="en-US" dirty="0" smtClean="0"/>
              <a:t>”</a:t>
            </a:r>
          </a:p>
          <a:p>
            <a:pPr lvl="1"/>
            <a:r>
              <a:rPr lang="en-US" dirty="0" err="1" smtClean="0"/>
              <a:t>Wordcount</a:t>
            </a:r>
            <a:r>
              <a:rPr lang="en-US" dirty="0" smtClean="0"/>
              <a:t> </a:t>
            </a:r>
            <a:r>
              <a:rPr lang="en-US" dirty="0" err="1" smtClean="0"/>
              <a:t>mapreduce</a:t>
            </a:r>
            <a:r>
              <a:rPr lang="en-US" dirty="0" smtClean="0"/>
              <a:t> version</a:t>
            </a:r>
          </a:p>
          <a:p>
            <a:r>
              <a:rPr lang="en-US" dirty="0" smtClean="0"/>
              <a:t>MapReduce</a:t>
            </a:r>
          </a:p>
          <a:p>
            <a:r>
              <a:rPr lang="en-US" dirty="0" err="1" smtClean="0"/>
              <a:t>Hadoop</a:t>
            </a:r>
            <a:endParaRPr lang="en-US" dirty="0" smtClean="0"/>
          </a:p>
          <a:p>
            <a:r>
              <a:rPr lang="en-US" dirty="0" smtClean="0"/>
              <a:t>Linked structures</a:t>
            </a:r>
          </a:p>
          <a:p>
            <a:pPr lvl="1"/>
            <a:r>
              <a:rPr lang="en-US" dirty="0" smtClean="0"/>
              <a:t>PageRank </a:t>
            </a:r>
            <a:r>
              <a:rPr lang="en-US" dirty="0" err="1" smtClean="0"/>
              <a:t>mapreduce</a:t>
            </a:r>
            <a:r>
              <a:rPr lang="en-US" dirty="0" smtClean="0"/>
              <a:t> version </a:t>
            </a:r>
          </a:p>
          <a:p>
            <a:r>
              <a:rPr lang="en-US" dirty="0" smtClean="0"/>
              <a:t>Infrastructure</a:t>
            </a:r>
          </a:p>
          <a:p>
            <a:pPr lvl="1"/>
            <a:r>
              <a:rPr lang="en-US" dirty="0" smtClean="0"/>
              <a:t>Local: Single node </a:t>
            </a:r>
            <a:r>
              <a:rPr lang="en-US" dirty="0" err="1" smtClean="0"/>
              <a:t>hadoop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Local: CCR cluster</a:t>
            </a:r>
          </a:p>
          <a:p>
            <a:pPr lvl="1"/>
            <a:r>
              <a:rPr lang="en-US" dirty="0" smtClean="0"/>
              <a:t>Amazon </a:t>
            </a:r>
            <a:r>
              <a:rPr lang="en-US" dirty="0" err="1" smtClean="0"/>
              <a:t>aws</a:t>
            </a:r>
            <a:r>
              <a:rPr lang="en-US" dirty="0" smtClean="0"/>
              <a:t> cloud MR/</a:t>
            </a:r>
            <a:r>
              <a:rPr lang="en-US" dirty="0" err="1" smtClean="0"/>
              <a:t>Hadoop</a:t>
            </a:r>
            <a:r>
              <a:rPr lang="en-US" dirty="0" smtClean="0"/>
              <a:t> infrastructure</a:t>
            </a:r>
          </a:p>
          <a:p>
            <a:pPr lvl="1"/>
            <a:r>
              <a:rPr lang="en-US" dirty="0" smtClean="0"/>
              <a:t>Google </a:t>
            </a:r>
            <a:r>
              <a:rPr lang="en-US" dirty="0" err="1" smtClean="0"/>
              <a:t>appEngine</a:t>
            </a:r>
            <a:r>
              <a:rPr lang="en-US" dirty="0" smtClean="0"/>
              <a:t> </a:t>
            </a:r>
            <a:r>
              <a:rPr lang="en-US" dirty="0" err="1" smtClean="0"/>
              <a:t>Mapreduce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01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Big-data Problem Solving Approaches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Algorithmic: after all we have working towards this for ever: scalable/tractable</a:t>
            </a:r>
          </a:p>
          <a:p>
            <a:r>
              <a:rPr lang="en-US" dirty="0" smtClean="0"/>
              <a:t>High Performance computing (HPC: multi-core) CCR has machines that are: 16 CPU , 32 core machine with 128GB RAM.</a:t>
            </a:r>
          </a:p>
          <a:p>
            <a:r>
              <a:rPr lang="en-US" dirty="0" smtClean="0"/>
              <a:t>GPGPU programming: general purpose graphics processor (NVIDIA)</a:t>
            </a:r>
          </a:p>
          <a:p>
            <a:r>
              <a:rPr lang="en-US" dirty="0" smtClean="0"/>
              <a:t>Statistical packages like R running on parallel threads on powerful machines</a:t>
            </a:r>
          </a:p>
          <a:p>
            <a:r>
              <a:rPr lang="en-US" dirty="0" smtClean="0"/>
              <a:t>Machine learning algorithms on super computers 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9222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6858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/>
              <a:t>Different Type of Storage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625" y="1527175"/>
            <a:ext cx="8504238" cy="4572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Internet introduced a new challenge in the form web logs, web crawler’s data: large scale “peta scale”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But observe that this type of data has an uniquely different characteristic than your transactional or the “customer order” data, or “bank account data” : 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chemeClr val="tx1"/>
                </a:solidFill>
                <a:latin typeface="Maiandra GD" pitchFamily="34" charset="0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The data type  is “write once read many (WORM)” ;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 smtClean="0">
                <a:solidFill>
                  <a:schemeClr val="tx1"/>
                </a:solidFill>
                <a:latin typeface="Maiandra GD" pitchFamily="34" charset="0"/>
              </a:rPr>
              <a:t>Privacy protected healthcare and patient information;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 smtClean="0">
                <a:solidFill>
                  <a:schemeClr val="tx1"/>
                </a:solidFill>
                <a:latin typeface="Maiandra GD" pitchFamily="34" charset="0"/>
              </a:rPr>
              <a:t>Historical financial data; </a:t>
            </a:r>
          </a:p>
          <a:p>
            <a:pPr lv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b="1" dirty="0" smtClean="0">
                <a:solidFill>
                  <a:schemeClr val="tx1"/>
                </a:solidFill>
                <a:latin typeface="Maiandra GD" pitchFamily="34" charset="0"/>
              </a:rPr>
              <a:t>Other historical data </a:t>
            </a:r>
          </a:p>
          <a:p>
            <a:pPr marL="400050"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Relational file system and tables are insufficient.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Large &lt;key, value&gt; stores (files) and storage management system.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Built-in features for fault-tolerance, load balancing, data-transfer  and aggregation,…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Clusters of distributed nodes for storage and computing.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smtClean="0">
                <a:solidFill>
                  <a:schemeClr val="tx1"/>
                </a:solidFill>
                <a:latin typeface="Maiandra GD" pitchFamily="34" charset="0"/>
              </a:rPr>
              <a:t>Computing is inherently parallel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2A3F065-3229-47AB-BA52-A7B739E41773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4294967295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FAD6164-8879-4965-9339-1C8058B323D0}" type="datetime1">
              <a:rPr lang="en-US" smtClean="0"/>
              <a:t>1/20/2014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6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MR-data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74320" indent="-274320">
              <a:buFont typeface="Wingdings 2"/>
              <a:buChar char=""/>
              <a:defRPr/>
            </a:pP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Originated from the Google File System (GFS) is the special </a:t>
            </a:r>
            <a:r>
              <a:rPr lang="en-US" dirty="0">
                <a:solidFill>
                  <a:schemeClr val="tx1"/>
                </a:solidFill>
                <a:latin typeface="Maiandra GD" pitchFamily="34" charset="0"/>
              </a:rPr>
              <a:t>&lt;key, value&gt; 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store 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 err="1" smtClean="0">
                <a:solidFill>
                  <a:schemeClr val="tx1"/>
                </a:solidFill>
                <a:latin typeface="Maiandra GD" pitchFamily="34" charset="0"/>
              </a:rPr>
              <a:t>Hadoop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Maiandra GD" pitchFamily="34" charset="0"/>
              </a:rPr>
              <a:t>Distributed file 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system </a:t>
            </a:r>
            <a:r>
              <a:rPr lang="en-US" dirty="0">
                <a:solidFill>
                  <a:schemeClr val="tx1"/>
                </a:solidFill>
                <a:latin typeface="Maiandra GD" pitchFamily="34" charset="0"/>
              </a:rPr>
              <a:t>(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HDFS) is the open source version of this. (Currently an Apache project)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Parallel processing of the data using </a:t>
            </a:r>
            <a:r>
              <a:rPr lang="en-US" dirty="0" err="1" smtClean="0">
                <a:solidFill>
                  <a:schemeClr val="tx1"/>
                </a:solidFill>
                <a:latin typeface="Maiandra GD" pitchFamily="34" charset="0"/>
              </a:rPr>
              <a:t>MapReduce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 (MR) programming model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Challenges</a:t>
            </a:r>
          </a:p>
          <a:p>
            <a:pPr marL="674370" lvl="1" indent="-274320">
              <a:buFont typeface="Wingdings 2"/>
              <a:buChar char=""/>
              <a:defRPr/>
            </a:pPr>
            <a:r>
              <a:rPr lang="en-US" sz="2200" dirty="0">
                <a:solidFill>
                  <a:schemeClr val="tx1"/>
                </a:solidFill>
                <a:latin typeface="Maiandra GD" pitchFamily="34" charset="0"/>
              </a:rPr>
              <a:t>F</a:t>
            </a:r>
            <a:r>
              <a:rPr lang="en-US" sz="2200" dirty="0" smtClean="0">
                <a:solidFill>
                  <a:schemeClr val="tx1"/>
                </a:solidFill>
                <a:latin typeface="Maiandra GD" pitchFamily="34" charset="0"/>
              </a:rPr>
              <a:t>ormulation of  MR algorithms  </a:t>
            </a:r>
          </a:p>
          <a:p>
            <a:pPr marL="674370" lvl="1" indent="-274320">
              <a:buFont typeface="Wingdings 2"/>
              <a:buChar char=""/>
              <a:defRPr/>
            </a:pPr>
            <a:r>
              <a:rPr lang="en-US" sz="2200" dirty="0" smtClean="0">
                <a:solidFill>
                  <a:schemeClr val="tx1"/>
                </a:solidFill>
                <a:latin typeface="Maiandra GD" pitchFamily="34" charset="0"/>
              </a:rPr>
              <a:t>Proper use of the features of infrastructure (Ex: sort)</a:t>
            </a:r>
          </a:p>
          <a:p>
            <a:pPr marL="674370" lvl="1" indent="-274320">
              <a:buFont typeface="Wingdings 2"/>
              <a:buChar char=""/>
              <a:defRPr/>
            </a:pPr>
            <a:r>
              <a:rPr lang="en-US" sz="2200" dirty="0" smtClean="0">
                <a:solidFill>
                  <a:schemeClr val="tx1"/>
                </a:solidFill>
                <a:latin typeface="Maiandra GD" pitchFamily="34" charset="0"/>
              </a:rPr>
              <a:t>Best practices in using MR and HDFS</a:t>
            </a:r>
          </a:p>
          <a:p>
            <a:pPr marL="274320" indent="-274320">
              <a:buFont typeface="Wingdings 2"/>
              <a:buChar char=""/>
              <a:defRPr/>
            </a:pP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An extensive ecosystem consisting of other components such  as column-based store (</a:t>
            </a:r>
            <a:r>
              <a:rPr lang="en-US" dirty="0" err="1" smtClean="0">
                <a:solidFill>
                  <a:schemeClr val="tx1"/>
                </a:solidFill>
                <a:latin typeface="Maiandra GD" pitchFamily="34" charset="0"/>
              </a:rPr>
              <a:t>Hbase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, </a:t>
            </a:r>
            <a:r>
              <a:rPr lang="en-US" dirty="0" err="1" smtClean="0">
                <a:solidFill>
                  <a:schemeClr val="tx1"/>
                </a:solidFill>
                <a:latin typeface="Maiandra GD" pitchFamily="34" charset="0"/>
              </a:rPr>
              <a:t>BigTable</a:t>
            </a:r>
            <a:r>
              <a:rPr lang="en-US" dirty="0" smtClean="0">
                <a:solidFill>
                  <a:schemeClr val="tx1"/>
                </a:solidFill>
                <a:latin typeface="Maiandra GD" pitchFamily="34" charset="0"/>
              </a:rPr>
              <a:t>), big data warehousing (Hive), workflow languages, etc.</a:t>
            </a:r>
          </a:p>
          <a:p>
            <a:pPr marL="0" indent="0">
              <a:buNone/>
              <a:defRPr/>
            </a:pPr>
            <a:endParaRPr lang="en-US" dirty="0" smtClean="0"/>
          </a:p>
          <a:p>
            <a:pPr marL="274320" indent="-274320">
              <a:buFont typeface="Wingdings 2"/>
              <a:buChar char=""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/>
          <a:lstStyle/>
          <a:p>
            <a:fld id="{289DACB3-0BF4-44CA-A490-63CC7DA71B25}" type="datetime1">
              <a:rPr lang="en-US" smtClean="0"/>
              <a:t>1/20/2014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/>
          <a:lstStyle/>
          <a:p>
            <a:fld id="{2E3C84E5-CE4F-4BCB-9060-5E395DEC56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3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Hadoop</a:t>
            </a:r>
            <a:r>
              <a:rPr lang="en-US" dirty="0" smtClean="0"/>
              <a:t>-MapReduce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MapReduce like algorithms on </a:t>
            </a:r>
            <a:r>
              <a:rPr lang="en-US" dirty="0" err="1"/>
              <a:t>Hadoop</a:t>
            </a:r>
            <a:r>
              <a:rPr lang="en-US" dirty="0"/>
              <a:t>-like infrastructures: </a:t>
            </a:r>
            <a:r>
              <a:rPr lang="en-US" dirty="0" smtClean="0"/>
              <a:t>typically batch processing </a:t>
            </a:r>
            <a:endParaRPr lang="en-US" dirty="0"/>
          </a:p>
          <a:p>
            <a:pPr lvl="1"/>
            <a:r>
              <a:rPr lang="en-US" dirty="0"/>
              <a:t>Distributed parallelism among commodity machines</a:t>
            </a:r>
          </a:p>
          <a:p>
            <a:pPr lvl="1"/>
            <a:r>
              <a:rPr lang="en-US" dirty="0"/>
              <a:t>WORM</a:t>
            </a:r>
          </a:p>
          <a:p>
            <a:pPr lvl="1"/>
            <a:r>
              <a:rPr lang="en-US" dirty="0"/>
              <a:t>&lt;key, value&gt; pairs</a:t>
            </a:r>
          </a:p>
          <a:p>
            <a:pPr>
              <a:defRPr/>
            </a:pPr>
            <a:r>
              <a:rPr lang="en-US" dirty="0">
                <a:latin typeface="Maiandra GD" pitchFamily="34" charset="0"/>
              </a:rPr>
              <a:t>Challenges</a:t>
            </a:r>
          </a:p>
          <a:p>
            <a:pPr marL="674370" lvl="1">
              <a:buFont typeface="Wingdings 2"/>
              <a:buChar char=""/>
              <a:defRPr/>
            </a:pPr>
            <a:r>
              <a:rPr lang="en-US" b="1" dirty="0">
                <a:solidFill>
                  <a:schemeClr val="tx1"/>
                </a:solidFill>
                <a:latin typeface="Maiandra GD" pitchFamily="34" charset="0"/>
              </a:rPr>
              <a:t>Formulation of  MR algorithms  </a:t>
            </a:r>
          </a:p>
          <a:p>
            <a:pPr marL="674370" lvl="1">
              <a:buFont typeface="Wingdings 2"/>
              <a:buChar char=""/>
              <a:defRPr/>
            </a:pPr>
            <a:r>
              <a:rPr lang="en-US" dirty="0">
                <a:solidFill>
                  <a:schemeClr val="tx1"/>
                </a:solidFill>
                <a:latin typeface="Maiandra GD" pitchFamily="34" charset="0"/>
              </a:rPr>
              <a:t>Proper use of the features of infrastructure (Ex: sort)</a:t>
            </a:r>
          </a:p>
          <a:p>
            <a:pPr marL="674370" lvl="1">
              <a:buFont typeface="Wingdings 2"/>
              <a:buChar char=""/>
              <a:defRPr/>
            </a:pPr>
            <a:r>
              <a:rPr lang="en-US" dirty="0">
                <a:solidFill>
                  <a:schemeClr val="tx1"/>
                </a:solidFill>
                <a:latin typeface="Maiandra GD" pitchFamily="34" charset="0"/>
              </a:rPr>
              <a:t>Best practices in using MR and HDFS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898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You focus on Map function, Reduce function and other related functions like combiner etc.</a:t>
            </a:r>
          </a:p>
          <a:p>
            <a:r>
              <a:rPr lang="en-US" dirty="0" smtClean="0"/>
              <a:t>Mapper and Reducer are designed as classes and the function defined as a method.</a:t>
            </a:r>
          </a:p>
          <a:p>
            <a:r>
              <a:rPr lang="en-US" dirty="0" smtClean="0"/>
              <a:t>Configure the MR “Job” for location of these functions, location of input and output (paths within the local server), scale or size of the cluster in terms of #maps, # reduce etc., run the job.</a:t>
            </a:r>
          </a:p>
          <a:p>
            <a:r>
              <a:rPr lang="en-US" dirty="0" smtClean="0"/>
              <a:t>Thus a </a:t>
            </a:r>
            <a:r>
              <a:rPr lang="en-US" dirty="0"/>
              <a:t>complete MapReduce job consists of code for the mapper, reducer, </a:t>
            </a:r>
            <a:r>
              <a:rPr lang="en-US" dirty="0" smtClean="0"/>
              <a:t>combiner, and partitioner</a:t>
            </a:r>
            <a:r>
              <a:rPr lang="en-US" dirty="0"/>
              <a:t>, along with job </a:t>
            </a:r>
            <a:r>
              <a:rPr lang="en-US" dirty="0" smtClean="0"/>
              <a:t>configuration parameters</a:t>
            </a:r>
            <a:r>
              <a:rPr lang="en-US" dirty="0"/>
              <a:t>. The </a:t>
            </a:r>
            <a:r>
              <a:rPr lang="en-US" b="1" dirty="0"/>
              <a:t>execution </a:t>
            </a:r>
            <a:r>
              <a:rPr lang="en-US" b="1" dirty="0" smtClean="0"/>
              <a:t>framework </a:t>
            </a:r>
            <a:r>
              <a:rPr lang="en-US" dirty="0" smtClean="0"/>
              <a:t>handles </a:t>
            </a:r>
            <a:r>
              <a:rPr lang="en-US" dirty="0"/>
              <a:t>everything else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MapReduce Design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222F6-6E79-404A-9B67-85F1760ADE83}" type="datetime1">
              <a:rPr lang="en-US" smtClean="0"/>
              <a:t>1/20/2014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CSE4/587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A21C-757B-4C57-9B16-FDF3378448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61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09728" indent="0">
              <a:buNone/>
            </a:pPr>
            <a:r>
              <a:rPr lang="en-US" dirty="0"/>
              <a:t>1: class Mapper</a:t>
            </a:r>
          </a:p>
          <a:p>
            <a:pPr marL="109728" indent="0">
              <a:buNone/>
            </a:pPr>
            <a:r>
              <a:rPr lang="en-US" dirty="0"/>
              <a:t>2: </a:t>
            </a:r>
            <a:r>
              <a:rPr lang="en-US" dirty="0" smtClean="0"/>
              <a:t>	method </a:t>
            </a:r>
            <a:r>
              <a:rPr lang="en-US" dirty="0"/>
              <a:t>Map(</a:t>
            </a:r>
            <a:r>
              <a:rPr lang="en-US" dirty="0" err="1"/>
              <a:t>docid</a:t>
            </a:r>
            <a:r>
              <a:rPr lang="en-US" dirty="0"/>
              <a:t> a; doc d)</a:t>
            </a:r>
          </a:p>
          <a:p>
            <a:pPr marL="109728" indent="0">
              <a:buNone/>
            </a:pPr>
            <a:r>
              <a:rPr lang="en-US" dirty="0"/>
              <a:t>3: </a:t>
            </a:r>
            <a:r>
              <a:rPr lang="en-US" dirty="0" smtClean="0"/>
              <a:t>	for </a:t>
            </a:r>
            <a:r>
              <a:rPr lang="en-US" dirty="0"/>
              <a:t>all term t </a:t>
            </a:r>
            <a:r>
              <a:rPr lang="en-US" dirty="0" smtClean="0"/>
              <a:t>in </a:t>
            </a:r>
            <a:r>
              <a:rPr lang="en-US" dirty="0"/>
              <a:t>doc d do</a:t>
            </a:r>
          </a:p>
          <a:p>
            <a:pPr marL="109728" indent="0">
              <a:buNone/>
            </a:pPr>
            <a:r>
              <a:rPr lang="en-US" dirty="0"/>
              <a:t>4: </a:t>
            </a:r>
            <a:r>
              <a:rPr lang="en-US" dirty="0" smtClean="0"/>
              <a:t>		Emit(term </a:t>
            </a:r>
            <a:r>
              <a:rPr lang="en-US" dirty="0"/>
              <a:t>t; count 1</a:t>
            </a:r>
            <a:r>
              <a:rPr lang="en-US" dirty="0" smtClean="0"/>
              <a:t>)</a:t>
            </a:r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/>
              <a:t>1: class Reducer</a:t>
            </a:r>
          </a:p>
          <a:p>
            <a:pPr marL="109728" indent="0">
              <a:buNone/>
            </a:pPr>
            <a:r>
              <a:rPr lang="en-US" dirty="0"/>
              <a:t>2: </a:t>
            </a:r>
            <a:r>
              <a:rPr lang="en-US" dirty="0" smtClean="0"/>
              <a:t>	method </a:t>
            </a:r>
            <a:r>
              <a:rPr lang="en-US" dirty="0"/>
              <a:t>Reduce(term t; counts [c1; c2; : : :])</a:t>
            </a:r>
          </a:p>
          <a:p>
            <a:pPr marL="109728" indent="0">
              <a:buNone/>
            </a:pPr>
            <a:r>
              <a:rPr lang="en-US" dirty="0"/>
              <a:t>3</a:t>
            </a:r>
            <a:r>
              <a:rPr lang="en-US" dirty="0" smtClean="0"/>
              <a:t>:	 </a:t>
            </a:r>
            <a:r>
              <a:rPr lang="en-US" dirty="0"/>
              <a:t>sum </a:t>
            </a:r>
            <a:r>
              <a:rPr lang="en-US" dirty="0" smtClean="0"/>
              <a:t>=  </a:t>
            </a:r>
            <a:r>
              <a:rPr lang="en-US" dirty="0"/>
              <a:t>0</a:t>
            </a:r>
          </a:p>
          <a:p>
            <a:pPr marL="109728" indent="0">
              <a:buNone/>
            </a:pPr>
            <a:r>
              <a:rPr lang="en-US" dirty="0"/>
              <a:t>4: </a:t>
            </a:r>
            <a:r>
              <a:rPr lang="en-US" dirty="0" smtClean="0"/>
              <a:t>	for </a:t>
            </a:r>
            <a:r>
              <a:rPr lang="en-US" dirty="0"/>
              <a:t>all count c </a:t>
            </a:r>
            <a:r>
              <a:rPr lang="en-US" dirty="0" smtClean="0"/>
              <a:t>in </a:t>
            </a:r>
            <a:r>
              <a:rPr lang="en-US" dirty="0"/>
              <a:t>counts [c1; c2; : : :] do</a:t>
            </a:r>
          </a:p>
          <a:p>
            <a:pPr marL="109728" indent="0">
              <a:buNone/>
            </a:pPr>
            <a:r>
              <a:rPr lang="en-US" dirty="0"/>
              <a:t>5: </a:t>
            </a:r>
            <a:r>
              <a:rPr lang="en-US" dirty="0" smtClean="0"/>
              <a:t>		sum = sum </a:t>
            </a:r>
            <a:r>
              <a:rPr lang="en-US" dirty="0"/>
              <a:t>+ c</a:t>
            </a:r>
          </a:p>
          <a:p>
            <a:pPr marL="109728" indent="0">
              <a:buNone/>
            </a:pPr>
            <a:r>
              <a:rPr lang="en-US" dirty="0"/>
              <a:t>6: </a:t>
            </a:r>
            <a:r>
              <a:rPr lang="en-US" dirty="0" smtClean="0"/>
              <a:t>	Emit(term </a:t>
            </a:r>
            <a:r>
              <a:rPr lang="en-US" dirty="0"/>
              <a:t>t; count sum)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code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8D56C-5074-4621-BAE6-4E5D737769FC}" type="datetime1">
              <a:rPr lang="en-US" smtClean="0"/>
              <a:t>1/20/2014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CSE4/587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A21C-757B-4C57-9B16-FDF33784482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53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MapReduce Example: Mapper with Combiner</a:t>
            </a:r>
            <a:endParaRPr lang="en-US" dirty="0"/>
          </a:p>
        </p:txBody>
      </p:sp>
      <p:sp>
        <p:nvSpPr>
          <p:cNvPr id="72707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1295400"/>
            <a:ext cx="8839200" cy="4953000"/>
          </a:xfrm>
        </p:spPr>
        <p:txBody>
          <a:bodyPr>
            <a:normAutofit fontScale="92500" lnSpcReduction="10000"/>
          </a:bodyPr>
          <a:lstStyle/>
          <a:p>
            <a:pPr>
              <a:buFont typeface="Wingdings 2" pitchFamily="18" charset="2"/>
              <a:buNone/>
            </a:pPr>
            <a:endParaRPr lang="en-US" sz="1800" dirty="0" smtClean="0"/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This is a cat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Cat sits on a roof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&lt;this 1&gt; &lt;is 1&gt; &lt;a &lt;1,1,&gt;&gt; &lt;cat &lt;1,1&gt;&gt; &lt;sits 1&gt; &lt;on 1&gt; &lt;roof  1&gt;</a:t>
            </a:r>
          </a:p>
          <a:p>
            <a:pPr>
              <a:buFont typeface="Wingdings 2" pitchFamily="18" charset="2"/>
              <a:buNone/>
            </a:pPr>
            <a:endParaRPr lang="en-US" sz="1800" dirty="0" smtClean="0"/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The roof is a tin roof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There is a tin can on the roof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&lt;the &lt;1,1&gt;&gt; &lt;roof &lt;1,1,1&gt;&gt; &lt;is &lt;1,1&gt;&gt; &lt;a &lt;1,1&gt;&gt; &lt;tin &lt;1,1&gt;&gt; &lt;then 1&gt; &lt;can 1&gt; &lt;on 1&gt;</a:t>
            </a:r>
          </a:p>
          <a:p>
            <a:pPr>
              <a:buFont typeface="Wingdings 2" pitchFamily="18" charset="2"/>
              <a:buNone/>
            </a:pPr>
            <a:endParaRPr lang="en-US" sz="1800" dirty="0" smtClean="0"/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Cat kicks the can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It rolls on the roof and falls on the next roof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&lt;cat 1&gt; &lt;kicks 1&gt; &lt;the &lt;1,1&gt;&gt; &lt;can 1&gt; &lt;it 1&gt; &lt;roll 1&gt; &lt;on &lt;1,1&gt;&gt; &lt;roof &lt;1,1&gt;&gt; &lt;and 1&gt; &lt;falls 1&gt; &lt;next 1&gt;</a:t>
            </a:r>
          </a:p>
          <a:p>
            <a:pPr>
              <a:buFont typeface="Wingdings 2" pitchFamily="18" charset="2"/>
              <a:buNone/>
            </a:pPr>
            <a:endParaRPr lang="en-US" sz="1800" dirty="0" smtClean="0"/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The cat rolls too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It sits on the can</a:t>
            </a:r>
          </a:p>
          <a:p>
            <a:pPr>
              <a:buFont typeface="Wingdings 2" pitchFamily="18" charset="2"/>
              <a:buNone/>
            </a:pPr>
            <a:r>
              <a:rPr lang="en-US" sz="1800" dirty="0" smtClean="0"/>
              <a:t>&lt;the &lt;1,1&gt;&gt; &lt;cat 1&gt; &lt;rolls 1&gt; &lt;too 1&gt; &lt;it 1&gt; &lt;sits 1&gt; &lt;on 1&gt; &lt;cat 1&gt;</a:t>
            </a:r>
          </a:p>
          <a:p>
            <a:pPr>
              <a:buFont typeface="Wingdings 2" pitchFamily="18" charset="2"/>
              <a:buNone/>
            </a:pPr>
            <a:endParaRPr lang="en-US" sz="1800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307BC6-EA5F-413F-BB51-A645BF410697}" type="datetime1">
              <a:rPr lang="en-US" smtClean="0"/>
              <a:t>1/20/2014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CSE4/587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A21C-757B-4C57-9B16-FDF3378448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3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MapReduce Example: Combiner, Reducer, Shuffle, Sort</a:t>
            </a:r>
            <a:endParaRPr lang="en-US" dirty="0"/>
          </a:p>
        </p:txBody>
      </p:sp>
      <p:sp>
        <p:nvSpPr>
          <p:cNvPr id="73731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689975" cy="4572000"/>
          </a:xfrm>
        </p:spPr>
        <p:txBody>
          <a:bodyPr>
            <a:normAutofit/>
          </a:bodyPr>
          <a:lstStyle/>
          <a:p>
            <a:pPr>
              <a:buFont typeface="Wingdings 2" pitchFamily="18" charset="2"/>
              <a:buNone/>
            </a:pPr>
            <a:r>
              <a:rPr lang="en-US" sz="1600" dirty="0" smtClean="0"/>
              <a:t>&lt;this 1&gt; &lt;is 1&gt; &lt;a &lt;1,1,&gt;&gt; &lt;cat &lt;1,1&gt;&gt; &lt;sits 1&gt; &lt;on 1&gt; &lt;roof  1&gt;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&lt;the &lt;1,1&gt;&gt; &lt;roof &lt;1,1,1&gt;&gt; &lt;is &lt;1,1&gt;&gt; &lt;a &lt;1,1&gt;&gt; &lt;tin &lt;1,1&gt;&gt; &lt;then 1&gt; &lt;can 1&gt; &lt;on 1&gt;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&lt;cat 1&gt; &lt;kicks 1&gt; &lt;the &lt;1,1&gt;&gt; &lt;can 1&gt; &lt;it 1&gt; &lt;roll 1&gt; &lt;on &lt;1,1&gt;&gt; &lt;roof &lt;1,1&gt;&gt; &lt;and 1&gt; &lt;falls 1&gt; &lt;next 1&gt;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&lt;the &lt;1,1&gt;&gt; &lt;cat 1&gt; &lt;rolls 1&gt; &lt;too 1&gt; &lt;it 1&gt; &lt;sits 1&gt; &lt;on 1&gt; &lt;cat 1&gt;</a:t>
            </a:r>
          </a:p>
          <a:p>
            <a:pPr>
              <a:buFont typeface="Wingdings 2" pitchFamily="18" charset="2"/>
              <a:buNone/>
            </a:pPr>
            <a:endParaRPr lang="en-US" sz="1600" dirty="0" smtClean="0"/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Input to the reducers: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&lt;cat &lt;1,1,1,1&gt;&gt;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&lt;roof &lt;1,1,1,1,1,1&gt;&gt;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&lt;can &lt;1, 1,1&gt;&gt;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…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Reduce (sum in this case) the counts: Can use non-traditional methods for summing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&lt;cat 4&gt;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&lt;can 3&gt;</a:t>
            </a:r>
          </a:p>
          <a:p>
            <a:pPr>
              <a:buFont typeface="Wingdings 2" pitchFamily="18" charset="2"/>
              <a:buNone/>
            </a:pPr>
            <a:r>
              <a:rPr lang="en-US" sz="1600" dirty="0" smtClean="0"/>
              <a:t>&lt;roof 6&gt;</a:t>
            </a:r>
          </a:p>
          <a:p>
            <a:pPr>
              <a:buFont typeface="Wingdings 2" pitchFamily="18" charset="2"/>
              <a:buNone/>
            </a:pPr>
            <a:endParaRPr lang="en-US" sz="1600" dirty="0" smtClean="0"/>
          </a:p>
          <a:p>
            <a:pPr>
              <a:buFont typeface="Wingdings 2" pitchFamily="18" charset="2"/>
              <a:buNone/>
            </a:pPr>
            <a:endParaRPr lang="en-US" sz="1600" dirty="0" smtClean="0"/>
          </a:p>
          <a:p>
            <a:endParaRPr lang="en-US" dirty="0" smtClean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19611-99F6-478A-88E0-CAD00DC342B6}" type="datetime1">
              <a:rPr lang="en-US" smtClean="0"/>
              <a:t>1/20/2014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CSE4/587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A21C-757B-4C57-9B16-FDF33784482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71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All Mappers work in parallel.</a:t>
            </a:r>
          </a:p>
          <a:p>
            <a:r>
              <a:rPr lang="en-US" dirty="0" smtClean="0"/>
              <a:t>Barriers enforce all mappers completion before Reducers start.</a:t>
            </a:r>
          </a:p>
          <a:p>
            <a:r>
              <a:rPr lang="en-US" dirty="0" smtClean="0"/>
              <a:t>Mappers and Reducers typically execute on the same server</a:t>
            </a:r>
          </a:p>
          <a:p>
            <a:r>
              <a:rPr lang="en-US" dirty="0" smtClean="0"/>
              <a:t>You can configure job to have other combinations besides Mapper/Reducer: ex: identify mappers/reducers for realizing “sort” (that happens to be a benchmark)</a:t>
            </a:r>
          </a:p>
          <a:p>
            <a:r>
              <a:rPr lang="en-US" dirty="0" smtClean="0"/>
              <a:t>Mappers and reducers can have side effects; this allows for sharing information between iterations.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MR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FB0E4F-B386-4C48-AB9F-CB415C6258F6}" type="datetime1">
              <a:rPr lang="en-US" smtClean="0"/>
              <a:t>1/20/2014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CSE4/587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3DA21C-757B-4C57-9B16-FDF3378448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68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7B9899"/>
                </a:solidFill>
              </a:rPr>
              <a:t>Classes of problems “mapreducable”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1625" y="1527175"/>
            <a:ext cx="8504238" cy="4572000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Benchmark for comparing: Jim Gray’s challenge on data-intensive computing. Ex: “Sort”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Google uses it (we think) for </a:t>
            </a:r>
            <a:r>
              <a:rPr lang="en-US" dirty="0" err="1" smtClean="0"/>
              <a:t>wordcount</a:t>
            </a:r>
            <a:r>
              <a:rPr lang="en-US" dirty="0" smtClean="0"/>
              <a:t>, </a:t>
            </a:r>
            <a:r>
              <a:rPr lang="en-US" dirty="0" err="1" smtClean="0"/>
              <a:t>adwords</a:t>
            </a:r>
            <a:r>
              <a:rPr lang="en-US" dirty="0" smtClean="0"/>
              <a:t>, </a:t>
            </a:r>
            <a:r>
              <a:rPr lang="en-US" dirty="0" err="1" smtClean="0"/>
              <a:t>pagerank</a:t>
            </a:r>
            <a:r>
              <a:rPr lang="en-US" dirty="0" smtClean="0"/>
              <a:t>, indexing data.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Simple algorithms such as </a:t>
            </a:r>
            <a:r>
              <a:rPr lang="en-US" dirty="0" err="1" smtClean="0"/>
              <a:t>grep</a:t>
            </a:r>
            <a:r>
              <a:rPr lang="en-US" dirty="0" smtClean="0"/>
              <a:t>, text-indexing, reverse indexing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Bayesian classification: data mining domain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err="1" smtClean="0"/>
              <a:t>Facebook</a:t>
            </a:r>
            <a:r>
              <a:rPr lang="en-US" dirty="0" smtClean="0"/>
              <a:t> uses it for various operations: demographics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Financial services use it for analytics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Astronomy: Gaussian analysis for locating extra-terrestrial objects.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Expected to play a critical role in semantic web and </a:t>
            </a:r>
            <a:r>
              <a:rPr lang="en-US" dirty="0" smtClean="0"/>
              <a:t>web3.0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Probably many classical math problems.</a:t>
            </a:r>
            <a:endParaRPr lang="en-US" dirty="0" smtClean="0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0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B.Ramamurthy &amp; K.Madurai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C0394D-6392-4DE3-B915-BC6AEA1BA2E1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35846" name="Footer Placeholder 5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de-DE" dirty="0"/>
              <a:t>CCSCNE 2009 </a:t>
            </a:r>
            <a:r>
              <a:rPr lang="de-DE" dirty="0" smtClean="0"/>
              <a:t>Plattsburg</a:t>
            </a:r>
            <a:r>
              <a:rPr lang="de-DE" dirty="0"/>
              <a:t>, April 24 2009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059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 Rank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301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General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Consider the world wide web with all its links.</a:t>
            </a:r>
          </a:p>
          <a:p>
            <a:r>
              <a:rPr lang="en-US" dirty="0" smtClean="0"/>
              <a:t>Now imagine a random web surfer who visits a page and clicks a link on the page</a:t>
            </a:r>
          </a:p>
          <a:p>
            <a:r>
              <a:rPr lang="en-US" dirty="0" smtClean="0"/>
              <a:t>Repeats this to infinity</a:t>
            </a:r>
          </a:p>
          <a:p>
            <a:r>
              <a:rPr lang="en-US" dirty="0" err="1" smtClean="0"/>
              <a:t>Pagerank</a:t>
            </a:r>
            <a:r>
              <a:rPr lang="en-US" dirty="0" smtClean="0"/>
              <a:t> is a measure of how frequently will a page will be encountered.</a:t>
            </a:r>
          </a:p>
          <a:p>
            <a:r>
              <a:rPr lang="en-US" dirty="0" smtClean="0"/>
              <a:t>In other words it is a probability distribution over nodes in the graph representing the likelihood that a random walk over the linked structure will arrive at a particular node.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92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PageRank Formula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 smtClean="0"/>
                  <a:t>P(n)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/>
                        <a:ea typeface="Cambria Math"/>
                      </a:rPr>
                      <m:t>α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𝐺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+(1−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)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/>
                          </a:rPr>
                          <m:t>𝑚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∈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𝐿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𝑛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</m:d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𝑚</m:t>
                                </m:r>
                              </m:e>
                            </m:d>
                          </m:den>
                        </m:f>
                      </m:e>
                    </m:nary>
                  </m:oMath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</a:t>
                </a:r>
                <a:r>
                  <a:rPr lang="el-GR" dirty="0" smtClean="0"/>
                  <a:t>α</a:t>
                </a:r>
                <a:r>
                  <a:rPr lang="en-US" dirty="0" smtClean="0"/>
                  <a:t> randomness factor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G is the total number of nodes in the graph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L(n) is all the pages that link to n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:r>
                  <a:rPr lang="en-US" dirty="0" smtClean="0"/>
                  <a:t>  C(m) is the number of outgoing links of the page </a:t>
                </a:r>
                <a:r>
                  <a:rPr lang="en-US" dirty="0"/>
                  <a:t>m</a:t>
                </a:r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Note that PageRank is recursively defined.</a:t>
                </a:r>
              </a:p>
              <a:p>
                <a:pPr marL="0" indent="0">
                  <a:buNone/>
                </a:pPr>
                <a:r>
                  <a:rPr lang="en-US" dirty="0" smtClean="0"/>
                  <a:t>It is implemented by iterative </a:t>
                </a:r>
                <a:r>
                  <a:rPr lang="en-US" dirty="0" err="1" smtClean="0"/>
                  <a:t>MRs.</a:t>
                </a:r>
                <a:r>
                  <a:rPr lang="en-US" dirty="0" smtClean="0"/>
                  <a:t> </a:t>
                </a:r>
              </a:p>
              <a:p>
                <a:pPr marL="0" indent="0">
                  <a:buNone/>
                </a:pPr>
                <a:r>
                  <a:rPr lang="en-US" dirty="0" smtClean="0"/>
                  <a:t>Lets assume </a:t>
                </a:r>
                <a:r>
                  <a:rPr lang="el-GR" dirty="0" smtClean="0"/>
                  <a:t>α</a:t>
                </a:r>
                <a:r>
                  <a:rPr lang="en-US" dirty="0" smtClean="0"/>
                  <a:t> is zero for a simple walk through.</a:t>
                </a: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24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PageRank: Walk Through</a:t>
            </a:r>
            <a:endParaRPr lang="en-US" dirty="0"/>
          </a:p>
        </p:txBody>
      </p:sp>
      <p:grpSp>
        <p:nvGrpSpPr>
          <p:cNvPr id="45" name="Group 44"/>
          <p:cNvGrpSpPr/>
          <p:nvPr/>
        </p:nvGrpSpPr>
        <p:grpSpPr>
          <a:xfrm>
            <a:off x="1265111" y="1410596"/>
            <a:ext cx="2416629" cy="2442867"/>
            <a:chOff x="1219200" y="1671933"/>
            <a:chExt cx="2416629" cy="2442867"/>
          </a:xfrm>
        </p:grpSpPr>
        <p:sp>
          <p:nvSpPr>
            <p:cNvPr id="6" name="Oval 5"/>
            <p:cNvSpPr/>
            <p:nvPr/>
          </p:nvSpPr>
          <p:spPr>
            <a:xfrm>
              <a:off x="1371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2895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026229" y="33528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219200" y="35052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n4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209800" y="26670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>
              <a:stCxn id="6" idx="6"/>
              <a:endCxn id="7" idx="2"/>
            </p:cNvCxnSpPr>
            <p:nvPr/>
          </p:nvCxnSpPr>
          <p:spPr>
            <a:xfrm>
              <a:off x="1981200" y="1981200"/>
              <a:ext cx="914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7" idx="4"/>
              <a:endCxn id="8" idx="0"/>
            </p:cNvCxnSpPr>
            <p:nvPr/>
          </p:nvCxnSpPr>
          <p:spPr>
            <a:xfrm>
              <a:off x="3200400" y="2286000"/>
              <a:ext cx="130629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8" idx="2"/>
              <a:endCxn id="9" idx="6"/>
            </p:cNvCxnSpPr>
            <p:nvPr/>
          </p:nvCxnSpPr>
          <p:spPr>
            <a:xfrm flipH="1">
              <a:off x="1828800" y="3657600"/>
              <a:ext cx="1197429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4"/>
              <a:endCxn id="9" idx="0"/>
            </p:cNvCxnSpPr>
            <p:nvPr/>
          </p:nvCxnSpPr>
          <p:spPr>
            <a:xfrm flipH="1">
              <a:off x="1524000" y="2286000"/>
              <a:ext cx="152400" cy="1219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0"/>
              <a:endCxn id="7" idx="3"/>
            </p:cNvCxnSpPr>
            <p:nvPr/>
          </p:nvCxnSpPr>
          <p:spPr>
            <a:xfrm flipV="1">
              <a:off x="2514600" y="2196726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7" idx="4"/>
              <a:endCxn id="10" idx="7"/>
            </p:cNvCxnSpPr>
            <p:nvPr/>
          </p:nvCxnSpPr>
          <p:spPr>
            <a:xfrm flipH="1">
              <a:off x="2730126" y="2286000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0" idx="1"/>
              <a:endCxn id="6" idx="5"/>
            </p:cNvCxnSpPr>
            <p:nvPr/>
          </p:nvCxnSpPr>
          <p:spPr>
            <a:xfrm flipH="1" flipV="1">
              <a:off x="1891926" y="2196726"/>
              <a:ext cx="407148" cy="5595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10" idx="5"/>
              <a:endCxn id="8" idx="1"/>
            </p:cNvCxnSpPr>
            <p:nvPr/>
          </p:nvCxnSpPr>
          <p:spPr>
            <a:xfrm>
              <a:off x="2730126" y="3187326"/>
              <a:ext cx="385377" cy="2547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stCxn id="9" idx="7"/>
              <a:endCxn id="10" idx="3"/>
            </p:cNvCxnSpPr>
            <p:nvPr/>
          </p:nvCxnSpPr>
          <p:spPr>
            <a:xfrm flipV="1">
              <a:off x="1739526" y="3187326"/>
              <a:ext cx="559548" cy="4071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1484442" y="1671933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026229" y="1671934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3127287" y="36576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209800" y="26670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1299418" y="38239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43268" y="1736466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320258" y="2160501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557779" y="3608764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127287" y="2470700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24642" y="2323786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663326" y="32766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801188" y="2382637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0.066</a:t>
              </a:r>
              <a:endParaRPr lang="en-US" sz="12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603080" y="3162887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0.066</a:t>
              </a:r>
              <a:endParaRPr lang="en-US" sz="12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467209" y="2210072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0.066</a:t>
              </a:r>
              <a:endParaRPr lang="en-US" sz="1200" dirty="0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5373694" y="1393874"/>
            <a:ext cx="2499916" cy="2442867"/>
            <a:chOff x="1219200" y="1671933"/>
            <a:chExt cx="2499916" cy="2442867"/>
          </a:xfrm>
        </p:grpSpPr>
        <p:sp>
          <p:nvSpPr>
            <p:cNvPr id="47" name="Oval 46"/>
            <p:cNvSpPr/>
            <p:nvPr/>
          </p:nvSpPr>
          <p:spPr>
            <a:xfrm>
              <a:off x="1371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2895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49" name="Oval 48"/>
            <p:cNvSpPr/>
            <p:nvPr/>
          </p:nvSpPr>
          <p:spPr>
            <a:xfrm>
              <a:off x="3026229" y="33528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0" name="Oval 49"/>
            <p:cNvSpPr/>
            <p:nvPr/>
          </p:nvSpPr>
          <p:spPr>
            <a:xfrm>
              <a:off x="1219200" y="35052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n4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1" name="Oval 50"/>
            <p:cNvSpPr/>
            <p:nvPr/>
          </p:nvSpPr>
          <p:spPr>
            <a:xfrm>
              <a:off x="2209800" y="26670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Straight Arrow Connector 51"/>
            <p:cNvCxnSpPr>
              <a:stCxn id="47" idx="6"/>
              <a:endCxn id="48" idx="2"/>
            </p:cNvCxnSpPr>
            <p:nvPr/>
          </p:nvCxnSpPr>
          <p:spPr>
            <a:xfrm>
              <a:off x="1981200" y="1981200"/>
              <a:ext cx="914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>
              <a:stCxn id="48" idx="4"/>
              <a:endCxn id="49" idx="0"/>
            </p:cNvCxnSpPr>
            <p:nvPr/>
          </p:nvCxnSpPr>
          <p:spPr>
            <a:xfrm>
              <a:off x="3200400" y="2286000"/>
              <a:ext cx="130629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>
              <a:stCxn id="49" idx="2"/>
              <a:endCxn id="50" idx="6"/>
            </p:cNvCxnSpPr>
            <p:nvPr/>
          </p:nvCxnSpPr>
          <p:spPr>
            <a:xfrm flipH="1">
              <a:off x="1828800" y="3657600"/>
              <a:ext cx="1197429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7" idx="4"/>
              <a:endCxn id="50" idx="0"/>
            </p:cNvCxnSpPr>
            <p:nvPr/>
          </p:nvCxnSpPr>
          <p:spPr>
            <a:xfrm flipH="1">
              <a:off x="1524000" y="2286000"/>
              <a:ext cx="152400" cy="1219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51" idx="0"/>
              <a:endCxn id="48" idx="3"/>
            </p:cNvCxnSpPr>
            <p:nvPr/>
          </p:nvCxnSpPr>
          <p:spPr>
            <a:xfrm flipV="1">
              <a:off x="2514600" y="2196726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8" idx="4"/>
              <a:endCxn id="51" idx="7"/>
            </p:cNvCxnSpPr>
            <p:nvPr/>
          </p:nvCxnSpPr>
          <p:spPr>
            <a:xfrm flipH="1">
              <a:off x="2730126" y="2286000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1" idx="1"/>
              <a:endCxn id="47" idx="5"/>
            </p:cNvCxnSpPr>
            <p:nvPr/>
          </p:nvCxnSpPr>
          <p:spPr>
            <a:xfrm flipH="1" flipV="1">
              <a:off x="1891926" y="2196726"/>
              <a:ext cx="407148" cy="5595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1" idx="5"/>
              <a:endCxn id="49" idx="1"/>
            </p:cNvCxnSpPr>
            <p:nvPr/>
          </p:nvCxnSpPr>
          <p:spPr>
            <a:xfrm>
              <a:off x="2730126" y="3187326"/>
              <a:ext cx="385377" cy="2547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>
              <a:stCxn id="50" idx="7"/>
              <a:endCxn id="51" idx="3"/>
            </p:cNvCxnSpPr>
            <p:nvPr/>
          </p:nvCxnSpPr>
          <p:spPr>
            <a:xfrm flipV="1">
              <a:off x="1739526" y="3187326"/>
              <a:ext cx="559548" cy="4071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/>
            <p:cNvSpPr txBox="1"/>
            <p:nvPr/>
          </p:nvSpPr>
          <p:spPr>
            <a:xfrm>
              <a:off x="1484442" y="1671933"/>
              <a:ext cx="5886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0.066</a:t>
              </a:r>
              <a:endParaRPr lang="en-US" sz="120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026229" y="1671934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0.166</a:t>
              </a:r>
              <a:endParaRPr lang="en-US" sz="120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127287" y="3657600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0.166</a:t>
              </a:r>
              <a:endParaRPr lang="en-US" sz="1200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209800" y="2667000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0.3</a:t>
              </a:r>
              <a:endParaRPr lang="en-US" sz="12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299418" y="3823900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0.3</a:t>
              </a:r>
              <a:endParaRPr lang="en-US" sz="12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943268" y="1736466"/>
              <a:ext cx="585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0.033</a:t>
              </a:r>
              <a:endParaRPr lang="en-US" sz="1200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320258" y="2160501"/>
              <a:ext cx="58541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0.033</a:t>
              </a:r>
              <a:endParaRPr lang="en-US" sz="120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57779" y="3608764"/>
              <a:ext cx="55976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0.166</a:t>
              </a:r>
              <a:endParaRPr lang="en-US" sz="12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127287" y="2470700"/>
              <a:ext cx="5918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0.083</a:t>
              </a:r>
              <a:endParaRPr lang="en-US" sz="12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824642" y="2323786"/>
              <a:ext cx="59182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0.083</a:t>
              </a:r>
              <a:endParaRPr lang="en-US" sz="12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663326" y="3276600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0.3</a:t>
              </a:r>
              <a:endParaRPr lang="en-US" sz="12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801188" y="2382637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2603080" y="3162887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467209" y="2210072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</p:grpSp>
      <p:sp>
        <p:nvSpPr>
          <p:cNvPr id="75" name="Right Arrow 74"/>
          <p:cNvSpPr/>
          <p:nvPr/>
        </p:nvSpPr>
        <p:spPr>
          <a:xfrm>
            <a:off x="3962400" y="2358469"/>
            <a:ext cx="978408" cy="25907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/>
          <p:cNvGrpSpPr/>
          <p:nvPr/>
        </p:nvGrpSpPr>
        <p:grpSpPr>
          <a:xfrm>
            <a:off x="3385722" y="4111119"/>
            <a:ext cx="2471062" cy="2442867"/>
            <a:chOff x="1219200" y="1671933"/>
            <a:chExt cx="2471062" cy="2442867"/>
          </a:xfrm>
        </p:grpSpPr>
        <p:sp>
          <p:nvSpPr>
            <p:cNvPr id="77" name="Oval 76"/>
            <p:cNvSpPr/>
            <p:nvPr/>
          </p:nvSpPr>
          <p:spPr>
            <a:xfrm>
              <a:off x="1371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n1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8" name="Oval 77"/>
            <p:cNvSpPr/>
            <p:nvPr/>
          </p:nvSpPr>
          <p:spPr>
            <a:xfrm>
              <a:off x="2895600" y="16764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n2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9" name="Oval 78"/>
            <p:cNvSpPr/>
            <p:nvPr/>
          </p:nvSpPr>
          <p:spPr>
            <a:xfrm>
              <a:off x="3026229" y="33528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n3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0" name="Oval 79"/>
            <p:cNvSpPr/>
            <p:nvPr/>
          </p:nvSpPr>
          <p:spPr>
            <a:xfrm>
              <a:off x="1219200" y="35052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n4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1" name="Oval 80"/>
            <p:cNvSpPr/>
            <p:nvPr/>
          </p:nvSpPr>
          <p:spPr>
            <a:xfrm>
              <a:off x="2209800" y="2667000"/>
              <a:ext cx="609600" cy="609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n5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cxnSp>
          <p:nvCxnSpPr>
            <p:cNvPr id="82" name="Straight Arrow Connector 81"/>
            <p:cNvCxnSpPr>
              <a:stCxn id="77" idx="6"/>
              <a:endCxn id="78" idx="2"/>
            </p:cNvCxnSpPr>
            <p:nvPr/>
          </p:nvCxnSpPr>
          <p:spPr>
            <a:xfrm>
              <a:off x="1981200" y="1981200"/>
              <a:ext cx="9144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>
              <a:stCxn id="78" idx="4"/>
              <a:endCxn id="79" idx="0"/>
            </p:cNvCxnSpPr>
            <p:nvPr/>
          </p:nvCxnSpPr>
          <p:spPr>
            <a:xfrm>
              <a:off x="3200400" y="2286000"/>
              <a:ext cx="130629" cy="10668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>
              <a:stCxn id="79" idx="2"/>
              <a:endCxn id="80" idx="6"/>
            </p:cNvCxnSpPr>
            <p:nvPr/>
          </p:nvCxnSpPr>
          <p:spPr>
            <a:xfrm flipH="1">
              <a:off x="1828800" y="3657600"/>
              <a:ext cx="1197429" cy="1524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stCxn id="77" idx="4"/>
              <a:endCxn id="80" idx="0"/>
            </p:cNvCxnSpPr>
            <p:nvPr/>
          </p:nvCxnSpPr>
          <p:spPr>
            <a:xfrm flipH="1">
              <a:off x="1524000" y="2286000"/>
              <a:ext cx="152400" cy="12192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>
              <a:stCxn id="81" idx="0"/>
              <a:endCxn id="78" idx="3"/>
            </p:cNvCxnSpPr>
            <p:nvPr/>
          </p:nvCxnSpPr>
          <p:spPr>
            <a:xfrm flipV="1">
              <a:off x="2514600" y="2196726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>
              <a:stCxn id="78" idx="4"/>
              <a:endCxn id="81" idx="7"/>
            </p:cNvCxnSpPr>
            <p:nvPr/>
          </p:nvCxnSpPr>
          <p:spPr>
            <a:xfrm flipH="1">
              <a:off x="2730126" y="2286000"/>
              <a:ext cx="470274" cy="4702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>
              <a:stCxn id="81" idx="1"/>
              <a:endCxn id="77" idx="5"/>
            </p:cNvCxnSpPr>
            <p:nvPr/>
          </p:nvCxnSpPr>
          <p:spPr>
            <a:xfrm flipH="1" flipV="1">
              <a:off x="1891926" y="2196726"/>
              <a:ext cx="407148" cy="5595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>
              <a:stCxn id="81" idx="5"/>
              <a:endCxn id="79" idx="1"/>
            </p:cNvCxnSpPr>
            <p:nvPr/>
          </p:nvCxnSpPr>
          <p:spPr>
            <a:xfrm>
              <a:off x="2730126" y="3187326"/>
              <a:ext cx="385377" cy="2547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80" idx="7"/>
              <a:endCxn id="81" idx="3"/>
            </p:cNvCxnSpPr>
            <p:nvPr/>
          </p:nvCxnSpPr>
          <p:spPr>
            <a:xfrm flipV="1">
              <a:off x="1739526" y="3187326"/>
              <a:ext cx="559548" cy="40714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1484442" y="1671933"/>
              <a:ext cx="3866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</a:t>
              </a:r>
              <a:endParaRPr lang="en-US" sz="1200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026229" y="1671934"/>
              <a:ext cx="5565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0.133</a:t>
              </a:r>
              <a:endParaRPr lang="en-US" sz="1200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3127287" y="3657600"/>
              <a:ext cx="5629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0.183</a:t>
              </a:r>
              <a:endParaRPr lang="en-US" sz="1200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2209800" y="2667000"/>
              <a:ext cx="5822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0.383</a:t>
              </a:r>
              <a:endParaRPr lang="en-US" sz="1200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299418" y="3823900"/>
              <a:ext cx="407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 smtClean="0"/>
                <a:t>0.2</a:t>
              </a:r>
              <a:endParaRPr lang="en-US" sz="1200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1943268" y="1736466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1320258" y="2160501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2557779" y="3608764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3127287" y="2470700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2824642" y="2323786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1663326" y="3276600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801188" y="238263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2603080" y="3162887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467209" y="2210072"/>
              <a:ext cx="18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1200" dirty="0"/>
            </a:p>
          </p:txBody>
        </p:sp>
      </p:grpSp>
      <p:sp>
        <p:nvSpPr>
          <p:cNvPr id="105" name="Left Arrow 104"/>
          <p:cNvSpPr/>
          <p:nvPr/>
        </p:nvSpPr>
        <p:spPr>
          <a:xfrm rot="18182671">
            <a:off x="5862451" y="3928606"/>
            <a:ext cx="748926" cy="30625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448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Mapper for 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Class Mapper</a:t>
            </a:r>
          </a:p>
          <a:p>
            <a:pPr marL="0" indent="0">
              <a:buNone/>
            </a:pPr>
            <a:r>
              <a:rPr lang="en-US" dirty="0"/>
              <a:t> method map (</a:t>
            </a:r>
            <a:r>
              <a:rPr lang="en-US" dirty="0" err="1"/>
              <a:t>nid</a:t>
            </a:r>
            <a:r>
              <a:rPr lang="en-US" dirty="0"/>
              <a:t>, Node N)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smtClean="0"/>
              <a:t>p </a:t>
            </a:r>
            <a:r>
              <a:rPr lang="en-US" dirty="0">
                <a:sym typeface="Wingdings" pitchFamily="2" charset="2"/>
              </a:rPr>
              <a:t> </a:t>
            </a:r>
            <a:r>
              <a:rPr lang="en-US" dirty="0" err="1" smtClean="0">
                <a:sym typeface="Wingdings" pitchFamily="2" charset="2"/>
              </a:rPr>
              <a:t>N.Pagerank</a:t>
            </a:r>
            <a:r>
              <a:rPr lang="en-US" dirty="0" smtClean="0">
                <a:sym typeface="Wingdings" pitchFamily="2" charset="2"/>
              </a:rPr>
              <a:t>/|</a:t>
            </a:r>
            <a:r>
              <a:rPr lang="en-US" dirty="0" err="1" smtClean="0">
                <a:sym typeface="Wingdings" pitchFamily="2" charset="2"/>
              </a:rPr>
              <a:t>N.Adajacency</a:t>
            </a:r>
            <a:r>
              <a:rPr lang="en-US" dirty="0" smtClean="0">
                <a:sym typeface="Wingdings" pitchFamily="2" charset="2"/>
              </a:rPr>
              <a:t>|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emit(</a:t>
            </a:r>
            <a:r>
              <a:rPr lang="en-US" dirty="0" err="1">
                <a:sym typeface="Wingdings" pitchFamily="2" charset="2"/>
              </a:rPr>
              <a:t>nid</a:t>
            </a:r>
            <a:r>
              <a:rPr lang="en-US" dirty="0">
                <a:sym typeface="Wingdings" pitchFamily="2" charset="2"/>
              </a:rPr>
              <a:t>, N)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for all m in N. </a:t>
            </a:r>
            <a:r>
              <a:rPr lang="en-US" dirty="0" err="1">
                <a:sym typeface="Wingdings" pitchFamily="2" charset="2"/>
              </a:rPr>
              <a:t>Adjacencylist</a:t>
            </a: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       emit(</a:t>
            </a:r>
            <a:r>
              <a:rPr lang="en-US" dirty="0" err="1">
                <a:sym typeface="Wingdings" pitchFamily="2" charset="2"/>
              </a:rPr>
              <a:t>nid</a:t>
            </a:r>
            <a:r>
              <a:rPr lang="en-US" dirty="0">
                <a:sym typeface="Wingdings" pitchFamily="2" charset="2"/>
              </a:rPr>
              <a:t> m, p</a:t>
            </a:r>
            <a:r>
              <a:rPr lang="en-US" dirty="0" smtClean="0">
                <a:sym typeface="Wingdings" pitchFamily="2" charset="2"/>
              </a:rPr>
              <a:t>)</a:t>
            </a:r>
          </a:p>
          <a:p>
            <a:pPr marL="0" indent="0">
              <a:buNone/>
            </a:pPr>
            <a:endParaRPr lang="en-US" dirty="0">
              <a:sym typeface="Wingdings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itchFamily="2" charset="2"/>
              </a:rPr>
              <a:t>“divider”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185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Reducer for </a:t>
            </a:r>
            <a:r>
              <a:rPr lang="en-US" dirty="0" err="1" smtClean="0"/>
              <a:t>Pagerank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Class Reducer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method Reduce(</a:t>
            </a:r>
            <a:r>
              <a:rPr lang="en-US" dirty="0" err="1" smtClean="0"/>
              <a:t>nid</a:t>
            </a:r>
            <a:r>
              <a:rPr lang="en-US" dirty="0" smtClean="0"/>
              <a:t> m, [p1, p2, p3..])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Node M </a:t>
            </a:r>
            <a:r>
              <a:rPr lang="en-US" dirty="0" smtClean="0">
                <a:sym typeface="Wingdings" pitchFamily="2" charset="2"/>
              </a:rPr>
              <a:t> null; s = 0;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for all p in [p1,p2, ..]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 { if p is a Node then M  p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  else s  </a:t>
            </a:r>
            <a:r>
              <a:rPr lang="en-US" dirty="0" err="1" smtClean="0">
                <a:sym typeface="Wingdings" pitchFamily="2" charset="2"/>
              </a:rPr>
              <a:t>s+p</a:t>
            </a:r>
            <a:r>
              <a:rPr lang="en-US" dirty="0" smtClean="0">
                <a:sym typeface="Wingdings" pitchFamily="2" charset="2"/>
              </a:rPr>
              <a:t>}</a:t>
            </a: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</a:t>
            </a:r>
            <a:r>
              <a:rPr lang="en-US" dirty="0" err="1" smtClean="0">
                <a:sym typeface="Wingdings" pitchFamily="2" charset="2"/>
              </a:rPr>
              <a:t>M.pagerank</a:t>
            </a:r>
            <a:r>
              <a:rPr lang="en-US" dirty="0" smtClean="0">
                <a:sym typeface="Wingdings" pitchFamily="2" charset="2"/>
              </a:rPr>
              <a:t>  </a:t>
            </a:r>
            <a:r>
              <a:rPr lang="en-US" dirty="0">
                <a:sym typeface="Wingdings" pitchFamily="2" charset="2"/>
              </a:rPr>
              <a:t>s</a:t>
            </a:r>
            <a:endParaRPr lang="en-US" dirty="0" smtClean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      emit (</a:t>
            </a:r>
            <a:r>
              <a:rPr lang="en-US" dirty="0" err="1" smtClean="0">
                <a:sym typeface="Wingdings" pitchFamily="2" charset="2"/>
              </a:rPr>
              <a:t>nid</a:t>
            </a:r>
            <a:r>
              <a:rPr lang="en-US" dirty="0" smtClean="0">
                <a:sym typeface="Wingdings" pitchFamily="2" charset="2"/>
              </a:rPr>
              <a:t> m, Node M)</a:t>
            </a:r>
          </a:p>
          <a:p>
            <a:pPr marL="0" indent="0">
              <a:buNone/>
            </a:pPr>
            <a:endParaRPr lang="en-US" dirty="0" smtClean="0">
              <a:sym typeface="Wingdings" pitchFamily="2" charset="2"/>
            </a:endParaRPr>
          </a:p>
          <a:p>
            <a:pPr marL="0" indent="0">
              <a:buNone/>
            </a:pPr>
            <a:r>
              <a:rPr lang="en-US" dirty="0" smtClean="0"/>
              <a:t>“aggregator”</a:t>
            </a:r>
          </a:p>
          <a:p>
            <a:pPr marL="0" indent="0">
              <a:buNone/>
            </a:pPr>
            <a:r>
              <a:rPr lang="en-US" dirty="0" smtClean="0"/>
              <a:t>At the reducer you get two types of items in the list.</a:t>
            </a:r>
          </a:p>
        </p:txBody>
      </p:sp>
    </p:spTree>
    <p:extLst>
      <p:ext uri="{BB962C8B-B14F-4D97-AF65-F5344CB8AC3E}">
        <p14:creationId xmlns:p14="http://schemas.microsoft.com/office/powerpoint/2010/main" val="403390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Issues; Points to ponder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How to account for dangling nodes: one that has many incoming links and no outgoing links</a:t>
            </a:r>
          </a:p>
          <a:p>
            <a:pPr lvl="1"/>
            <a:r>
              <a:rPr lang="en-US" dirty="0" smtClean="0"/>
              <a:t>Simply redistributes its </a:t>
            </a:r>
            <a:r>
              <a:rPr lang="en-US" dirty="0" err="1" smtClean="0"/>
              <a:t>pagerank</a:t>
            </a:r>
            <a:r>
              <a:rPr lang="en-US" dirty="0" smtClean="0"/>
              <a:t> to all</a:t>
            </a:r>
          </a:p>
          <a:p>
            <a:pPr lvl="1"/>
            <a:r>
              <a:rPr lang="en-US" dirty="0" smtClean="0"/>
              <a:t>One iteration requires </a:t>
            </a:r>
            <a:r>
              <a:rPr lang="en-US" dirty="0" err="1" smtClean="0"/>
              <a:t>pagerank</a:t>
            </a:r>
            <a:r>
              <a:rPr lang="en-US" dirty="0" smtClean="0"/>
              <a:t> computation + redistribution of “unused” </a:t>
            </a:r>
            <a:r>
              <a:rPr lang="en-US" dirty="0" err="1" smtClean="0"/>
              <a:t>pagerank</a:t>
            </a:r>
            <a:endParaRPr lang="en-US" dirty="0" smtClean="0"/>
          </a:p>
          <a:p>
            <a:r>
              <a:rPr lang="en-US" dirty="0" err="1" smtClean="0"/>
              <a:t>Pagerank</a:t>
            </a:r>
            <a:r>
              <a:rPr lang="en-US" dirty="0" smtClean="0"/>
              <a:t> is iterated until convergence: when is convergence reached?</a:t>
            </a:r>
          </a:p>
          <a:p>
            <a:r>
              <a:rPr lang="en-US" dirty="0" smtClean="0"/>
              <a:t>Probability distribution over a large network means underflow of the value of </a:t>
            </a:r>
            <a:r>
              <a:rPr lang="en-US" dirty="0" err="1" smtClean="0"/>
              <a:t>pagerank</a:t>
            </a:r>
            <a:r>
              <a:rPr lang="en-US" dirty="0" smtClean="0"/>
              <a:t>.. Use log based computation</a:t>
            </a:r>
          </a:p>
          <a:p>
            <a:r>
              <a:rPr lang="en-US" dirty="0" smtClean="0"/>
              <a:t>MR: How do PRAM </a:t>
            </a:r>
            <a:r>
              <a:rPr lang="en-US" dirty="0" err="1" smtClean="0"/>
              <a:t>algs</a:t>
            </a:r>
            <a:r>
              <a:rPr lang="en-US" dirty="0" smtClean="0"/>
              <a:t>. translate to MR? how about math algorithms?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5402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Single node: Eclipse Helios, </a:t>
            </a:r>
            <a:r>
              <a:rPr lang="en-US" dirty="0" err="1" smtClean="0"/>
              <a:t>Hadoop</a:t>
            </a:r>
            <a:r>
              <a:rPr lang="en-US" dirty="0" smtClean="0"/>
              <a:t> (MR)0.2, </a:t>
            </a:r>
            <a:r>
              <a:rPr lang="en-US" dirty="0" err="1" smtClean="0"/>
              <a:t>Hadoop</a:t>
            </a:r>
            <a:r>
              <a:rPr lang="en-US" dirty="0" smtClean="0"/>
              <a:t>-eclipse plug-in</a:t>
            </a:r>
          </a:p>
          <a:p>
            <a:r>
              <a:rPr lang="en-US" dirty="0" smtClean="0"/>
              <a:t>Amazon Elastic cloud computing aws.amazon.com</a:t>
            </a:r>
          </a:p>
          <a:p>
            <a:r>
              <a:rPr lang="en-US" dirty="0" smtClean="0"/>
              <a:t>CCR: Video of 100-node cluster for processing a billion node k-nary tree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231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smtClean="0"/>
              <a:t>Dean</a:t>
            </a:r>
            <a:r>
              <a:rPr lang="en-US" sz="2000" dirty="0"/>
              <a:t>, J. and </a:t>
            </a:r>
            <a:r>
              <a:rPr lang="en-US" sz="2000" dirty="0" err="1"/>
              <a:t>Ghemawat</a:t>
            </a:r>
            <a:r>
              <a:rPr lang="en-US" sz="2000" dirty="0"/>
              <a:t>, S. 2008. </a:t>
            </a:r>
            <a:r>
              <a:rPr lang="en-US" sz="2000" b="1" dirty="0"/>
              <a:t>MapReduce: simplified data processing on large clusters.</a:t>
            </a:r>
            <a:r>
              <a:rPr lang="en-US" sz="2000" dirty="0"/>
              <a:t> </a:t>
            </a:r>
            <a:r>
              <a:rPr lang="en-US" sz="2000" i="1" dirty="0"/>
              <a:t>Communication of ACM</a:t>
            </a:r>
            <a:r>
              <a:rPr lang="en-US" sz="2000" dirty="0"/>
              <a:t> 51, 1 (Jan. 2008), 107-113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/>
              <a:t>Lin and Dyer (2010): Data-intensive text processing with MapReduce; </a:t>
            </a:r>
            <a:r>
              <a:rPr lang="en-US" sz="2000" dirty="0">
                <a:hlinkClick r:id="rId2"/>
              </a:rPr>
              <a:t>http://</a:t>
            </a:r>
            <a:r>
              <a:rPr lang="en-US" sz="2000" dirty="0" smtClean="0">
                <a:hlinkClick r:id="rId2"/>
              </a:rPr>
              <a:t>beowulf.csail.mit.edu/18.337-2012/MapReduce-book-final.pdf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000" dirty="0" err="1"/>
              <a:t>Cloudera</a:t>
            </a:r>
            <a:r>
              <a:rPr lang="en-US" sz="2000" dirty="0"/>
              <a:t> Videos by Aaron Kimball:</a:t>
            </a:r>
          </a:p>
          <a:p>
            <a:pPr>
              <a:buNone/>
              <a:defRPr/>
            </a:pPr>
            <a:r>
              <a:rPr lang="en-US" sz="2000" dirty="0"/>
              <a:t>      </a:t>
            </a:r>
            <a:r>
              <a:rPr lang="en-US" sz="2000" dirty="0">
                <a:hlinkClick r:id="rId3"/>
              </a:rPr>
              <a:t>http://</a:t>
            </a:r>
            <a:r>
              <a:rPr lang="en-US" sz="2000" dirty="0" smtClean="0">
                <a:hlinkClick r:id="rId3"/>
              </a:rPr>
              <a:t>www.cloudera.com/hadoop-training-basic</a:t>
            </a:r>
            <a:endParaRPr lang="en-US" sz="2000" dirty="0" smtClean="0"/>
          </a:p>
          <a:p>
            <a:pPr>
              <a:buNone/>
              <a:defRPr/>
            </a:pPr>
            <a:r>
              <a:rPr lang="en-US" sz="2000" smtClean="0"/>
              <a:t>4.    Apache </a:t>
            </a:r>
            <a:r>
              <a:rPr lang="en-US" sz="2000" dirty="0" err="1"/>
              <a:t>Hadoop</a:t>
            </a:r>
            <a:r>
              <a:rPr lang="en-US" sz="2000" dirty="0"/>
              <a:t> Tutorial: </a:t>
            </a:r>
            <a:r>
              <a:rPr lang="en-US" sz="2000" dirty="0">
                <a:hlinkClick r:id="rId4"/>
              </a:rPr>
              <a:t>http://hadoop.apache.org</a:t>
            </a:r>
            <a:r>
              <a:rPr lang="en-US" sz="2000" dirty="0">
                <a:hlinkClick r:id="rId5"/>
              </a:rPr>
              <a:t> http://hadoop.apache.org/core/docs/current/mapred_tutorial.html</a:t>
            </a:r>
            <a:endParaRPr lang="en-US" sz="2000" dirty="0"/>
          </a:p>
          <a:p>
            <a:pPr>
              <a:buNone/>
              <a:defRPr/>
            </a:pPr>
            <a:endParaRPr lang="en-US" sz="2000" dirty="0"/>
          </a:p>
          <a:p>
            <a:endParaRPr lang="en-US" sz="2000" dirty="0"/>
          </a:p>
          <a:p>
            <a:pPr>
              <a:buNone/>
              <a:defRPr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1536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 Home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MapReduce (MR) algorithm is for distributed processing of big-data</a:t>
            </a:r>
          </a:p>
          <a:p>
            <a:r>
              <a:rPr lang="en-US" dirty="0" smtClean="0"/>
              <a:t>Apache </a:t>
            </a:r>
            <a:r>
              <a:rPr lang="en-US" dirty="0" err="1" smtClean="0"/>
              <a:t>Hadoop</a:t>
            </a:r>
            <a:r>
              <a:rPr lang="en-US" dirty="0" smtClean="0"/>
              <a:t> (open source) provides the distributed infrastructure for MR </a:t>
            </a:r>
          </a:p>
          <a:p>
            <a:r>
              <a:rPr lang="en-US" dirty="0" smtClean="0"/>
              <a:t>Most challenging aspect is designing the MR algorithm for solving a problem; </a:t>
            </a:r>
            <a:r>
              <a:rPr lang="en-US" dirty="0" smtClean="0"/>
              <a:t>it is different mind-set;</a:t>
            </a:r>
            <a:endParaRPr lang="en-US" dirty="0" smtClean="0"/>
          </a:p>
          <a:p>
            <a:pPr lvl="1"/>
            <a:r>
              <a:rPr lang="en-US" dirty="0" smtClean="0"/>
              <a:t>Visualizing data as </a:t>
            </a:r>
            <a:r>
              <a:rPr lang="en-US" dirty="0" err="1" smtClean="0"/>
              <a:t>key,value</a:t>
            </a:r>
            <a:r>
              <a:rPr lang="en-US" dirty="0" smtClean="0"/>
              <a:t> pairs; distributed parallel </a:t>
            </a:r>
            <a:r>
              <a:rPr lang="en-US" smtClean="0"/>
              <a:t>processing;</a:t>
            </a:r>
          </a:p>
          <a:p>
            <a:pPr lvl="1"/>
            <a:r>
              <a:rPr lang="en-US" smtClean="0"/>
              <a:t>Probably  </a:t>
            </a:r>
            <a:r>
              <a:rPr lang="en-US" dirty="0" smtClean="0"/>
              <a:t>beautiful MR solutions can be designed for classical Math problems.</a:t>
            </a:r>
          </a:p>
          <a:p>
            <a:pPr lvl="1"/>
            <a:r>
              <a:rPr lang="en-US" dirty="0" smtClean="0"/>
              <a:t>It is not just mapper and reducer, but also other operations such as combiner, </a:t>
            </a:r>
            <a:r>
              <a:rPr lang="en-US" dirty="0" err="1" smtClean="0"/>
              <a:t>partitioner</a:t>
            </a:r>
            <a:r>
              <a:rPr lang="en-US" dirty="0" smtClean="0"/>
              <a:t> that have be cleverly used for solving large scale problems.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2185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448</TotalTime>
  <Words>1775</Words>
  <Application>Microsoft Office PowerPoint</Application>
  <PresentationFormat>On-screen Show (4:3)</PresentationFormat>
  <Paragraphs>260</Paragraphs>
  <Slides>22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Civic</vt:lpstr>
      <vt:lpstr>Problem-solving using MapReduce/Hadoop</vt:lpstr>
      <vt:lpstr>Topics for Discussion</vt:lpstr>
      <vt:lpstr>Big-data Problem Solving Approaches </vt:lpstr>
      <vt:lpstr>Different Type of Storage </vt:lpstr>
      <vt:lpstr>MR-data Concepts</vt:lpstr>
      <vt:lpstr>Hadoop-MapReduce</vt:lpstr>
      <vt:lpstr>MapReduce Design</vt:lpstr>
      <vt:lpstr>The code</vt:lpstr>
      <vt:lpstr>MapReduce Example: Mapper with Combiner</vt:lpstr>
      <vt:lpstr>MapReduce Example: Combiner, Reducer, Shuffle, Sort</vt:lpstr>
      <vt:lpstr>More on MR</vt:lpstr>
      <vt:lpstr>Classes of problems “mapreducable”</vt:lpstr>
      <vt:lpstr>Page Rank</vt:lpstr>
      <vt:lpstr>General idea</vt:lpstr>
      <vt:lpstr>PageRank Formula</vt:lpstr>
      <vt:lpstr>PageRank: Walk Through</vt:lpstr>
      <vt:lpstr>Mapper for PageRank</vt:lpstr>
      <vt:lpstr>Reducer for Pagerank</vt:lpstr>
      <vt:lpstr>Issues; Points to ponder</vt:lpstr>
      <vt:lpstr>Demos</vt:lpstr>
      <vt:lpstr>References</vt:lpstr>
      <vt:lpstr>Take Home Messages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Problem-solving using MapReduce/Hadoop</dc:title>
  <dc:creator>bina</dc:creator>
  <cp:lastModifiedBy>bina</cp:lastModifiedBy>
  <cp:revision>25</cp:revision>
  <dcterms:created xsi:type="dcterms:W3CDTF">2014-01-14T15:16:29Z</dcterms:created>
  <dcterms:modified xsi:type="dcterms:W3CDTF">2014-01-20T14:19:22Z</dcterms:modified>
</cp:coreProperties>
</file>