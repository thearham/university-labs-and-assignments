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4" r:id="rId16"/>
    <p:sldId id="275" r:id="rId17"/>
    <p:sldId id="276" r:id="rId18"/>
    <p:sldId id="277" r:id="rId19"/>
    <p:sldId id="278" r:id="rId20"/>
    <p:sldId id="279" r:id="rId21"/>
    <p:sldId id="280" r:id="rId22"/>
    <p:sldId id="281" r:id="rId23"/>
    <p:sldId id="282" r:id="rId24"/>
    <p:sldId id="270" r:id="rId25"/>
    <p:sldId id="271" r:id="rId26"/>
    <p:sldId id="285" r:id="rId27"/>
    <p:sldId id="272" r:id="rId28"/>
    <p:sldId id="283" r:id="rId29"/>
    <p:sldId id="284" r:id="rId30"/>
    <p:sldId id="286" r:id="rId31"/>
    <p:sldId id="27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C7CF6-0686-C61C-1041-A23D7A6AC2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2A4D8AB-5EE7-A609-DFBA-D4F9F510AB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396610D-72DE-703E-2EA8-D5A3F5FC35C7}"/>
              </a:ext>
            </a:extLst>
          </p:cNvPr>
          <p:cNvSpPr>
            <a:spLocks noGrp="1"/>
          </p:cNvSpPr>
          <p:nvPr>
            <p:ph type="dt" sz="half" idx="10"/>
          </p:nvPr>
        </p:nvSpPr>
        <p:spPr/>
        <p:txBody>
          <a:bodyPr/>
          <a:lstStyle/>
          <a:p>
            <a:fld id="{4F049F8D-1312-4B4B-B8E4-3AA9989D6E94}" type="datetimeFigureOut">
              <a:rPr lang="en-US" smtClean="0"/>
              <a:t>1/7/2024</a:t>
            </a:fld>
            <a:endParaRPr lang="en-US"/>
          </a:p>
        </p:txBody>
      </p:sp>
      <p:sp>
        <p:nvSpPr>
          <p:cNvPr id="5" name="Footer Placeholder 4">
            <a:extLst>
              <a:ext uri="{FF2B5EF4-FFF2-40B4-BE49-F238E27FC236}">
                <a16:creationId xmlns:a16="http://schemas.microsoft.com/office/drawing/2014/main" id="{24624040-311A-EB78-5E1B-B71424885C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72C168-3C0F-2ED0-763D-77547799D1E7}"/>
              </a:ext>
            </a:extLst>
          </p:cNvPr>
          <p:cNvSpPr>
            <a:spLocks noGrp="1"/>
          </p:cNvSpPr>
          <p:nvPr>
            <p:ph type="sldNum" sz="quarter" idx="12"/>
          </p:nvPr>
        </p:nvSpPr>
        <p:spPr/>
        <p:txBody>
          <a:bodyPr/>
          <a:lstStyle/>
          <a:p>
            <a:fld id="{5EF887C5-9AA2-444F-9CD9-CFA79066AABB}" type="slidenum">
              <a:rPr lang="en-US" smtClean="0"/>
              <a:t>‹#›</a:t>
            </a:fld>
            <a:endParaRPr lang="en-US"/>
          </a:p>
        </p:txBody>
      </p:sp>
    </p:spTree>
    <p:extLst>
      <p:ext uri="{BB962C8B-B14F-4D97-AF65-F5344CB8AC3E}">
        <p14:creationId xmlns:p14="http://schemas.microsoft.com/office/powerpoint/2010/main" val="3948355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5D102-36EB-2722-7B97-43DE267276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77569E5-0E58-E7ED-2BBA-A3030CCF7F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59F1F8-D56B-8058-56A0-EA1C2FD65217}"/>
              </a:ext>
            </a:extLst>
          </p:cNvPr>
          <p:cNvSpPr>
            <a:spLocks noGrp="1"/>
          </p:cNvSpPr>
          <p:nvPr>
            <p:ph type="dt" sz="half" idx="10"/>
          </p:nvPr>
        </p:nvSpPr>
        <p:spPr/>
        <p:txBody>
          <a:bodyPr/>
          <a:lstStyle/>
          <a:p>
            <a:fld id="{4F049F8D-1312-4B4B-B8E4-3AA9989D6E94}" type="datetimeFigureOut">
              <a:rPr lang="en-US" smtClean="0"/>
              <a:t>1/7/2024</a:t>
            </a:fld>
            <a:endParaRPr lang="en-US"/>
          </a:p>
        </p:txBody>
      </p:sp>
      <p:sp>
        <p:nvSpPr>
          <p:cNvPr id="5" name="Footer Placeholder 4">
            <a:extLst>
              <a:ext uri="{FF2B5EF4-FFF2-40B4-BE49-F238E27FC236}">
                <a16:creationId xmlns:a16="http://schemas.microsoft.com/office/drawing/2014/main" id="{D3F2D564-DCB0-EAAF-B8D2-C89FD254C9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9B18A1-1E96-34C5-DB16-49DBFDA97AD3}"/>
              </a:ext>
            </a:extLst>
          </p:cNvPr>
          <p:cNvSpPr>
            <a:spLocks noGrp="1"/>
          </p:cNvSpPr>
          <p:nvPr>
            <p:ph type="sldNum" sz="quarter" idx="12"/>
          </p:nvPr>
        </p:nvSpPr>
        <p:spPr/>
        <p:txBody>
          <a:bodyPr/>
          <a:lstStyle/>
          <a:p>
            <a:fld id="{5EF887C5-9AA2-444F-9CD9-CFA79066AABB}" type="slidenum">
              <a:rPr lang="en-US" smtClean="0"/>
              <a:t>‹#›</a:t>
            </a:fld>
            <a:endParaRPr lang="en-US"/>
          </a:p>
        </p:txBody>
      </p:sp>
    </p:spTree>
    <p:extLst>
      <p:ext uri="{BB962C8B-B14F-4D97-AF65-F5344CB8AC3E}">
        <p14:creationId xmlns:p14="http://schemas.microsoft.com/office/powerpoint/2010/main" val="2402861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CFDD5-5A5A-318C-CE62-383C58E747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A249937-5C87-2C8E-01B4-3BA0D66B29C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7D2616-B2A3-6265-1ACC-9EDBF29FEDB5}"/>
              </a:ext>
            </a:extLst>
          </p:cNvPr>
          <p:cNvSpPr>
            <a:spLocks noGrp="1"/>
          </p:cNvSpPr>
          <p:nvPr>
            <p:ph type="dt" sz="half" idx="10"/>
          </p:nvPr>
        </p:nvSpPr>
        <p:spPr/>
        <p:txBody>
          <a:bodyPr/>
          <a:lstStyle/>
          <a:p>
            <a:fld id="{4F049F8D-1312-4B4B-B8E4-3AA9989D6E94}" type="datetimeFigureOut">
              <a:rPr lang="en-US" smtClean="0"/>
              <a:t>1/7/2024</a:t>
            </a:fld>
            <a:endParaRPr lang="en-US"/>
          </a:p>
        </p:txBody>
      </p:sp>
      <p:sp>
        <p:nvSpPr>
          <p:cNvPr id="5" name="Footer Placeholder 4">
            <a:extLst>
              <a:ext uri="{FF2B5EF4-FFF2-40B4-BE49-F238E27FC236}">
                <a16:creationId xmlns:a16="http://schemas.microsoft.com/office/drawing/2014/main" id="{DF05F15A-CB00-7F58-D61C-D96C7FC967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33FC6E-1A83-9FB2-3FA5-DB961A879763}"/>
              </a:ext>
            </a:extLst>
          </p:cNvPr>
          <p:cNvSpPr>
            <a:spLocks noGrp="1"/>
          </p:cNvSpPr>
          <p:nvPr>
            <p:ph type="sldNum" sz="quarter" idx="12"/>
          </p:nvPr>
        </p:nvSpPr>
        <p:spPr/>
        <p:txBody>
          <a:bodyPr/>
          <a:lstStyle/>
          <a:p>
            <a:fld id="{5EF887C5-9AA2-444F-9CD9-CFA79066AABB}" type="slidenum">
              <a:rPr lang="en-US" smtClean="0"/>
              <a:t>‹#›</a:t>
            </a:fld>
            <a:endParaRPr lang="en-US"/>
          </a:p>
        </p:txBody>
      </p:sp>
    </p:spTree>
    <p:extLst>
      <p:ext uri="{BB962C8B-B14F-4D97-AF65-F5344CB8AC3E}">
        <p14:creationId xmlns:p14="http://schemas.microsoft.com/office/powerpoint/2010/main" val="2161965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11964-B8F0-F795-5701-15D282A873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47E1BF-3667-F87F-5529-C616530D76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3CAB80-4624-D5B6-1A11-1733D98347D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D36906-84A4-1370-D220-C170269FA0BC}"/>
              </a:ext>
            </a:extLst>
          </p:cNvPr>
          <p:cNvSpPr>
            <a:spLocks noGrp="1"/>
          </p:cNvSpPr>
          <p:nvPr>
            <p:ph type="dt" sz="half" idx="10"/>
          </p:nvPr>
        </p:nvSpPr>
        <p:spPr/>
        <p:txBody>
          <a:bodyPr/>
          <a:lstStyle/>
          <a:p>
            <a:fld id="{4F049F8D-1312-4B4B-B8E4-3AA9989D6E94}" type="datetimeFigureOut">
              <a:rPr lang="en-US" smtClean="0"/>
              <a:t>1/7/2024</a:t>
            </a:fld>
            <a:endParaRPr lang="en-US"/>
          </a:p>
        </p:txBody>
      </p:sp>
      <p:sp>
        <p:nvSpPr>
          <p:cNvPr id="6" name="Footer Placeholder 5">
            <a:extLst>
              <a:ext uri="{FF2B5EF4-FFF2-40B4-BE49-F238E27FC236}">
                <a16:creationId xmlns:a16="http://schemas.microsoft.com/office/drawing/2014/main" id="{8F245853-9E95-5469-D86E-FA1DC78506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164CCC-28D7-4F78-5963-A57EC49DB423}"/>
              </a:ext>
            </a:extLst>
          </p:cNvPr>
          <p:cNvSpPr>
            <a:spLocks noGrp="1"/>
          </p:cNvSpPr>
          <p:nvPr>
            <p:ph type="sldNum" sz="quarter" idx="12"/>
          </p:nvPr>
        </p:nvSpPr>
        <p:spPr/>
        <p:txBody>
          <a:bodyPr/>
          <a:lstStyle/>
          <a:p>
            <a:fld id="{5EF887C5-9AA2-444F-9CD9-CFA79066AABB}" type="slidenum">
              <a:rPr lang="en-US" smtClean="0"/>
              <a:t>‹#›</a:t>
            </a:fld>
            <a:endParaRPr lang="en-US"/>
          </a:p>
        </p:txBody>
      </p:sp>
    </p:spTree>
    <p:extLst>
      <p:ext uri="{BB962C8B-B14F-4D97-AF65-F5344CB8AC3E}">
        <p14:creationId xmlns:p14="http://schemas.microsoft.com/office/powerpoint/2010/main" val="1944974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08AC9-C879-7630-12C7-7E5AC9A4C08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46896E1-3BD4-6E15-9DA2-E2BB0BB657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C4AB711-D5D2-C489-D478-82F6027468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E4EE218-3747-48D3-F1B8-1287A89046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A2F23F-834D-8F3F-7DFF-29B12263806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4A5C8C8-FD1C-5C3B-8F1F-A797DEA0D8B7}"/>
              </a:ext>
            </a:extLst>
          </p:cNvPr>
          <p:cNvSpPr>
            <a:spLocks noGrp="1"/>
          </p:cNvSpPr>
          <p:nvPr>
            <p:ph type="dt" sz="half" idx="10"/>
          </p:nvPr>
        </p:nvSpPr>
        <p:spPr/>
        <p:txBody>
          <a:bodyPr/>
          <a:lstStyle/>
          <a:p>
            <a:fld id="{4F049F8D-1312-4B4B-B8E4-3AA9989D6E94}" type="datetimeFigureOut">
              <a:rPr lang="en-US" smtClean="0"/>
              <a:t>1/7/2024</a:t>
            </a:fld>
            <a:endParaRPr lang="en-US"/>
          </a:p>
        </p:txBody>
      </p:sp>
      <p:sp>
        <p:nvSpPr>
          <p:cNvPr id="8" name="Footer Placeholder 7">
            <a:extLst>
              <a:ext uri="{FF2B5EF4-FFF2-40B4-BE49-F238E27FC236}">
                <a16:creationId xmlns:a16="http://schemas.microsoft.com/office/drawing/2014/main" id="{7AEFFBE2-B214-046F-B869-6CF24FBED67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5C2E14B-2273-8B86-CAF3-03BC21E26B00}"/>
              </a:ext>
            </a:extLst>
          </p:cNvPr>
          <p:cNvSpPr>
            <a:spLocks noGrp="1"/>
          </p:cNvSpPr>
          <p:nvPr>
            <p:ph type="sldNum" sz="quarter" idx="12"/>
          </p:nvPr>
        </p:nvSpPr>
        <p:spPr/>
        <p:txBody>
          <a:bodyPr/>
          <a:lstStyle/>
          <a:p>
            <a:fld id="{5EF887C5-9AA2-444F-9CD9-CFA79066AABB}" type="slidenum">
              <a:rPr lang="en-US" smtClean="0"/>
              <a:t>‹#›</a:t>
            </a:fld>
            <a:endParaRPr lang="en-US"/>
          </a:p>
        </p:txBody>
      </p:sp>
    </p:spTree>
    <p:extLst>
      <p:ext uri="{BB962C8B-B14F-4D97-AF65-F5344CB8AC3E}">
        <p14:creationId xmlns:p14="http://schemas.microsoft.com/office/powerpoint/2010/main" val="2987965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9E7B3-0B58-B502-8C32-CC95799E946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706F6E-C63E-A984-C121-01D1C5E8DAE9}"/>
              </a:ext>
            </a:extLst>
          </p:cNvPr>
          <p:cNvSpPr>
            <a:spLocks noGrp="1"/>
          </p:cNvSpPr>
          <p:nvPr>
            <p:ph type="dt" sz="half" idx="10"/>
          </p:nvPr>
        </p:nvSpPr>
        <p:spPr/>
        <p:txBody>
          <a:bodyPr/>
          <a:lstStyle/>
          <a:p>
            <a:fld id="{4F049F8D-1312-4B4B-B8E4-3AA9989D6E94}" type="datetimeFigureOut">
              <a:rPr lang="en-US" smtClean="0"/>
              <a:t>1/7/2024</a:t>
            </a:fld>
            <a:endParaRPr lang="en-US"/>
          </a:p>
        </p:txBody>
      </p:sp>
      <p:sp>
        <p:nvSpPr>
          <p:cNvPr id="4" name="Footer Placeholder 3">
            <a:extLst>
              <a:ext uri="{FF2B5EF4-FFF2-40B4-BE49-F238E27FC236}">
                <a16:creationId xmlns:a16="http://schemas.microsoft.com/office/drawing/2014/main" id="{5471E50A-3EFF-3281-9CF5-7A15ED16D7A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323D8E5-8AEC-1DDC-51D5-17D4BEDC26C3}"/>
              </a:ext>
            </a:extLst>
          </p:cNvPr>
          <p:cNvSpPr>
            <a:spLocks noGrp="1"/>
          </p:cNvSpPr>
          <p:nvPr>
            <p:ph type="sldNum" sz="quarter" idx="12"/>
          </p:nvPr>
        </p:nvSpPr>
        <p:spPr/>
        <p:txBody>
          <a:bodyPr/>
          <a:lstStyle/>
          <a:p>
            <a:fld id="{5EF887C5-9AA2-444F-9CD9-CFA79066AABB}" type="slidenum">
              <a:rPr lang="en-US" smtClean="0"/>
              <a:t>‹#›</a:t>
            </a:fld>
            <a:endParaRPr lang="en-US"/>
          </a:p>
        </p:txBody>
      </p:sp>
    </p:spTree>
    <p:extLst>
      <p:ext uri="{BB962C8B-B14F-4D97-AF65-F5344CB8AC3E}">
        <p14:creationId xmlns:p14="http://schemas.microsoft.com/office/powerpoint/2010/main" val="120407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0BE43B-A0D4-5DA6-6DC5-A0CE794C2B70}"/>
              </a:ext>
            </a:extLst>
          </p:cNvPr>
          <p:cNvSpPr>
            <a:spLocks noGrp="1"/>
          </p:cNvSpPr>
          <p:nvPr>
            <p:ph type="dt" sz="half" idx="10"/>
          </p:nvPr>
        </p:nvSpPr>
        <p:spPr/>
        <p:txBody>
          <a:bodyPr/>
          <a:lstStyle/>
          <a:p>
            <a:fld id="{4F049F8D-1312-4B4B-B8E4-3AA9989D6E94}" type="datetimeFigureOut">
              <a:rPr lang="en-US" smtClean="0"/>
              <a:t>1/7/2024</a:t>
            </a:fld>
            <a:endParaRPr lang="en-US"/>
          </a:p>
        </p:txBody>
      </p:sp>
      <p:sp>
        <p:nvSpPr>
          <p:cNvPr id="3" name="Footer Placeholder 2">
            <a:extLst>
              <a:ext uri="{FF2B5EF4-FFF2-40B4-BE49-F238E27FC236}">
                <a16:creationId xmlns:a16="http://schemas.microsoft.com/office/drawing/2014/main" id="{19DACA8C-325D-9B1E-B056-E287F20B84C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380666A-385A-8659-49BF-AE11B9A9FE22}"/>
              </a:ext>
            </a:extLst>
          </p:cNvPr>
          <p:cNvSpPr>
            <a:spLocks noGrp="1"/>
          </p:cNvSpPr>
          <p:nvPr>
            <p:ph type="sldNum" sz="quarter" idx="12"/>
          </p:nvPr>
        </p:nvSpPr>
        <p:spPr/>
        <p:txBody>
          <a:bodyPr/>
          <a:lstStyle/>
          <a:p>
            <a:fld id="{5EF887C5-9AA2-444F-9CD9-CFA79066AABB}" type="slidenum">
              <a:rPr lang="en-US" smtClean="0"/>
              <a:t>‹#›</a:t>
            </a:fld>
            <a:endParaRPr lang="en-US"/>
          </a:p>
        </p:txBody>
      </p:sp>
    </p:spTree>
    <p:extLst>
      <p:ext uri="{BB962C8B-B14F-4D97-AF65-F5344CB8AC3E}">
        <p14:creationId xmlns:p14="http://schemas.microsoft.com/office/powerpoint/2010/main" val="29906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412CB-99E7-1A02-6CB1-B8268B81B3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F8B3995-CF67-4405-735F-F8CB28CA50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838C568-E58F-8C7A-8B73-B92926B0AE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9ECE23-7B9C-5BAD-4D02-FB1D5794C033}"/>
              </a:ext>
            </a:extLst>
          </p:cNvPr>
          <p:cNvSpPr>
            <a:spLocks noGrp="1"/>
          </p:cNvSpPr>
          <p:nvPr>
            <p:ph type="dt" sz="half" idx="10"/>
          </p:nvPr>
        </p:nvSpPr>
        <p:spPr/>
        <p:txBody>
          <a:bodyPr/>
          <a:lstStyle/>
          <a:p>
            <a:fld id="{4F049F8D-1312-4B4B-B8E4-3AA9989D6E94}" type="datetimeFigureOut">
              <a:rPr lang="en-US" smtClean="0"/>
              <a:t>1/7/2024</a:t>
            </a:fld>
            <a:endParaRPr lang="en-US"/>
          </a:p>
        </p:txBody>
      </p:sp>
      <p:sp>
        <p:nvSpPr>
          <p:cNvPr id="6" name="Footer Placeholder 5">
            <a:extLst>
              <a:ext uri="{FF2B5EF4-FFF2-40B4-BE49-F238E27FC236}">
                <a16:creationId xmlns:a16="http://schemas.microsoft.com/office/drawing/2014/main" id="{1BB3D12B-60A3-B7C6-CD90-1B9EA65D5F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F80A7D-811D-5F14-37E7-E00E761CF1C9}"/>
              </a:ext>
            </a:extLst>
          </p:cNvPr>
          <p:cNvSpPr>
            <a:spLocks noGrp="1"/>
          </p:cNvSpPr>
          <p:nvPr>
            <p:ph type="sldNum" sz="quarter" idx="12"/>
          </p:nvPr>
        </p:nvSpPr>
        <p:spPr/>
        <p:txBody>
          <a:bodyPr/>
          <a:lstStyle/>
          <a:p>
            <a:fld id="{5EF887C5-9AA2-444F-9CD9-CFA79066AABB}" type="slidenum">
              <a:rPr lang="en-US" smtClean="0"/>
              <a:t>‹#›</a:t>
            </a:fld>
            <a:endParaRPr lang="en-US"/>
          </a:p>
        </p:txBody>
      </p:sp>
    </p:spTree>
    <p:extLst>
      <p:ext uri="{BB962C8B-B14F-4D97-AF65-F5344CB8AC3E}">
        <p14:creationId xmlns:p14="http://schemas.microsoft.com/office/powerpoint/2010/main" val="1368463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E19C8-0EB7-5D79-03E9-DD23910B62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8C8DDDA-AC0F-FA62-0093-B65D9E38AA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48CECFF-7612-D9BD-A297-3BF32F5D70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15E322-7688-010E-95C2-8BCF05FDD465}"/>
              </a:ext>
            </a:extLst>
          </p:cNvPr>
          <p:cNvSpPr>
            <a:spLocks noGrp="1"/>
          </p:cNvSpPr>
          <p:nvPr>
            <p:ph type="dt" sz="half" idx="10"/>
          </p:nvPr>
        </p:nvSpPr>
        <p:spPr/>
        <p:txBody>
          <a:bodyPr/>
          <a:lstStyle/>
          <a:p>
            <a:fld id="{4F049F8D-1312-4B4B-B8E4-3AA9989D6E94}" type="datetimeFigureOut">
              <a:rPr lang="en-US" smtClean="0"/>
              <a:t>1/7/2024</a:t>
            </a:fld>
            <a:endParaRPr lang="en-US"/>
          </a:p>
        </p:txBody>
      </p:sp>
      <p:sp>
        <p:nvSpPr>
          <p:cNvPr id="6" name="Footer Placeholder 5">
            <a:extLst>
              <a:ext uri="{FF2B5EF4-FFF2-40B4-BE49-F238E27FC236}">
                <a16:creationId xmlns:a16="http://schemas.microsoft.com/office/drawing/2014/main" id="{26828464-2D22-76EA-E722-D1A9DE27AC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C0C529-8E84-D134-6341-1CA58A391A20}"/>
              </a:ext>
            </a:extLst>
          </p:cNvPr>
          <p:cNvSpPr>
            <a:spLocks noGrp="1"/>
          </p:cNvSpPr>
          <p:nvPr>
            <p:ph type="sldNum" sz="quarter" idx="12"/>
          </p:nvPr>
        </p:nvSpPr>
        <p:spPr/>
        <p:txBody>
          <a:bodyPr/>
          <a:lstStyle/>
          <a:p>
            <a:fld id="{5EF887C5-9AA2-444F-9CD9-CFA79066AABB}" type="slidenum">
              <a:rPr lang="en-US" smtClean="0"/>
              <a:t>‹#›</a:t>
            </a:fld>
            <a:endParaRPr lang="en-US"/>
          </a:p>
        </p:txBody>
      </p:sp>
    </p:spTree>
    <p:extLst>
      <p:ext uri="{BB962C8B-B14F-4D97-AF65-F5344CB8AC3E}">
        <p14:creationId xmlns:p14="http://schemas.microsoft.com/office/powerpoint/2010/main" val="1452489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774F-095E-3A77-318E-946AF61D02F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49BEC29-74D2-F2F5-0CF2-8DEC88EB51E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90B77C-0541-FB38-85AD-7462163A0A0F}"/>
              </a:ext>
            </a:extLst>
          </p:cNvPr>
          <p:cNvSpPr>
            <a:spLocks noGrp="1"/>
          </p:cNvSpPr>
          <p:nvPr>
            <p:ph type="dt" sz="half" idx="10"/>
          </p:nvPr>
        </p:nvSpPr>
        <p:spPr/>
        <p:txBody>
          <a:bodyPr/>
          <a:lstStyle/>
          <a:p>
            <a:fld id="{4F049F8D-1312-4B4B-B8E4-3AA9989D6E94}" type="datetimeFigureOut">
              <a:rPr lang="en-US" smtClean="0"/>
              <a:t>1/7/2024</a:t>
            </a:fld>
            <a:endParaRPr lang="en-US"/>
          </a:p>
        </p:txBody>
      </p:sp>
      <p:sp>
        <p:nvSpPr>
          <p:cNvPr id="5" name="Footer Placeholder 4">
            <a:extLst>
              <a:ext uri="{FF2B5EF4-FFF2-40B4-BE49-F238E27FC236}">
                <a16:creationId xmlns:a16="http://schemas.microsoft.com/office/drawing/2014/main" id="{432A1740-79CD-97EC-03AD-52BBC326BF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BC8135-2FB4-421C-F3BA-845C65D2F536}"/>
              </a:ext>
            </a:extLst>
          </p:cNvPr>
          <p:cNvSpPr>
            <a:spLocks noGrp="1"/>
          </p:cNvSpPr>
          <p:nvPr>
            <p:ph type="sldNum" sz="quarter" idx="12"/>
          </p:nvPr>
        </p:nvSpPr>
        <p:spPr/>
        <p:txBody>
          <a:bodyPr/>
          <a:lstStyle/>
          <a:p>
            <a:fld id="{5EF887C5-9AA2-444F-9CD9-CFA79066AABB}" type="slidenum">
              <a:rPr lang="en-US" smtClean="0"/>
              <a:t>‹#›</a:t>
            </a:fld>
            <a:endParaRPr lang="en-US"/>
          </a:p>
        </p:txBody>
      </p:sp>
    </p:spTree>
    <p:extLst>
      <p:ext uri="{BB962C8B-B14F-4D97-AF65-F5344CB8AC3E}">
        <p14:creationId xmlns:p14="http://schemas.microsoft.com/office/powerpoint/2010/main" val="21698452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4C6832-3C05-B830-1403-2C092B6DAA8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431A70C-0333-C78F-B583-C43E00E54B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4A534A-C777-FBA1-5DC4-D17632DB9851}"/>
              </a:ext>
            </a:extLst>
          </p:cNvPr>
          <p:cNvSpPr>
            <a:spLocks noGrp="1"/>
          </p:cNvSpPr>
          <p:nvPr>
            <p:ph type="dt" sz="half" idx="10"/>
          </p:nvPr>
        </p:nvSpPr>
        <p:spPr/>
        <p:txBody>
          <a:bodyPr/>
          <a:lstStyle/>
          <a:p>
            <a:fld id="{4F049F8D-1312-4B4B-B8E4-3AA9989D6E94}" type="datetimeFigureOut">
              <a:rPr lang="en-US" smtClean="0"/>
              <a:t>1/7/2024</a:t>
            </a:fld>
            <a:endParaRPr lang="en-US"/>
          </a:p>
        </p:txBody>
      </p:sp>
      <p:sp>
        <p:nvSpPr>
          <p:cNvPr id="5" name="Footer Placeholder 4">
            <a:extLst>
              <a:ext uri="{FF2B5EF4-FFF2-40B4-BE49-F238E27FC236}">
                <a16:creationId xmlns:a16="http://schemas.microsoft.com/office/drawing/2014/main" id="{3650AC1C-FF18-7BFC-074E-C68467D63D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CD3289-FEFD-C882-74ED-FD6B14B4FC9A}"/>
              </a:ext>
            </a:extLst>
          </p:cNvPr>
          <p:cNvSpPr>
            <a:spLocks noGrp="1"/>
          </p:cNvSpPr>
          <p:nvPr>
            <p:ph type="sldNum" sz="quarter" idx="12"/>
          </p:nvPr>
        </p:nvSpPr>
        <p:spPr/>
        <p:txBody>
          <a:bodyPr/>
          <a:lstStyle/>
          <a:p>
            <a:fld id="{5EF887C5-9AA2-444F-9CD9-CFA79066AABB}" type="slidenum">
              <a:rPr lang="en-US" smtClean="0"/>
              <a:t>‹#›</a:t>
            </a:fld>
            <a:endParaRPr lang="en-US"/>
          </a:p>
        </p:txBody>
      </p:sp>
    </p:spTree>
    <p:extLst>
      <p:ext uri="{BB962C8B-B14F-4D97-AF65-F5344CB8AC3E}">
        <p14:creationId xmlns:p14="http://schemas.microsoft.com/office/powerpoint/2010/main" val="696867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C9FF28-FFA6-51D1-9BB1-B5C5A5AA1E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1FC41F8-2913-A264-6EA4-A1033CBAFC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264DA8-F23E-7C89-ED47-9C776F9A45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049F8D-1312-4B4B-B8E4-3AA9989D6E94}" type="datetimeFigureOut">
              <a:rPr lang="en-US" smtClean="0"/>
              <a:t>1/7/2024</a:t>
            </a:fld>
            <a:endParaRPr lang="en-US"/>
          </a:p>
        </p:txBody>
      </p:sp>
      <p:sp>
        <p:nvSpPr>
          <p:cNvPr id="5" name="Footer Placeholder 4">
            <a:extLst>
              <a:ext uri="{FF2B5EF4-FFF2-40B4-BE49-F238E27FC236}">
                <a16:creationId xmlns:a16="http://schemas.microsoft.com/office/drawing/2014/main" id="{31160CCD-9DA5-47DA-BAAC-37633D7D0A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2D01904-2E12-D4EF-D745-E56F57A298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F887C5-9AA2-444F-9CD9-CFA79066AABB}" type="slidenum">
              <a:rPr lang="en-US" smtClean="0"/>
              <a:t>‹#›</a:t>
            </a:fld>
            <a:endParaRPr lang="en-US"/>
          </a:p>
        </p:txBody>
      </p:sp>
    </p:spTree>
    <p:extLst>
      <p:ext uri="{BB962C8B-B14F-4D97-AF65-F5344CB8AC3E}">
        <p14:creationId xmlns:p14="http://schemas.microsoft.com/office/powerpoint/2010/main" val="39933447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geeksforgeeks.org/distributed-database-system/"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www.enjoyalgorithms.com/blog/introduction-to-hadoop-framework"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68A15-772F-D117-7A5A-85E8DA36D453}"/>
              </a:ext>
            </a:extLst>
          </p:cNvPr>
          <p:cNvSpPr>
            <a:spLocks noGrp="1"/>
          </p:cNvSpPr>
          <p:nvPr>
            <p:ph type="ctrTitle"/>
          </p:nvPr>
        </p:nvSpPr>
        <p:spPr/>
        <p:txBody>
          <a:bodyPr/>
          <a:lstStyle/>
          <a:p>
            <a:r>
              <a:rPr lang="en-US" dirty="0"/>
              <a:t>Hadoop</a:t>
            </a:r>
          </a:p>
        </p:txBody>
      </p:sp>
      <p:sp>
        <p:nvSpPr>
          <p:cNvPr id="3" name="Subtitle 2">
            <a:extLst>
              <a:ext uri="{FF2B5EF4-FFF2-40B4-BE49-F238E27FC236}">
                <a16:creationId xmlns:a16="http://schemas.microsoft.com/office/drawing/2014/main" id="{EB3F042F-F7AA-B5DC-D3CE-C574EF138F8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604695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1F4F9-797D-20FF-193B-BD40BA9C9CD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DC688CE-D409-5395-E335-23B8965C25BC}"/>
              </a:ext>
            </a:extLst>
          </p:cNvPr>
          <p:cNvSpPr>
            <a:spLocks noGrp="1"/>
          </p:cNvSpPr>
          <p:nvPr>
            <p:ph idx="1"/>
          </p:nvPr>
        </p:nvSpPr>
        <p:spPr/>
        <p:txBody>
          <a:bodyPr/>
          <a:lstStyle/>
          <a:p>
            <a:r>
              <a:rPr lang="en-US" b="0" i="0" dirty="0">
                <a:solidFill>
                  <a:srgbClr val="273239"/>
                </a:solidFill>
                <a:effectLst/>
                <a:latin typeface="Nunito" pitchFamily="2" charset="0"/>
              </a:rPr>
              <a:t>A distributed database is basically a database that is not limited to one system, it is spread over different sites, </a:t>
            </a:r>
            <a:r>
              <a:rPr lang="en-US" b="0" i="0" dirty="0" err="1">
                <a:solidFill>
                  <a:srgbClr val="273239"/>
                </a:solidFill>
                <a:effectLst/>
                <a:latin typeface="Nunito" pitchFamily="2" charset="0"/>
              </a:rPr>
              <a:t>i.e</a:t>
            </a:r>
            <a:r>
              <a:rPr lang="en-US" b="0" i="0" dirty="0">
                <a:solidFill>
                  <a:srgbClr val="273239"/>
                </a:solidFill>
                <a:effectLst/>
                <a:latin typeface="Nunito" pitchFamily="2" charset="0"/>
              </a:rPr>
              <a:t>, on multiple computers or over a network of computers. </a:t>
            </a:r>
          </a:p>
          <a:p>
            <a:r>
              <a:rPr lang="en-US" b="0" i="0" dirty="0">
                <a:solidFill>
                  <a:srgbClr val="273239"/>
                </a:solidFill>
                <a:effectLst/>
                <a:latin typeface="Nunito" pitchFamily="2" charset="0"/>
              </a:rPr>
              <a:t>A distributed database system is located on various sites that don’t share physical components. This may be required when a particular database needs to be accessed by various users globally. It needs to be managed such that for the users it looks like one single database. </a:t>
            </a:r>
            <a:endParaRPr lang="en-US" dirty="0"/>
          </a:p>
        </p:txBody>
      </p:sp>
    </p:spTree>
    <p:extLst>
      <p:ext uri="{BB962C8B-B14F-4D97-AF65-F5344CB8AC3E}">
        <p14:creationId xmlns:p14="http://schemas.microsoft.com/office/powerpoint/2010/main" val="2973597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1F4F9-797D-20FF-193B-BD40BA9C9CD6}"/>
              </a:ext>
            </a:extLst>
          </p:cNvPr>
          <p:cNvSpPr>
            <a:spLocks noGrp="1"/>
          </p:cNvSpPr>
          <p:nvPr>
            <p:ph type="title"/>
          </p:nvPr>
        </p:nvSpPr>
        <p:spPr/>
        <p:txBody>
          <a:bodyPr/>
          <a:lstStyle/>
          <a:p>
            <a:r>
              <a:rPr lang="en-US" b="1" i="0" dirty="0">
                <a:solidFill>
                  <a:srgbClr val="273239"/>
                </a:solidFill>
                <a:effectLst/>
                <a:latin typeface="Nunito" pitchFamily="2" charset="0"/>
              </a:rPr>
              <a:t>Types: </a:t>
            </a:r>
            <a:br>
              <a:rPr lang="en-US" b="0"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EDC688CE-D409-5395-E335-23B8965C25BC}"/>
              </a:ext>
            </a:extLst>
          </p:cNvPr>
          <p:cNvSpPr>
            <a:spLocks noGrp="1"/>
          </p:cNvSpPr>
          <p:nvPr>
            <p:ph idx="1"/>
          </p:nvPr>
        </p:nvSpPr>
        <p:spPr/>
        <p:txBody>
          <a:bodyPr>
            <a:normAutofit/>
          </a:bodyPr>
          <a:lstStyle/>
          <a:p>
            <a:pPr algn="l" fontAlgn="base"/>
            <a:r>
              <a:rPr lang="en-US" b="1" i="0" dirty="0">
                <a:solidFill>
                  <a:srgbClr val="273239"/>
                </a:solidFill>
                <a:effectLst/>
                <a:latin typeface="Nunito" pitchFamily="2" charset="0"/>
              </a:rPr>
              <a:t>1. Homogeneous Database: </a:t>
            </a:r>
            <a:br>
              <a:rPr lang="en-US" b="0" i="0" dirty="0">
                <a:solidFill>
                  <a:srgbClr val="273239"/>
                </a:solidFill>
                <a:effectLst/>
                <a:latin typeface="Nunito" pitchFamily="2" charset="0"/>
              </a:rPr>
            </a:br>
            <a:r>
              <a:rPr lang="en-US" b="0" i="0" dirty="0">
                <a:solidFill>
                  <a:srgbClr val="273239"/>
                </a:solidFill>
                <a:effectLst/>
                <a:latin typeface="Nunito" pitchFamily="2" charset="0"/>
              </a:rPr>
              <a:t>In a homogeneous database, all different sites store database identically. The operating system, database management system, and the data structures used – all are the same at all sites. Hence, they’re easy to manage. </a:t>
            </a:r>
          </a:p>
          <a:p>
            <a:endParaRPr lang="en-US" dirty="0"/>
          </a:p>
        </p:txBody>
      </p:sp>
    </p:spTree>
    <p:extLst>
      <p:ext uri="{BB962C8B-B14F-4D97-AF65-F5344CB8AC3E}">
        <p14:creationId xmlns:p14="http://schemas.microsoft.com/office/powerpoint/2010/main" val="4000824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1F4F9-797D-20FF-193B-BD40BA9C9CD6}"/>
              </a:ext>
            </a:extLst>
          </p:cNvPr>
          <p:cNvSpPr>
            <a:spLocks noGrp="1"/>
          </p:cNvSpPr>
          <p:nvPr>
            <p:ph type="title"/>
          </p:nvPr>
        </p:nvSpPr>
        <p:spPr/>
        <p:txBody>
          <a:bodyPr/>
          <a:lstStyle/>
          <a:p>
            <a:r>
              <a:rPr lang="en-US" b="1" i="0" dirty="0">
                <a:solidFill>
                  <a:srgbClr val="273239"/>
                </a:solidFill>
                <a:effectLst/>
                <a:latin typeface="Nunito" pitchFamily="2" charset="0"/>
              </a:rPr>
              <a:t>Heterogeneous Database: </a:t>
            </a:r>
            <a:endParaRPr lang="en-US" dirty="0"/>
          </a:p>
        </p:txBody>
      </p:sp>
      <p:sp>
        <p:nvSpPr>
          <p:cNvPr id="3" name="Content Placeholder 2">
            <a:extLst>
              <a:ext uri="{FF2B5EF4-FFF2-40B4-BE49-F238E27FC236}">
                <a16:creationId xmlns:a16="http://schemas.microsoft.com/office/drawing/2014/main" id="{EDC688CE-D409-5395-E335-23B8965C25BC}"/>
              </a:ext>
            </a:extLst>
          </p:cNvPr>
          <p:cNvSpPr>
            <a:spLocks noGrp="1"/>
          </p:cNvSpPr>
          <p:nvPr>
            <p:ph idx="1"/>
          </p:nvPr>
        </p:nvSpPr>
        <p:spPr/>
        <p:txBody>
          <a:bodyPr/>
          <a:lstStyle/>
          <a:p>
            <a:br>
              <a:rPr lang="en-US" b="0" i="0" dirty="0">
                <a:solidFill>
                  <a:srgbClr val="273239"/>
                </a:solidFill>
                <a:effectLst/>
                <a:latin typeface="Nunito" pitchFamily="2" charset="0"/>
              </a:rPr>
            </a:br>
            <a:r>
              <a:rPr lang="en-US" b="0" i="0" dirty="0">
                <a:solidFill>
                  <a:srgbClr val="273239"/>
                </a:solidFill>
                <a:effectLst/>
                <a:latin typeface="Nunito" pitchFamily="2" charset="0"/>
              </a:rPr>
              <a:t>In a heterogeneous distributed database, different sites can use different schema and software that can lead to problems in query processing and transactions. Also, a particular site might be completely unaware of the other sites. Different computers may use a different operating system, different database application. They may even use different data models for the database. Hence, translations are required for different sites to communicate. </a:t>
            </a:r>
          </a:p>
          <a:p>
            <a:endParaRPr lang="en-US" dirty="0"/>
          </a:p>
        </p:txBody>
      </p:sp>
    </p:spTree>
    <p:extLst>
      <p:ext uri="{BB962C8B-B14F-4D97-AF65-F5344CB8AC3E}">
        <p14:creationId xmlns:p14="http://schemas.microsoft.com/office/powerpoint/2010/main" val="1545731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1F4F9-797D-20FF-193B-BD40BA9C9CD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DC688CE-D409-5395-E335-23B8965C25BC}"/>
              </a:ext>
            </a:extLst>
          </p:cNvPr>
          <p:cNvSpPr>
            <a:spLocks noGrp="1"/>
          </p:cNvSpPr>
          <p:nvPr>
            <p:ph idx="1"/>
          </p:nvPr>
        </p:nvSpPr>
        <p:spPr/>
        <p:txBody>
          <a:bodyPr>
            <a:normAutofit fontScale="85000" lnSpcReduction="20000"/>
          </a:bodyPr>
          <a:lstStyle/>
          <a:p>
            <a:pPr algn="l" fontAlgn="base"/>
            <a:r>
              <a:rPr lang="en-US" b="1" i="0" dirty="0">
                <a:solidFill>
                  <a:srgbClr val="273239"/>
                </a:solidFill>
                <a:effectLst/>
                <a:latin typeface="Nunito" pitchFamily="2" charset="0"/>
              </a:rPr>
              <a:t>Distributed Data Storage :</a:t>
            </a:r>
            <a:br>
              <a:rPr lang="en-US" b="0" i="0" dirty="0">
                <a:solidFill>
                  <a:srgbClr val="273239"/>
                </a:solidFill>
                <a:effectLst/>
                <a:latin typeface="Nunito" pitchFamily="2" charset="0"/>
              </a:rPr>
            </a:br>
            <a:r>
              <a:rPr lang="en-US" b="0" i="0" dirty="0">
                <a:solidFill>
                  <a:srgbClr val="273239"/>
                </a:solidFill>
                <a:effectLst/>
                <a:latin typeface="Nunito" pitchFamily="2" charset="0"/>
              </a:rPr>
              <a:t>There are 2 ways in which data can be stored on different sites. These are: </a:t>
            </a:r>
          </a:p>
          <a:p>
            <a:pPr algn="l" fontAlgn="base"/>
            <a:r>
              <a:rPr lang="en-US" b="1" i="0" dirty="0">
                <a:solidFill>
                  <a:srgbClr val="273239"/>
                </a:solidFill>
                <a:effectLst/>
                <a:latin typeface="Nunito" pitchFamily="2" charset="0"/>
              </a:rPr>
              <a:t>1. Replication –</a:t>
            </a:r>
            <a:br>
              <a:rPr lang="en-US" b="0" i="0" dirty="0">
                <a:solidFill>
                  <a:srgbClr val="273239"/>
                </a:solidFill>
                <a:effectLst/>
                <a:latin typeface="Nunito" pitchFamily="2" charset="0"/>
              </a:rPr>
            </a:br>
            <a:r>
              <a:rPr lang="en-US" b="0" i="0" dirty="0">
                <a:solidFill>
                  <a:srgbClr val="273239"/>
                </a:solidFill>
                <a:effectLst/>
                <a:latin typeface="Nunito" pitchFamily="2" charset="0"/>
              </a:rPr>
              <a:t>In this approach, the entire relationship is stored redundantly at 2 or more sites. If the entire database is available at all sites, it is a fully redundant database. Hence, in replication, systems maintain copies of data. </a:t>
            </a:r>
          </a:p>
          <a:p>
            <a:pPr algn="l" fontAlgn="base"/>
            <a:r>
              <a:rPr lang="en-US" b="0" i="0" dirty="0">
                <a:solidFill>
                  <a:srgbClr val="273239"/>
                </a:solidFill>
                <a:effectLst/>
                <a:latin typeface="Nunito" pitchFamily="2" charset="0"/>
              </a:rPr>
              <a:t>This is advantageous as it increases the availability of data at different sites. Also, now query requests can be processed in parallel. </a:t>
            </a:r>
            <a:br>
              <a:rPr lang="en-US" b="0" i="0" dirty="0">
                <a:solidFill>
                  <a:srgbClr val="273239"/>
                </a:solidFill>
                <a:effectLst/>
                <a:latin typeface="Nunito" pitchFamily="2" charset="0"/>
              </a:rPr>
            </a:br>
            <a:r>
              <a:rPr lang="en-US" b="0" i="0" dirty="0">
                <a:solidFill>
                  <a:srgbClr val="273239"/>
                </a:solidFill>
                <a:effectLst/>
                <a:latin typeface="Nunito" pitchFamily="2" charset="0"/>
              </a:rPr>
              <a:t>However, it has certain disadvantages as well. Data needs to be constantly updated. Any change made at one site needs to be recorded at every site that relation is stored or else it may lead to inconsistency. This is a lot of overhead. Also, concurrency control becomes way more complex as concurrent access now needs to be checked over a number of sites. </a:t>
            </a:r>
          </a:p>
          <a:p>
            <a:endParaRPr lang="en-US" dirty="0"/>
          </a:p>
        </p:txBody>
      </p:sp>
    </p:spTree>
    <p:extLst>
      <p:ext uri="{BB962C8B-B14F-4D97-AF65-F5344CB8AC3E}">
        <p14:creationId xmlns:p14="http://schemas.microsoft.com/office/powerpoint/2010/main" val="7677823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1F4F9-797D-20FF-193B-BD40BA9C9CD6}"/>
              </a:ext>
            </a:extLst>
          </p:cNvPr>
          <p:cNvSpPr>
            <a:spLocks noGrp="1"/>
          </p:cNvSpPr>
          <p:nvPr>
            <p:ph type="title"/>
          </p:nvPr>
        </p:nvSpPr>
        <p:spPr/>
        <p:txBody>
          <a:bodyPr/>
          <a:lstStyle/>
          <a:p>
            <a:r>
              <a:rPr lang="en-US" b="1" i="0" dirty="0">
                <a:solidFill>
                  <a:srgbClr val="273239"/>
                </a:solidFill>
                <a:effectLst/>
                <a:latin typeface="Nunito" pitchFamily="2" charset="0"/>
              </a:rPr>
              <a:t>Fragmentation –</a:t>
            </a:r>
            <a:endParaRPr lang="en-US" dirty="0"/>
          </a:p>
        </p:txBody>
      </p:sp>
      <p:sp>
        <p:nvSpPr>
          <p:cNvPr id="3" name="Content Placeholder 2">
            <a:extLst>
              <a:ext uri="{FF2B5EF4-FFF2-40B4-BE49-F238E27FC236}">
                <a16:creationId xmlns:a16="http://schemas.microsoft.com/office/drawing/2014/main" id="{EDC688CE-D409-5395-E335-23B8965C25BC}"/>
              </a:ext>
            </a:extLst>
          </p:cNvPr>
          <p:cNvSpPr>
            <a:spLocks noGrp="1"/>
          </p:cNvSpPr>
          <p:nvPr>
            <p:ph idx="1"/>
          </p:nvPr>
        </p:nvSpPr>
        <p:spPr/>
        <p:txBody>
          <a:bodyPr/>
          <a:lstStyle/>
          <a:p>
            <a:br>
              <a:rPr lang="en-US" dirty="0"/>
            </a:br>
            <a:r>
              <a:rPr lang="en-US" b="0" i="0" dirty="0">
                <a:solidFill>
                  <a:srgbClr val="273239"/>
                </a:solidFill>
                <a:effectLst/>
                <a:latin typeface="Nunito" pitchFamily="2" charset="0"/>
              </a:rPr>
              <a:t>In this approach, the relations are fragmented (i.e., they’re divided into smaller parts) and each of the fragments is stored in different sites where they’re required. It must be made sure that the fragments are such that they can be used to reconstruct the original relation (</a:t>
            </a:r>
            <a:r>
              <a:rPr lang="en-US" b="0" i="0" dirty="0" err="1">
                <a:solidFill>
                  <a:srgbClr val="273239"/>
                </a:solidFill>
                <a:effectLst/>
                <a:latin typeface="Nunito" pitchFamily="2" charset="0"/>
              </a:rPr>
              <a:t>i.e</a:t>
            </a:r>
            <a:r>
              <a:rPr lang="en-US" b="0" i="0" dirty="0">
                <a:solidFill>
                  <a:srgbClr val="273239"/>
                </a:solidFill>
                <a:effectLst/>
                <a:latin typeface="Nunito" pitchFamily="2" charset="0"/>
              </a:rPr>
              <a:t>, there isn’t any loss of data). </a:t>
            </a:r>
            <a:br>
              <a:rPr lang="en-US" dirty="0"/>
            </a:br>
            <a:r>
              <a:rPr lang="en-US" b="0" i="0" dirty="0">
                <a:solidFill>
                  <a:srgbClr val="273239"/>
                </a:solidFill>
                <a:effectLst/>
                <a:latin typeface="Nunito" pitchFamily="2" charset="0"/>
              </a:rPr>
              <a:t>Fragmentation is advantageous as it doesn’t create copies of data, consistency is not a problem. </a:t>
            </a:r>
            <a:br>
              <a:rPr lang="en-US" dirty="0"/>
            </a:br>
            <a:r>
              <a:rPr lang="en-US" b="0" i="0" dirty="0">
                <a:solidFill>
                  <a:srgbClr val="273239"/>
                </a:solidFill>
                <a:effectLst/>
                <a:latin typeface="Nunito" pitchFamily="2" charset="0"/>
              </a:rPr>
              <a:t> </a:t>
            </a:r>
            <a:endParaRPr lang="en-US" dirty="0"/>
          </a:p>
        </p:txBody>
      </p:sp>
    </p:spTree>
    <p:extLst>
      <p:ext uri="{BB962C8B-B14F-4D97-AF65-F5344CB8AC3E}">
        <p14:creationId xmlns:p14="http://schemas.microsoft.com/office/powerpoint/2010/main" val="419754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1F4F9-797D-20FF-193B-BD40BA9C9CD6}"/>
              </a:ext>
            </a:extLst>
          </p:cNvPr>
          <p:cNvSpPr>
            <a:spLocks noGrp="1"/>
          </p:cNvSpPr>
          <p:nvPr>
            <p:ph type="title"/>
          </p:nvPr>
        </p:nvSpPr>
        <p:spPr/>
        <p:txBody>
          <a:bodyPr/>
          <a:lstStyle/>
          <a:p>
            <a:r>
              <a:rPr lang="en-US" b="1" i="0" dirty="0">
                <a:solidFill>
                  <a:srgbClr val="273239"/>
                </a:solidFill>
                <a:effectLst/>
                <a:latin typeface="Nunito" pitchFamily="2" charset="0"/>
              </a:rPr>
              <a:t>Applications of Distributed Database</a:t>
            </a:r>
            <a:endParaRPr lang="en-US" dirty="0"/>
          </a:p>
        </p:txBody>
      </p:sp>
      <p:sp>
        <p:nvSpPr>
          <p:cNvPr id="3" name="Content Placeholder 2">
            <a:extLst>
              <a:ext uri="{FF2B5EF4-FFF2-40B4-BE49-F238E27FC236}">
                <a16:creationId xmlns:a16="http://schemas.microsoft.com/office/drawing/2014/main" id="{EDC688CE-D409-5395-E335-23B8965C25BC}"/>
              </a:ext>
            </a:extLst>
          </p:cNvPr>
          <p:cNvSpPr>
            <a:spLocks noGrp="1"/>
          </p:cNvSpPr>
          <p:nvPr>
            <p:ph idx="1"/>
          </p:nvPr>
        </p:nvSpPr>
        <p:spPr/>
        <p:txBody>
          <a:bodyPr/>
          <a:lstStyle/>
          <a:p>
            <a:pPr algn="l" fontAlgn="base">
              <a:buFont typeface="Arial" panose="020B0604020202020204" pitchFamily="34" charset="0"/>
              <a:buChar char="•"/>
            </a:pPr>
            <a:r>
              <a:rPr lang="en-US" b="0" i="0" dirty="0">
                <a:solidFill>
                  <a:srgbClr val="273239"/>
                </a:solidFill>
                <a:effectLst/>
                <a:latin typeface="Nunito" pitchFamily="2" charset="0"/>
              </a:rPr>
              <a:t>It is used in Corporate Management Information System.</a:t>
            </a:r>
          </a:p>
          <a:p>
            <a:pPr algn="l" fontAlgn="base">
              <a:buFont typeface="Arial" panose="020B0604020202020204" pitchFamily="34" charset="0"/>
              <a:buChar char="•"/>
            </a:pPr>
            <a:r>
              <a:rPr lang="en-US" b="0" i="0" dirty="0">
                <a:solidFill>
                  <a:srgbClr val="273239"/>
                </a:solidFill>
                <a:effectLst/>
                <a:latin typeface="Nunito" pitchFamily="2" charset="0"/>
              </a:rPr>
              <a:t>It is used in multimedia applications.</a:t>
            </a:r>
          </a:p>
          <a:p>
            <a:pPr algn="l" fontAlgn="base">
              <a:buFont typeface="Arial" panose="020B0604020202020204" pitchFamily="34" charset="0"/>
              <a:buChar char="•"/>
            </a:pPr>
            <a:r>
              <a:rPr lang="en-US" b="0" i="0" dirty="0">
                <a:solidFill>
                  <a:srgbClr val="273239"/>
                </a:solidFill>
                <a:effectLst/>
                <a:latin typeface="Nunito" pitchFamily="2" charset="0"/>
              </a:rPr>
              <a:t>Used in Military’s control system, Hotel chains etc.</a:t>
            </a:r>
          </a:p>
          <a:p>
            <a:pPr algn="l" fontAlgn="base">
              <a:buFont typeface="Arial" panose="020B0604020202020204" pitchFamily="34" charset="0"/>
              <a:buChar char="•"/>
            </a:pPr>
            <a:r>
              <a:rPr lang="en-US" b="0" i="0" dirty="0">
                <a:solidFill>
                  <a:srgbClr val="273239"/>
                </a:solidFill>
                <a:effectLst/>
                <a:latin typeface="Nunito" pitchFamily="2" charset="0"/>
              </a:rPr>
              <a:t>It is also used in manufacturing control system.</a:t>
            </a:r>
          </a:p>
          <a:p>
            <a:endParaRPr lang="en-US" dirty="0"/>
          </a:p>
        </p:txBody>
      </p:sp>
    </p:spTree>
    <p:extLst>
      <p:ext uri="{BB962C8B-B14F-4D97-AF65-F5344CB8AC3E}">
        <p14:creationId xmlns:p14="http://schemas.microsoft.com/office/powerpoint/2010/main" val="3930535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1F4F9-797D-20FF-193B-BD40BA9C9CD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DC688CE-D409-5395-E335-23B8965C25BC}"/>
              </a:ext>
            </a:extLst>
          </p:cNvPr>
          <p:cNvSpPr>
            <a:spLocks noGrp="1"/>
          </p:cNvSpPr>
          <p:nvPr>
            <p:ph idx="1"/>
          </p:nvPr>
        </p:nvSpPr>
        <p:spPr/>
        <p:txBody>
          <a:bodyPr>
            <a:normAutofit fontScale="92500"/>
          </a:bodyPr>
          <a:lstStyle/>
          <a:p>
            <a:pPr algn="l" fontAlgn="base"/>
            <a:r>
              <a:rPr lang="en-US" b="0" i="0" dirty="0">
                <a:solidFill>
                  <a:srgbClr val="273239"/>
                </a:solidFill>
                <a:effectLst/>
                <a:latin typeface="Nunito" pitchFamily="2" charset="0"/>
              </a:rPr>
              <a:t>A distributed database system is a type of database management system that stores data across multiple computers or sites that are connected by a network. In a distributed database system, each site has its own database, and the databases are connected to each other to form a single, integrated system.</a:t>
            </a:r>
          </a:p>
          <a:p>
            <a:pPr algn="l" fontAlgn="base"/>
            <a:r>
              <a:rPr lang="en-US" b="0" i="0" dirty="0">
                <a:solidFill>
                  <a:srgbClr val="273239"/>
                </a:solidFill>
                <a:effectLst/>
                <a:latin typeface="Nunito" pitchFamily="2" charset="0"/>
              </a:rPr>
              <a:t>  The main advantage of a distributed database system is that it can provide higher availability and reliability than a centralized database system. Because the data is stored across multiple sites, the system can continue to function even if one or more sites fail. In addition, a distributed database system can provide better performance by distributing the data and processing load across multiple sites.</a:t>
            </a:r>
          </a:p>
          <a:p>
            <a:endParaRPr lang="en-US" dirty="0"/>
          </a:p>
        </p:txBody>
      </p:sp>
    </p:spTree>
    <p:extLst>
      <p:ext uri="{BB962C8B-B14F-4D97-AF65-F5344CB8AC3E}">
        <p14:creationId xmlns:p14="http://schemas.microsoft.com/office/powerpoint/2010/main" val="2633834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1F4F9-797D-20FF-193B-BD40BA9C9CD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DC688CE-D409-5395-E335-23B8965C25BC}"/>
              </a:ext>
            </a:extLst>
          </p:cNvPr>
          <p:cNvSpPr>
            <a:spLocks noGrp="1"/>
          </p:cNvSpPr>
          <p:nvPr>
            <p:ph idx="1"/>
          </p:nvPr>
        </p:nvSpPr>
        <p:spPr/>
        <p:txBody>
          <a:bodyPr>
            <a:normAutofit fontScale="85000" lnSpcReduction="10000"/>
          </a:bodyPr>
          <a:lstStyle/>
          <a:p>
            <a:pPr algn="l" fontAlgn="base"/>
            <a:r>
              <a:rPr lang="en-US" b="1" i="0" dirty="0">
                <a:solidFill>
                  <a:srgbClr val="273239"/>
                </a:solidFill>
                <a:effectLst/>
                <a:latin typeface="Nunito" pitchFamily="2" charset="0"/>
              </a:rPr>
              <a:t>There are several different architectures for distributed database systems, including:</a:t>
            </a:r>
          </a:p>
          <a:p>
            <a:pPr algn="l" fontAlgn="base"/>
            <a:r>
              <a:rPr lang="en-US" b="1" i="0" dirty="0">
                <a:solidFill>
                  <a:srgbClr val="273239"/>
                </a:solidFill>
                <a:effectLst/>
                <a:latin typeface="Nunito" pitchFamily="2" charset="0"/>
              </a:rPr>
              <a:t>Client-server architecture: </a:t>
            </a:r>
            <a:r>
              <a:rPr lang="en-US" b="0" i="0" dirty="0">
                <a:solidFill>
                  <a:srgbClr val="273239"/>
                </a:solidFill>
                <a:effectLst/>
                <a:latin typeface="Nunito" pitchFamily="2" charset="0"/>
              </a:rPr>
              <a:t>In this architecture, clients connect to a central server, which manages the distributed database system. The server is responsible for coordinating transactions, managing data storage, and providing access control.</a:t>
            </a:r>
          </a:p>
          <a:p>
            <a:pPr algn="l" fontAlgn="base"/>
            <a:r>
              <a:rPr lang="en-US" b="1" i="0" dirty="0">
                <a:solidFill>
                  <a:srgbClr val="273239"/>
                </a:solidFill>
                <a:effectLst/>
                <a:latin typeface="Nunito" pitchFamily="2" charset="0"/>
              </a:rPr>
              <a:t>Peer-to-peer architecture: </a:t>
            </a:r>
            <a:r>
              <a:rPr lang="en-US" b="0" i="0" dirty="0">
                <a:solidFill>
                  <a:srgbClr val="273239"/>
                </a:solidFill>
                <a:effectLst/>
                <a:latin typeface="Nunito" pitchFamily="2" charset="0"/>
              </a:rPr>
              <a:t>In this architecture, each site in the distributed database system is connected to all other sites. Each site is responsible for managing its own data and coordinating transactions with other sites.</a:t>
            </a:r>
          </a:p>
          <a:p>
            <a:pPr algn="l" fontAlgn="base"/>
            <a:r>
              <a:rPr lang="en-US" b="1" i="0" dirty="0">
                <a:solidFill>
                  <a:srgbClr val="273239"/>
                </a:solidFill>
                <a:effectLst/>
                <a:latin typeface="Nunito" pitchFamily="2" charset="0"/>
              </a:rPr>
              <a:t>Federated architecture: I</a:t>
            </a:r>
            <a:r>
              <a:rPr lang="en-US" b="0" i="0" dirty="0">
                <a:solidFill>
                  <a:srgbClr val="273239"/>
                </a:solidFill>
                <a:effectLst/>
                <a:latin typeface="Nunito" pitchFamily="2" charset="0"/>
              </a:rPr>
              <a:t>n this architecture, each site in the distributed database system maintains its own independent database, but the databases are integrated through a middleware layer that provides a common interface for accessing and querying the data.</a:t>
            </a:r>
          </a:p>
          <a:p>
            <a:endParaRPr lang="en-US" dirty="0"/>
          </a:p>
        </p:txBody>
      </p:sp>
    </p:spTree>
    <p:extLst>
      <p:ext uri="{BB962C8B-B14F-4D97-AF65-F5344CB8AC3E}">
        <p14:creationId xmlns:p14="http://schemas.microsoft.com/office/powerpoint/2010/main" val="3239301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1F4F9-797D-20FF-193B-BD40BA9C9CD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DC688CE-D409-5395-E335-23B8965C25BC}"/>
              </a:ext>
            </a:extLst>
          </p:cNvPr>
          <p:cNvSpPr>
            <a:spLocks noGrp="1"/>
          </p:cNvSpPr>
          <p:nvPr>
            <p:ph idx="1"/>
          </p:nvPr>
        </p:nvSpPr>
        <p:spPr/>
        <p:txBody>
          <a:bodyPr/>
          <a:lstStyle/>
          <a:p>
            <a:r>
              <a:rPr lang="en-US" b="0" i="0" dirty="0">
                <a:solidFill>
                  <a:srgbClr val="273239"/>
                </a:solidFill>
                <a:effectLst/>
                <a:latin typeface="Nunito" pitchFamily="2" charset="0"/>
              </a:rPr>
              <a:t>Distributed database systems can be used in a variety of applications, including e-commerce, financial services, and telecommunications. However, designing and managing a distributed database system can be complex and requires careful consideration of factors such as data distribution, replication, and consistency.</a:t>
            </a:r>
            <a:endParaRPr lang="en-US" dirty="0"/>
          </a:p>
        </p:txBody>
      </p:sp>
    </p:spTree>
    <p:extLst>
      <p:ext uri="{BB962C8B-B14F-4D97-AF65-F5344CB8AC3E}">
        <p14:creationId xmlns:p14="http://schemas.microsoft.com/office/powerpoint/2010/main" val="3407411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1F4F9-797D-20FF-193B-BD40BA9C9CD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DC688CE-D409-5395-E335-23B8965C25BC}"/>
              </a:ext>
            </a:extLst>
          </p:cNvPr>
          <p:cNvSpPr>
            <a:spLocks noGrp="1"/>
          </p:cNvSpPr>
          <p:nvPr>
            <p:ph idx="1"/>
          </p:nvPr>
        </p:nvSpPr>
        <p:spPr/>
        <p:txBody>
          <a:bodyPr/>
          <a:lstStyle/>
          <a:p>
            <a:pPr algn="l" fontAlgn="base"/>
            <a:r>
              <a:rPr lang="en-US" b="1" i="0" dirty="0">
                <a:solidFill>
                  <a:srgbClr val="273239"/>
                </a:solidFill>
                <a:effectLst/>
                <a:latin typeface="Nunito" pitchFamily="2" charset="0"/>
              </a:rPr>
              <a:t>Advantages of Distributed Database System :</a:t>
            </a:r>
          </a:p>
          <a:p>
            <a:pPr algn="just" fontAlgn="base"/>
            <a:r>
              <a:rPr lang="en-US" b="0" i="0" dirty="0">
                <a:solidFill>
                  <a:srgbClr val="273239"/>
                </a:solidFill>
                <a:effectLst/>
                <a:latin typeface="Nunito" pitchFamily="2" charset="0"/>
              </a:rPr>
              <a:t>1) There is fast data processing as several sites participate in request processing. </a:t>
            </a:r>
            <a:br>
              <a:rPr lang="en-US" b="0" i="0" dirty="0">
                <a:solidFill>
                  <a:srgbClr val="273239"/>
                </a:solidFill>
                <a:effectLst/>
                <a:latin typeface="Nunito" pitchFamily="2" charset="0"/>
              </a:rPr>
            </a:br>
            <a:r>
              <a:rPr lang="en-US" b="0" i="0" dirty="0">
                <a:solidFill>
                  <a:srgbClr val="273239"/>
                </a:solidFill>
                <a:effectLst/>
                <a:latin typeface="Nunito" pitchFamily="2" charset="0"/>
              </a:rPr>
              <a:t>2) Reliability and availability of this system is high. </a:t>
            </a:r>
            <a:br>
              <a:rPr lang="en-US" b="0" i="0" dirty="0">
                <a:solidFill>
                  <a:srgbClr val="273239"/>
                </a:solidFill>
                <a:effectLst/>
                <a:latin typeface="Nunito" pitchFamily="2" charset="0"/>
              </a:rPr>
            </a:br>
            <a:r>
              <a:rPr lang="en-US" b="0" i="0" dirty="0">
                <a:solidFill>
                  <a:srgbClr val="273239"/>
                </a:solidFill>
                <a:effectLst/>
                <a:latin typeface="Nunito" pitchFamily="2" charset="0"/>
              </a:rPr>
              <a:t>3) It possess reduced operating cost.</a:t>
            </a:r>
            <a:br>
              <a:rPr lang="en-US" b="0" i="0" dirty="0">
                <a:solidFill>
                  <a:srgbClr val="273239"/>
                </a:solidFill>
                <a:effectLst/>
                <a:latin typeface="Nunito" pitchFamily="2" charset="0"/>
              </a:rPr>
            </a:br>
            <a:r>
              <a:rPr lang="en-US" b="0" i="0" dirty="0">
                <a:solidFill>
                  <a:srgbClr val="273239"/>
                </a:solidFill>
                <a:effectLst/>
                <a:latin typeface="Nunito" pitchFamily="2" charset="0"/>
              </a:rPr>
              <a:t>4) It is easier to expand the system by adding more sites. </a:t>
            </a:r>
            <a:br>
              <a:rPr lang="en-US" b="0" i="0" dirty="0">
                <a:solidFill>
                  <a:srgbClr val="273239"/>
                </a:solidFill>
                <a:effectLst/>
                <a:latin typeface="Nunito" pitchFamily="2" charset="0"/>
              </a:rPr>
            </a:br>
            <a:r>
              <a:rPr lang="en-US" b="0" i="0" dirty="0">
                <a:solidFill>
                  <a:srgbClr val="273239"/>
                </a:solidFill>
                <a:effectLst/>
                <a:latin typeface="Nunito" pitchFamily="2" charset="0"/>
              </a:rPr>
              <a:t>5) It has improved sharing ability and local autonomy.</a:t>
            </a:r>
          </a:p>
          <a:p>
            <a:endParaRPr lang="en-US" dirty="0"/>
          </a:p>
        </p:txBody>
      </p:sp>
    </p:spTree>
    <p:extLst>
      <p:ext uri="{BB962C8B-B14F-4D97-AF65-F5344CB8AC3E}">
        <p14:creationId xmlns:p14="http://schemas.microsoft.com/office/powerpoint/2010/main" val="2055682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1F4F9-797D-20FF-193B-BD40BA9C9CD6}"/>
              </a:ext>
            </a:extLst>
          </p:cNvPr>
          <p:cNvSpPr>
            <a:spLocks noGrp="1"/>
          </p:cNvSpPr>
          <p:nvPr>
            <p:ph type="title"/>
          </p:nvPr>
        </p:nvSpPr>
        <p:spPr/>
        <p:txBody>
          <a:bodyPr/>
          <a:lstStyle/>
          <a:p>
            <a:r>
              <a:rPr lang="en-US" b="1" i="0" dirty="0">
                <a:solidFill>
                  <a:srgbClr val="273239"/>
                </a:solidFill>
                <a:effectLst/>
                <a:latin typeface="Nunito" pitchFamily="2" charset="0"/>
              </a:rPr>
              <a:t>Disadvantages of Distributed Database System</a:t>
            </a:r>
            <a:endParaRPr lang="en-US" dirty="0"/>
          </a:p>
        </p:txBody>
      </p:sp>
      <p:sp>
        <p:nvSpPr>
          <p:cNvPr id="3" name="Content Placeholder 2">
            <a:extLst>
              <a:ext uri="{FF2B5EF4-FFF2-40B4-BE49-F238E27FC236}">
                <a16:creationId xmlns:a16="http://schemas.microsoft.com/office/drawing/2014/main" id="{EDC688CE-D409-5395-E335-23B8965C25BC}"/>
              </a:ext>
            </a:extLst>
          </p:cNvPr>
          <p:cNvSpPr>
            <a:spLocks noGrp="1"/>
          </p:cNvSpPr>
          <p:nvPr>
            <p:ph idx="1"/>
          </p:nvPr>
        </p:nvSpPr>
        <p:spPr/>
        <p:txBody>
          <a:bodyPr/>
          <a:lstStyle/>
          <a:p>
            <a:pPr algn="l" fontAlgn="base"/>
            <a:endParaRPr lang="en-US" b="1" i="0" dirty="0">
              <a:solidFill>
                <a:srgbClr val="273239"/>
              </a:solidFill>
              <a:effectLst/>
              <a:latin typeface="Nunito" pitchFamily="2" charset="0"/>
            </a:endParaRPr>
          </a:p>
          <a:p>
            <a:pPr algn="just" fontAlgn="base"/>
            <a:r>
              <a:rPr lang="en-US" b="0" i="0" dirty="0">
                <a:solidFill>
                  <a:srgbClr val="273239"/>
                </a:solidFill>
                <a:effectLst/>
                <a:latin typeface="Nunito" pitchFamily="2" charset="0"/>
              </a:rPr>
              <a:t>1) The system becomes complex to manage and control. </a:t>
            </a:r>
            <a:br>
              <a:rPr lang="en-US" b="0" i="0" dirty="0">
                <a:solidFill>
                  <a:srgbClr val="273239"/>
                </a:solidFill>
                <a:effectLst/>
                <a:latin typeface="Nunito" pitchFamily="2" charset="0"/>
              </a:rPr>
            </a:br>
            <a:r>
              <a:rPr lang="en-US" b="0" i="0" dirty="0">
                <a:solidFill>
                  <a:srgbClr val="273239"/>
                </a:solidFill>
                <a:effectLst/>
                <a:latin typeface="Nunito" pitchFamily="2" charset="0"/>
              </a:rPr>
              <a:t>2) The security issues must be carefully managed. </a:t>
            </a:r>
            <a:br>
              <a:rPr lang="en-US" b="0" i="0" dirty="0">
                <a:solidFill>
                  <a:srgbClr val="273239"/>
                </a:solidFill>
                <a:effectLst/>
                <a:latin typeface="Nunito" pitchFamily="2" charset="0"/>
              </a:rPr>
            </a:br>
            <a:r>
              <a:rPr lang="en-US" b="0" i="0" dirty="0">
                <a:solidFill>
                  <a:srgbClr val="273239"/>
                </a:solidFill>
                <a:effectLst/>
                <a:latin typeface="Nunito" pitchFamily="2" charset="0"/>
              </a:rPr>
              <a:t>3) The system require deadlock handling during the transaction processing otherwise </a:t>
            </a:r>
            <a:br>
              <a:rPr lang="en-US" b="0" i="0" dirty="0">
                <a:solidFill>
                  <a:srgbClr val="273239"/>
                </a:solidFill>
                <a:effectLst/>
                <a:latin typeface="Nunito" pitchFamily="2" charset="0"/>
              </a:rPr>
            </a:br>
            <a:r>
              <a:rPr lang="en-US" b="0" i="0" dirty="0">
                <a:solidFill>
                  <a:srgbClr val="273239"/>
                </a:solidFill>
                <a:effectLst/>
                <a:latin typeface="Nunito" pitchFamily="2" charset="0"/>
              </a:rPr>
              <a:t>the entire system may be in inconsistent state. </a:t>
            </a:r>
            <a:br>
              <a:rPr lang="en-US" b="0" i="0" dirty="0">
                <a:solidFill>
                  <a:srgbClr val="273239"/>
                </a:solidFill>
                <a:effectLst/>
                <a:latin typeface="Nunito" pitchFamily="2" charset="0"/>
              </a:rPr>
            </a:br>
            <a:r>
              <a:rPr lang="en-US" b="0" i="0" dirty="0">
                <a:solidFill>
                  <a:srgbClr val="273239"/>
                </a:solidFill>
                <a:effectLst/>
                <a:latin typeface="Nunito" pitchFamily="2" charset="0"/>
              </a:rPr>
              <a:t>4) There is need of some standardization for processing of distributed database </a:t>
            </a:r>
            <a:br>
              <a:rPr lang="en-US" b="0" i="0" dirty="0">
                <a:solidFill>
                  <a:srgbClr val="273239"/>
                </a:solidFill>
                <a:effectLst/>
                <a:latin typeface="Nunito" pitchFamily="2" charset="0"/>
              </a:rPr>
            </a:br>
            <a:r>
              <a:rPr lang="en-US" b="0" i="0" dirty="0">
                <a:solidFill>
                  <a:srgbClr val="273239"/>
                </a:solidFill>
                <a:effectLst/>
                <a:latin typeface="Nunito" pitchFamily="2" charset="0"/>
              </a:rPr>
              <a:t>system.</a:t>
            </a:r>
          </a:p>
          <a:p>
            <a:endParaRPr lang="en-US" dirty="0"/>
          </a:p>
        </p:txBody>
      </p:sp>
    </p:spTree>
    <p:extLst>
      <p:ext uri="{BB962C8B-B14F-4D97-AF65-F5344CB8AC3E}">
        <p14:creationId xmlns:p14="http://schemas.microsoft.com/office/powerpoint/2010/main" val="25147590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1F4F9-797D-20FF-193B-BD40BA9C9CD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DC688CE-D409-5395-E335-23B8965C25BC}"/>
              </a:ext>
            </a:extLst>
          </p:cNvPr>
          <p:cNvSpPr>
            <a:spLocks noGrp="1"/>
          </p:cNvSpPr>
          <p:nvPr>
            <p:ph idx="1"/>
          </p:nvPr>
        </p:nvSpPr>
        <p:spPr/>
        <p:txBody>
          <a:bodyPr/>
          <a:lstStyle/>
          <a:p>
            <a:r>
              <a:rPr lang="en-US" dirty="0">
                <a:hlinkClick r:id="rId2"/>
              </a:rPr>
              <a:t>https://www.geeksforgeeks.org/distributed-database-system/</a:t>
            </a:r>
            <a:endParaRPr lang="en-US" dirty="0"/>
          </a:p>
          <a:p>
            <a:endParaRPr lang="en-US" dirty="0"/>
          </a:p>
        </p:txBody>
      </p:sp>
    </p:spTree>
    <p:extLst>
      <p:ext uri="{BB962C8B-B14F-4D97-AF65-F5344CB8AC3E}">
        <p14:creationId xmlns:p14="http://schemas.microsoft.com/office/powerpoint/2010/main" val="38300732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1F4F9-797D-20FF-193B-BD40BA9C9CD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FF770ADD-EC15-1801-DF54-33F42416F882}"/>
              </a:ext>
            </a:extLst>
          </p:cNvPr>
          <p:cNvPicPr>
            <a:picLocks noGrp="1" noChangeAspect="1"/>
          </p:cNvPicPr>
          <p:nvPr>
            <p:ph idx="1"/>
          </p:nvPr>
        </p:nvPicPr>
        <p:blipFill>
          <a:blip r:embed="rId2"/>
          <a:stretch>
            <a:fillRect/>
          </a:stretch>
        </p:blipFill>
        <p:spPr>
          <a:xfrm>
            <a:off x="838200" y="2842988"/>
            <a:ext cx="10515600" cy="2316611"/>
          </a:xfrm>
        </p:spPr>
      </p:pic>
    </p:spTree>
    <p:extLst>
      <p:ext uri="{BB962C8B-B14F-4D97-AF65-F5344CB8AC3E}">
        <p14:creationId xmlns:p14="http://schemas.microsoft.com/office/powerpoint/2010/main" val="2883341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1F4F9-797D-20FF-193B-BD40BA9C9CD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97099137-2CF0-FF40-1D7F-BCB0E6CFB69B}"/>
              </a:ext>
            </a:extLst>
          </p:cNvPr>
          <p:cNvPicPr>
            <a:picLocks noGrp="1" noChangeAspect="1"/>
          </p:cNvPicPr>
          <p:nvPr>
            <p:ph idx="1"/>
          </p:nvPr>
        </p:nvPicPr>
        <p:blipFill>
          <a:blip r:embed="rId2"/>
          <a:stretch>
            <a:fillRect/>
          </a:stretch>
        </p:blipFill>
        <p:spPr>
          <a:xfrm>
            <a:off x="838200" y="2038081"/>
            <a:ext cx="10515600" cy="3926425"/>
          </a:xfrm>
        </p:spPr>
      </p:pic>
    </p:spTree>
    <p:extLst>
      <p:ext uri="{BB962C8B-B14F-4D97-AF65-F5344CB8AC3E}">
        <p14:creationId xmlns:p14="http://schemas.microsoft.com/office/powerpoint/2010/main" val="1149298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1F4F9-797D-20FF-193B-BD40BA9C9CD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8D23B0DB-DD95-F380-6375-416636B7356D}"/>
              </a:ext>
            </a:extLst>
          </p:cNvPr>
          <p:cNvPicPr>
            <a:picLocks noGrp="1" noChangeAspect="1"/>
          </p:cNvPicPr>
          <p:nvPr>
            <p:ph idx="1"/>
          </p:nvPr>
        </p:nvPicPr>
        <p:blipFill>
          <a:blip r:embed="rId2"/>
          <a:stretch>
            <a:fillRect/>
          </a:stretch>
        </p:blipFill>
        <p:spPr>
          <a:xfrm>
            <a:off x="838200" y="2019034"/>
            <a:ext cx="10515600" cy="3964519"/>
          </a:xfrm>
        </p:spPr>
      </p:pic>
    </p:spTree>
    <p:extLst>
      <p:ext uri="{BB962C8B-B14F-4D97-AF65-F5344CB8AC3E}">
        <p14:creationId xmlns:p14="http://schemas.microsoft.com/office/powerpoint/2010/main" val="41473858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1F4F9-797D-20FF-193B-BD40BA9C9CD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01885133-520A-99AD-D2ED-0E6931B0CCE5}"/>
              </a:ext>
            </a:extLst>
          </p:cNvPr>
          <p:cNvPicPr>
            <a:picLocks noGrp="1" noChangeAspect="1"/>
          </p:cNvPicPr>
          <p:nvPr>
            <p:ph idx="1"/>
          </p:nvPr>
        </p:nvPicPr>
        <p:blipFill>
          <a:blip r:embed="rId2"/>
          <a:stretch>
            <a:fillRect/>
          </a:stretch>
        </p:blipFill>
        <p:spPr>
          <a:xfrm>
            <a:off x="1942711" y="1825625"/>
            <a:ext cx="8306577" cy="4351338"/>
          </a:xfrm>
        </p:spPr>
      </p:pic>
    </p:spTree>
    <p:extLst>
      <p:ext uri="{BB962C8B-B14F-4D97-AF65-F5344CB8AC3E}">
        <p14:creationId xmlns:p14="http://schemas.microsoft.com/office/powerpoint/2010/main" val="33530791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1F4F9-797D-20FF-193B-BD40BA9C9CD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98A64961-3FAA-8A06-25C7-AAC0CCC44935}"/>
              </a:ext>
            </a:extLst>
          </p:cNvPr>
          <p:cNvPicPr>
            <a:picLocks noGrp="1" noChangeAspect="1"/>
          </p:cNvPicPr>
          <p:nvPr>
            <p:ph idx="1"/>
          </p:nvPr>
        </p:nvPicPr>
        <p:blipFill>
          <a:blip r:embed="rId2"/>
          <a:stretch>
            <a:fillRect/>
          </a:stretch>
        </p:blipFill>
        <p:spPr>
          <a:xfrm>
            <a:off x="838200" y="2699749"/>
            <a:ext cx="10515600" cy="2603090"/>
          </a:xfrm>
        </p:spPr>
      </p:pic>
    </p:spTree>
    <p:extLst>
      <p:ext uri="{BB962C8B-B14F-4D97-AF65-F5344CB8AC3E}">
        <p14:creationId xmlns:p14="http://schemas.microsoft.com/office/powerpoint/2010/main" val="21163156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1F4F9-797D-20FF-193B-BD40BA9C9CD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3BF371B5-8919-522B-C93C-6CAB3A48E4E3}"/>
              </a:ext>
            </a:extLst>
          </p:cNvPr>
          <p:cNvPicPr>
            <a:picLocks noGrp="1" noChangeAspect="1"/>
          </p:cNvPicPr>
          <p:nvPr>
            <p:ph idx="1"/>
          </p:nvPr>
        </p:nvPicPr>
        <p:blipFill>
          <a:blip r:embed="rId2"/>
          <a:stretch>
            <a:fillRect/>
          </a:stretch>
        </p:blipFill>
        <p:spPr>
          <a:xfrm>
            <a:off x="838200" y="1562101"/>
            <a:ext cx="10515600" cy="3865100"/>
          </a:xfrm>
        </p:spPr>
      </p:pic>
    </p:spTree>
    <p:extLst>
      <p:ext uri="{BB962C8B-B14F-4D97-AF65-F5344CB8AC3E}">
        <p14:creationId xmlns:p14="http://schemas.microsoft.com/office/powerpoint/2010/main" val="23547389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1F4F9-797D-20FF-193B-BD40BA9C9CD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E5505B33-A4CC-584F-3895-D5BD37B3C488}"/>
              </a:ext>
            </a:extLst>
          </p:cNvPr>
          <p:cNvPicPr>
            <a:picLocks noGrp="1" noChangeAspect="1"/>
          </p:cNvPicPr>
          <p:nvPr>
            <p:ph idx="1"/>
          </p:nvPr>
        </p:nvPicPr>
        <p:blipFill>
          <a:blip r:embed="rId2"/>
          <a:stretch>
            <a:fillRect/>
          </a:stretch>
        </p:blipFill>
        <p:spPr>
          <a:xfrm>
            <a:off x="1447571" y="1825625"/>
            <a:ext cx="9296858" cy="4351338"/>
          </a:xfrm>
        </p:spPr>
      </p:pic>
    </p:spTree>
    <p:extLst>
      <p:ext uri="{BB962C8B-B14F-4D97-AF65-F5344CB8AC3E}">
        <p14:creationId xmlns:p14="http://schemas.microsoft.com/office/powerpoint/2010/main" val="2605313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1F4F9-797D-20FF-193B-BD40BA9C9CD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FA3B2D34-048C-CC41-C39A-47A7BF3CDF23}"/>
              </a:ext>
            </a:extLst>
          </p:cNvPr>
          <p:cNvPicPr>
            <a:picLocks noGrp="1" noChangeAspect="1"/>
          </p:cNvPicPr>
          <p:nvPr>
            <p:ph idx="1"/>
          </p:nvPr>
        </p:nvPicPr>
        <p:blipFill>
          <a:blip r:embed="rId2"/>
          <a:stretch>
            <a:fillRect/>
          </a:stretch>
        </p:blipFill>
        <p:spPr>
          <a:xfrm>
            <a:off x="838200" y="2161819"/>
            <a:ext cx="10515600" cy="3678949"/>
          </a:xfrm>
        </p:spPr>
      </p:pic>
    </p:spTree>
    <p:extLst>
      <p:ext uri="{BB962C8B-B14F-4D97-AF65-F5344CB8AC3E}">
        <p14:creationId xmlns:p14="http://schemas.microsoft.com/office/powerpoint/2010/main" val="10744410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1F4F9-797D-20FF-193B-BD40BA9C9CD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56F24F32-0F7D-CB01-4B49-552EED711F9C}"/>
              </a:ext>
            </a:extLst>
          </p:cNvPr>
          <p:cNvPicPr>
            <a:picLocks noGrp="1" noChangeAspect="1"/>
          </p:cNvPicPr>
          <p:nvPr>
            <p:ph idx="1"/>
          </p:nvPr>
        </p:nvPicPr>
        <p:blipFill>
          <a:blip r:embed="rId2"/>
          <a:stretch>
            <a:fillRect/>
          </a:stretch>
        </p:blipFill>
        <p:spPr>
          <a:xfrm>
            <a:off x="838200" y="3056686"/>
            <a:ext cx="10515600" cy="1889216"/>
          </a:xfrm>
        </p:spPr>
      </p:pic>
    </p:spTree>
    <p:extLst>
      <p:ext uri="{BB962C8B-B14F-4D97-AF65-F5344CB8AC3E}">
        <p14:creationId xmlns:p14="http://schemas.microsoft.com/office/powerpoint/2010/main" val="29588733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1F4F9-797D-20FF-193B-BD40BA9C9CD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0124E73E-8F9E-86D2-7E54-838800B2DA38}"/>
              </a:ext>
            </a:extLst>
          </p:cNvPr>
          <p:cNvPicPr>
            <a:picLocks noGrp="1" noChangeAspect="1"/>
          </p:cNvPicPr>
          <p:nvPr>
            <p:ph idx="1"/>
          </p:nvPr>
        </p:nvPicPr>
        <p:blipFill>
          <a:blip r:embed="rId2"/>
          <a:stretch>
            <a:fillRect/>
          </a:stretch>
        </p:blipFill>
        <p:spPr>
          <a:xfrm>
            <a:off x="1552691" y="1825625"/>
            <a:ext cx="9086617" cy="4351338"/>
          </a:xfrm>
        </p:spPr>
      </p:pic>
    </p:spTree>
    <p:extLst>
      <p:ext uri="{BB962C8B-B14F-4D97-AF65-F5344CB8AC3E}">
        <p14:creationId xmlns:p14="http://schemas.microsoft.com/office/powerpoint/2010/main" val="42652240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1F4F9-797D-20FF-193B-BD40BA9C9CD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0223DAE2-1E45-B231-788A-EF503AB76486}"/>
              </a:ext>
            </a:extLst>
          </p:cNvPr>
          <p:cNvPicPr>
            <a:picLocks noGrp="1" noChangeAspect="1"/>
          </p:cNvPicPr>
          <p:nvPr>
            <p:ph idx="1"/>
          </p:nvPr>
        </p:nvPicPr>
        <p:blipFill>
          <a:blip r:embed="rId2"/>
          <a:stretch>
            <a:fillRect/>
          </a:stretch>
        </p:blipFill>
        <p:spPr>
          <a:xfrm>
            <a:off x="838200" y="2685891"/>
            <a:ext cx="10515600" cy="2630806"/>
          </a:xfrm>
        </p:spPr>
      </p:pic>
    </p:spTree>
    <p:extLst>
      <p:ext uri="{BB962C8B-B14F-4D97-AF65-F5344CB8AC3E}">
        <p14:creationId xmlns:p14="http://schemas.microsoft.com/office/powerpoint/2010/main" val="14287587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1F4F9-797D-20FF-193B-BD40BA9C9CD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C358F985-6344-CA5C-85E5-AC4B1A97C9CD}"/>
              </a:ext>
            </a:extLst>
          </p:cNvPr>
          <p:cNvPicPr>
            <a:picLocks noGrp="1" noChangeAspect="1"/>
          </p:cNvPicPr>
          <p:nvPr>
            <p:ph idx="1"/>
          </p:nvPr>
        </p:nvPicPr>
        <p:blipFill>
          <a:blip r:embed="rId2"/>
          <a:stretch>
            <a:fillRect/>
          </a:stretch>
        </p:blipFill>
        <p:spPr>
          <a:xfrm>
            <a:off x="838200" y="2156452"/>
            <a:ext cx="10515600" cy="3689684"/>
          </a:xfrm>
        </p:spPr>
      </p:pic>
    </p:spTree>
    <p:extLst>
      <p:ext uri="{BB962C8B-B14F-4D97-AF65-F5344CB8AC3E}">
        <p14:creationId xmlns:p14="http://schemas.microsoft.com/office/powerpoint/2010/main" val="14048672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1F4F9-797D-20FF-193B-BD40BA9C9CD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5E6C387D-D9C8-74EA-7008-63582B72B900}"/>
              </a:ext>
            </a:extLst>
          </p:cNvPr>
          <p:cNvPicPr>
            <a:picLocks noGrp="1" noChangeAspect="1"/>
          </p:cNvPicPr>
          <p:nvPr>
            <p:ph idx="1"/>
          </p:nvPr>
        </p:nvPicPr>
        <p:blipFill>
          <a:blip r:embed="rId2"/>
          <a:stretch>
            <a:fillRect/>
          </a:stretch>
        </p:blipFill>
        <p:spPr>
          <a:xfrm>
            <a:off x="1292764" y="1825625"/>
            <a:ext cx="9606471" cy="4351338"/>
          </a:xfrm>
        </p:spPr>
      </p:pic>
    </p:spTree>
    <p:extLst>
      <p:ext uri="{BB962C8B-B14F-4D97-AF65-F5344CB8AC3E}">
        <p14:creationId xmlns:p14="http://schemas.microsoft.com/office/powerpoint/2010/main" val="32116494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8484BFD-7843-8FB3-FE68-F05661CD749D}"/>
              </a:ext>
            </a:extLst>
          </p:cNvPr>
          <p:cNvPicPr>
            <a:picLocks noGrp="1" noChangeAspect="1"/>
          </p:cNvPicPr>
          <p:nvPr>
            <p:ph idx="1"/>
          </p:nvPr>
        </p:nvPicPr>
        <p:blipFill>
          <a:blip r:embed="rId2"/>
          <a:stretch>
            <a:fillRect/>
          </a:stretch>
        </p:blipFill>
        <p:spPr>
          <a:xfrm>
            <a:off x="643467" y="2365755"/>
            <a:ext cx="10905066" cy="2126488"/>
          </a:xfrm>
          <a:prstGeom prst="rect">
            <a:avLst/>
          </a:prstGeom>
        </p:spPr>
      </p:pic>
    </p:spTree>
    <p:extLst>
      <p:ext uri="{BB962C8B-B14F-4D97-AF65-F5344CB8AC3E}">
        <p14:creationId xmlns:p14="http://schemas.microsoft.com/office/powerpoint/2010/main" val="19600675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9">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1">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24E569C8-C40F-3B0F-4B02-CF3C1754F0D9}"/>
              </a:ext>
            </a:extLst>
          </p:cNvPr>
          <p:cNvPicPr>
            <a:picLocks noGrp="1" noChangeAspect="1"/>
          </p:cNvPicPr>
          <p:nvPr>
            <p:ph idx="1"/>
          </p:nvPr>
        </p:nvPicPr>
        <p:blipFill>
          <a:blip r:embed="rId2"/>
          <a:stretch>
            <a:fillRect/>
          </a:stretch>
        </p:blipFill>
        <p:spPr>
          <a:xfrm>
            <a:off x="643467" y="981075"/>
            <a:ext cx="10905066" cy="5048250"/>
          </a:xfrm>
          <a:prstGeom prst="rect">
            <a:avLst/>
          </a:prstGeom>
        </p:spPr>
      </p:pic>
    </p:spTree>
    <p:extLst>
      <p:ext uri="{BB962C8B-B14F-4D97-AF65-F5344CB8AC3E}">
        <p14:creationId xmlns:p14="http://schemas.microsoft.com/office/powerpoint/2010/main" val="33493735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1F4F9-797D-20FF-193B-BD40BA9C9CD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0B34BD36-EDAB-8FA5-3947-4AAB94B26D6B}"/>
              </a:ext>
            </a:extLst>
          </p:cNvPr>
          <p:cNvPicPr>
            <a:picLocks noGrp="1" noChangeAspect="1"/>
          </p:cNvPicPr>
          <p:nvPr>
            <p:ph idx="1"/>
          </p:nvPr>
        </p:nvPicPr>
        <p:blipFill>
          <a:blip r:embed="rId2"/>
          <a:stretch>
            <a:fillRect/>
          </a:stretch>
        </p:blipFill>
        <p:spPr>
          <a:xfrm>
            <a:off x="1185293" y="1825625"/>
            <a:ext cx="9821414" cy="4351338"/>
          </a:xfrm>
        </p:spPr>
      </p:pic>
    </p:spTree>
    <p:extLst>
      <p:ext uri="{BB962C8B-B14F-4D97-AF65-F5344CB8AC3E}">
        <p14:creationId xmlns:p14="http://schemas.microsoft.com/office/powerpoint/2010/main" val="28633397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1833A688-33D0-BB04-E722-42B65A8A2116}"/>
              </a:ext>
            </a:extLst>
          </p:cNvPr>
          <p:cNvPicPr>
            <a:picLocks noGrp="1" noChangeAspect="1"/>
          </p:cNvPicPr>
          <p:nvPr>
            <p:ph idx="1"/>
          </p:nvPr>
        </p:nvPicPr>
        <p:blipFill>
          <a:blip r:embed="rId2"/>
          <a:stretch>
            <a:fillRect/>
          </a:stretch>
        </p:blipFill>
        <p:spPr>
          <a:xfrm>
            <a:off x="643467" y="742950"/>
            <a:ext cx="10905066" cy="5314950"/>
          </a:xfrm>
          <a:prstGeom prst="rect">
            <a:avLst/>
          </a:prstGeom>
        </p:spPr>
      </p:pic>
    </p:spTree>
    <p:extLst>
      <p:ext uri="{BB962C8B-B14F-4D97-AF65-F5344CB8AC3E}">
        <p14:creationId xmlns:p14="http://schemas.microsoft.com/office/powerpoint/2010/main" val="12144296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1F4F9-797D-20FF-193B-BD40BA9C9CD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DC688CE-D409-5395-E335-23B8965C25BC}"/>
              </a:ext>
            </a:extLst>
          </p:cNvPr>
          <p:cNvSpPr>
            <a:spLocks noGrp="1"/>
          </p:cNvSpPr>
          <p:nvPr>
            <p:ph idx="1"/>
          </p:nvPr>
        </p:nvSpPr>
        <p:spPr/>
        <p:txBody>
          <a:bodyPr/>
          <a:lstStyle/>
          <a:p>
            <a:r>
              <a:rPr lang="en-US" dirty="0">
                <a:hlinkClick r:id="rId2"/>
              </a:rPr>
              <a:t>https://www.enjoyalgorithms.com/blog/introduction-to-hadoop-framework</a:t>
            </a:r>
            <a:endParaRPr lang="en-US" dirty="0"/>
          </a:p>
          <a:p>
            <a:endParaRPr lang="en-US" dirty="0"/>
          </a:p>
        </p:txBody>
      </p:sp>
    </p:spTree>
    <p:extLst>
      <p:ext uri="{BB962C8B-B14F-4D97-AF65-F5344CB8AC3E}">
        <p14:creationId xmlns:p14="http://schemas.microsoft.com/office/powerpoint/2010/main" val="37097512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580</TotalTime>
  <Words>966</Words>
  <Application>Microsoft Office PowerPoint</Application>
  <PresentationFormat>Widescreen</PresentationFormat>
  <Paragraphs>31</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Calibri Light</vt:lpstr>
      <vt:lpstr>Nunito</vt:lpstr>
      <vt:lpstr>Office Theme</vt:lpstr>
      <vt:lpstr>Hadoop</vt:lpstr>
      <vt:lpstr>PowerPoint Presentation</vt:lpstr>
      <vt:lpstr>Types:  </vt:lpstr>
      <vt:lpstr>Heterogeneous Database: </vt:lpstr>
      <vt:lpstr>PowerPoint Presentation</vt:lpstr>
      <vt:lpstr>Fragmentation –</vt:lpstr>
      <vt:lpstr>Applications of Distributed Database</vt:lpstr>
      <vt:lpstr>PowerPoint Presentation</vt:lpstr>
      <vt:lpstr>PowerPoint Presentation</vt:lpstr>
      <vt:lpstr>PowerPoint Presentation</vt:lpstr>
      <vt:lpstr>PowerPoint Presentation</vt:lpstr>
      <vt:lpstr>Disadvantages of Distributed Database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Hadoop</dc:title>
  <dc:creator>Shazia Saqib</dc:creator>
  <cp:lastModifiedBy>Dr Shazia Saqib</cp:lastModifiedBy>
  <cp:revision>6</cp:revision>
  <dcterms:created xsi:type="dcterms:W3CDTF">2023-05-18T17:19:29Z</dcterms:created>
  <dcterms:modified xsi:type="dcterms:W3CDTF">2024-01-07T21:24:08Z</dcterms:modified>
</cp:coreProperties>
</file>